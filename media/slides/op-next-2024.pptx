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731" r:id="rId2"/>
    <p:sldId id="732" r:id="rId3"/>
    <p:sldId id="735" r:id="rId4"/>
    <p:sldId id="700" r:id="rId5"/>
    <p:sldId id="718" r:id="rId6"/>
    <p:sldId id="719" r:id="rId7"/>
    <p:sldId id="720" r:id="rId8"/>
    <p:sldId id="721" r:id="rId9"/>
    <p:sldId id="722" r:id="rId10"/>
    <p:sldId id="723" r:id="rId11"/>
    <p:sldId id="724" r:id="rId12"/>
    <p:sldId id="725" r:id="rId13"/>
    <p:sldId id="727" r:id="rId14"/>
    <p:sldId id="726" r:id="rId15"/>
    <p:sldId id="728" r:id="rId16"/>
    <p:sldId id="635" r:id="rId17"/>
    <p:sldId id="712" r:id="rId18"/>
    <p:sldId id="729" r:id="rId19"/>
    <p:sldId id="714" r:id="rId20"/>
    <p:sldId id="636" r:id="rId21"/>
    <p:sldId id="644" r:id="rId22"/>
    <p:sldId id="637" r:id="rId23"/>
    <p:sldId id="715" r:id="rId24"/>
    <p:sldId id="716" r:id="rId25"/>
    <p:sldId id="717" r:id="rId26"/>
    <p:sldId id="733" r:id="rId27"/>
    <p:sldId id="639" r:id="rId28"/>
    <p:sldId id="640" r:id="rId29"/>
    <p:sldId id="641" r:id="rId30"/>
    <p:sldId id="642" r:id="rId31"/>
    <p:sldId id="643" r:id="rId32"/>
    <p:sldId id="734" r:id="rId33"/>
    <p:sldId id="705" r:id="rId34"/>
    <p:sldId id="708" r:id="rId35"/>
    <p:sldId id="709" r:id="rId36"/>
    <p:sldId id="711" r:id="rId37"/>
    <p:sldId id="630" r:id="rId38"/>
    <p:sldId id="701" r:id="rId39"/>
    <p:sldId id="702" r:id="rId40"/>
    <p:sldId id="258" r:id="rId41"/>
    <p:sldId id="259" r:id="rId42"/>
    <p:sldId id="281" r:id="rId43"/>
    <p:sldId id="284" r:id="rId44"/>
    <p:sldId id="290" r:id="rId45"/>
    <p:sldId id="623" r:id="rId46"/>
    <p:sldId id="288" r:id="rId47"/>
    <p:sldId id="289" r:id="rId48"/>
    <p:sldId id="624" r:id="rId49"/>
    <p:sldId id="626" r:id="rId50"/>
    <p:sldId id="622" r:id="rId51"/>
    <p:sldId id="645" r:id="rId52"/>
    <p:sldId id="619" r:id="rId53"/>
    <p:sldId id="292" r:id="rId54"/>
    <p:sldId id="628" r:id="rId55"/>
    <p:sldId id="627" r:id="rId56"/>
    <p:sldId id="294" r:id="rId57"/>
    <p:sldId id="269" r:id="rId58"/>
    <p:sldId id="601" r:id="rId59"/>
    <p:sldId id="599" r:id="rId60"/>
    <p:sldId id="603" r:id="rId61"/>
    <p:sldId id="600" r:id="rId62"/>
    <p:sldId id="604" r:id="rId63"/>
    <p:sldId id="646" r:id="rId64"/>
    <p:sldId id="648" r:id="rId65"/>
    <p:sldId id="647" r:id="rId66"/>
    <p:sldId id="615" r:id="rId67"/>
    <p:sldId id="605" r:id="rId68"/>
    <p:sldId id="614" r:id="rId69"/>
    <p:sldId id="607" r:id="rId70"/>
    <p:sldId id="608" r:id="rId71"/>
    <p:sldId id="268" r:id="rId72"/>
    <p:sldId id="613" r:id="rId73"/>
    <p:sldId id="612" r:id="rId74"/>
    <p:sldId id="617" r:id="rId75"/>
    <p:sldId id="621" r:id="rId76"/>
    <p:sldId id="261" r:id="rId77"/>
    <p:sldId id="590" r:id="rId78"/>
    <p:sldId id="638" r:id="rId79"/>
    <p:sldId id="279" r:id="rId80"/>
    <p:sldId id="271" r:id="rId81"/>
    <p:sldId id="629" r:id="rId82"/>
    <p:sldId id="287" r:id="rId83"/>
    <p:sldId id="61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5DFE8F-4CC1-4067-817F-AE6783E0A450}">
          <p14:sldIdLst>
            <p14:sldId id="731"/>
            <p14:sldId id="732"/>
            <p14:sldId id="735"/>
          </p14:sldIdLst>
        </p14:section>
        <p14:section name="The L2 War" id="{6BD3595E-8EF8-4261-9BBD-CB24F6401113}">
          <p14:sldIdLst>
            <p14:sldId id="700"/>
            <p14:sldId id="718"/>
            <p14:sldId id="719"/>
            <p14:sldId id="720"/>
            <p14:sldId id="721"/>
            <p14:sldId id="722"/>
          </p14:sldIdLst>
        </p14:section>
        <p14:section name="My Proposal" id="{1DA4D6F9-D620-464E-960A-620C5E9EB06D}">
          <p14:sldIdLst>
            <p14:sldId id="723"/>
            <p14:sldId id="724"/>
            <p14:sldId id="725"/>
            <p14:sldId id="727"/>
            <p14:sldId id="726"/>
            <p14:sldId id="728"/>
          </p14:sldIdLst>
        </p14:section>
        <p14:section name="CUSF" id="{CDFA729E-B713-43F1-B0C5-0E3D5CFDC00B}">
          <p14:sldIdLst>
            <p14:sldId id="635"/>
            <p14:sldId id="712"/>
            <p14:sldId id="729"/>
            <p14:sldId id="714"/>
            <p14:sldId id="636"/>
            <p14:sldId id="644"/>
            <p14:sldId id="637"/>
            <p14:sldId id="715"/>
            <p14:sldId id="716"/>
            <p14:sldId id="717"/>
          </p14:sldIdLst>
        </p14:section>
        <p14:section name="More CUSF" id="{5C05ACF7-8A7F-48D3-A73E-FA035507CD9E}">
          <p14:sldIdLst>
            <p14:sldId id="733"/>
            <p14:sldId id="639"/>
            <p14:sldId id="640"/>
            <p14:sldId id="641"/>
            <p14:sldId id="642"/>
            <p14:sldId id="643"/>
          </p14:sldIdLst>
        </p14:section>
        <p14:section name="Extra" id="{54B493C3-D279-4694-A2AA-943181F1BC84}">
          <p14:sldIdLst>
            <p14:sldId id="734"/>
            <p14:sldId id="705"/>
            <p14:sldId id="708"/>
            <p14:sldId id="709"/>
            <p14:sldId id="711"/>
            <p14:sldId id="630"/>
            <p14:sldId id="701"/>
            <p14:sldId id="702"/>
          </p14:sldIdLst>
        </p14:section>
        <p14:section name="Soft Forks" id="{82E0D0C1-5582-4CFF-A285-5A85ADCA1892}">
          <p14:sldIdLst>
            <p14:sldId id="258"/>
            <p14:sldId id="259"/>
            <p14:sldId id="281"/>
            <p14:sldId id="284"/>
            <p14:sldId id="290"/>
            <p14:sldId id="623"/>
            <p14:sldId id="288"/>
            <p14:sldId id="289"/>
            <p14:sldId id="624"/>
            <p14:sldId id="626"/>
            <p14:sldId id="622"/>
            <p14:sldId id="645"/>
            <p14:sldId id="619"/>
            <p14:sldId id="292"/>
            <p14:sldId id="628"/>
            <p14:sldId id="627"/>
            <p14:sldId id="294"/>
            <p14:sldId id="269"/>
            <p14:sldId id="601"/>
            <p14:sldId id="599"/>
            <p14:sldId id="603"/>
            <p14:sldId id="600"/>
            <p14:sldId id="604"/>
            <p14:sldId id="646"/>
            <p14:sldId id="648"/>
            <p14:sldId id="647"/>
            <p14:sldId id="615"/>
            <p14:sldId id="605"/>
            <p14:sldId id="614"/>
            <p14:sldId id="607"/>
            <p14:sldId id="608"/>
            <p14:sldId id="268"/>
            <p14:sldId id="613"/>
            <p14:sldId id="612"/>
            <p14:sldId id="617"/>
            <p14:sldId id="621"/>
            <p14:sldId id="261"/>
            <p14:sldId id="590"/>
            <p14:sldId id="638"/>
            <p14:sldId id="279"/>
            <p14:sldId id="271"/>
            <p14:sldId id="629"/>
            <p14:sldId id="287"/>
            <p14:sldId id="61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3" autoAdjust="0"/>
    <p:restoredTop sz="94660"/>
  </p:normalViewPr>
  <p:slideViewPr>
    <p:cSldViewPr snapToGrid="0">
      <p:cViewPr>
        <p:scale>
          <a:sx n="50" d="100"/>
          <a:sy n="50" d="100"/>
        </p:scale>
        <p:origin x="438"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7B2F72-976F-4EA7-9922-B3791D9ECB71}" type="datetimeFigureOut">
              <a:rPr lang="en-US" smtClean="0"/>
              <a:t>11/7/2024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8F9568-3F30-49A4-B03A-AC206558B180}" type="slidenum">
              <a:rPr lang="en-US" smtClean="0"/>
              <a:t>‹#›</a:t>
            </a:fld>
            <a:endParaRPr lang="en-US"/>
          </a:p>
        </p:txBody>
      </p:sp>
    </p:spTree>
    <p:extLst>
      <p:ext uri="{BB962C8B-B14F-4D97-AF65-F5344CB8AC3E}">
        <p14:creationId xmlns:p14="http://schemas.microsoft.com/office/powerpoint/2010/main" val="299873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7024F-E09F-E49A-5FD0-58324FFA9F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98D51D-0523-4241-CE12-FF1B904DE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57EFE4-8E84-15BC-96D4-5ED18857F3F4}"/>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2ED08E5C-FA5C-5F73-5053-A30DA69AE4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67785-9BEE-BCD1-7F6D-CFBA05DCB6C2}"/>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34772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8051C-107C-8D74-2000-80F7A72B87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F1E5C-E4FC-ECCA-9EDC-462406A206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757449-70D8-6E41-E11F-88B867E469CD}"/>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F235A94B-8A92-5CA3-A1C0-F51C05A9F0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14699-E1BF-8394-287E-0E8951D5A5FE}"/>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2850308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52A8-2285-A8C4-6C88-108254DB8C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F21369-27F9-843E-24CE-3D5D561EF3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A8C566-B4D0-F5FB-00D7-2960DC4598CF}"/>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ACCDAC49-A611-BE6C-413B-315CAAB33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AD648-6334-DBBC-B4E6-F25E66C28085}"/>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457523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0213-3BED-61BC-07D1-AD10272EB9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921352-AE6B-837E-9AFC-24DD20A42A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103D43-6B5E-C20E-9889-4540914FBE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CFE8CC-3451-7774-055D-D93FA80A8A7D}"/>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6" name="Footer Placeholder 5">
            <a:extLst>
              <a:ext uri="{FF2B5EF4-FFF2-40B4-BE49-F238E27FC236}">
                <a16:creationId xmlns:a16="http://schemas.microsoft.com/office/drawing/2014/main" id="{BE37BCC5-221F-F197-3D66-C18618E69A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F4BF85-6B12-3703-8EB0-968AF7CC7F33}"/>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2209133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1BF9-4E58-7A00-CA3F-FBA45F75FD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96A98-2E34-6323-BA14-33314E1F29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519D72-27EB-74E2-78AC-B36F5C866D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35B121-4512-15CC-15CF-CD4523A65F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5A68F2-3506-A20D-7E5E-2515C73ABE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1BDE03-0531-D0A9-63CF-56B336C245B8}"/>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8" name="Footer Placeholder 7">
            <a:extLst>
              <a:ext uri="{FF2B5EF4-FFF2-40B4-BE49-F238E27FC236}">
                <a16:creationId xmlns:a16="http://schemas.microsoft.com/office/drawing/2014/main" id="{9E44413D-2D9A-DDAE-6CE1-A409AC1BB2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D7B9AD-A125-9153-3DB0-2B219CC4D5A5}"/>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33830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E305-0704-1992-52F1-3E40804AED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F28D4C-9F6C-0A92-5B3A-3A117FEDEF6B}"/>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4" name="Footer Placeholder 3">
            <a:extLst>
              <a:ext uri="{FF2B5EF4-FFF2-40B4-BE49-F238E27FC236}">
                <a16:creationId xmlns:a16="http://schemas.microsoft.com/office/drawing/2014/main" id="{0BD5AFBA-FB9B-63B4-A2F1-3D8360E092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700EA-3370-E8D4-F2EE-F22CA010F319}"/>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4052842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34A067-1FBB-1C22-10FC-75EDBE894D47}"/>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3" name="Footer Placeholder 2">
            <a:extLst>
              <a:ext uri="{FF2B5EF4-FFF2-40B4-BE49-F238E27FC236}">
                <a16:creationId xmlns:a16="http://schemas.microsoft.com/office/drawing/2014/main" id="{97A370A7-1E8E-0EAD-CC18-B9F19F40E9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E3BB6F-70B4-F2BC-3255-212942BEF9A9}"/>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075847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7D1B-7734-9A55-A4BA-8359A8D21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428859-ABA6-8253-F9C9-FC8C865B9D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1A0402-8C4F-17DD-B106-1285CFCA51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6A2721-C86C-D863-46BF-6C068810680E}"/>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6" name="Footer Placeholder 5">
            <a:extLst>
              <a:ext uri="{FF2B5EF4-FFF2-40B4-BE49-F238E27FC236}">
                <a16:creationId xmlns:a16="http://schemas.microsoft.com/office/drawing/2014/main" id="{527FF177-5BE8-DD72-38BF-4FC7E3B3A7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B00D1D-1EBC-BC38-DBDD-4B50F10CFA28}"/>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686813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8ABE2-1FC2-3334-9526-BD12BFE936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8EBB2F-AC58-44DF-3150-25C613953A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B3D9B9-ED99-3325-7721-9C21790B0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26224-E612-57C5-23A3-4BA7FD1F1515}"/>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6" name="Footer Placeholder 5">
            <a:extLst>
              <a:ext uri="{FF2B5EF4-FFF2-40B4-BE49-F238E27FC236}">
                <a16:creationId xmlns:a16="http://schemas.microsoft.com/office/drawing/2014/main" id="{C7A296D4-2127-7A12-E090-3A245DE442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02D5A-DB41-7016-1073-E11AF57915D7}"/>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213737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FBD31-63C4-29CF-AD64-9DF0102FDB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2DB1CD-DCBC-F51C-25DD-1EA2685B3D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68C40-2578-68CE-B9B9-081F8C274461}"/>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B6C8405F-4B91-094A-CC73-476E5727A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A7D0E-E26C-BBF4-AF3F-126DBE825151}"/>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714808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CBF0FD-8506-D4AA-6902-7F3FFB5015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079534-F94E-E2FB-55EA-63B26259FA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9874C-FF61-1887-AC71-ABB02F04DF2F}"/>
              </a:ext>
            </a:extLst>
          </p:cNvPr>
          <p:cNvSpPr>
            <a:spLocks noGrp="1"/>
          </p:cNvSpPr>
          <p:nvPr>
            <p:ph type="dt" sz="half" idx="10"/>
          </p:nvPr>
        </p:nvSpPr>
        <p:spPr/>
        <p:txBody>
          <a:body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821FF2CC-4F91-053B-F536-112E3A3F87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731083-772B-0772-C1A3-DE8541F80136}"/>
              </a:ext>
            </a:extLst>
          </p:cNvPr>
          <p:cNvSpPr>
            <a:spLocks noGrp="1"/>
          </p:cNvSpPr>
          <p:nvPr>
            <p:ph type="sldNum" sz="quarter" idx="12"/>
          </p:nvPr>
        </p:nvSpPr>
        <p:spPr/>
        <p:txBody>
          <a:bodyPr/>
          <a:lstStyle/>
          <a:p>
            <a:fld id="{F4893134-2644-4CE6-A645-3031487FDC7D}" type="slidenum">
              <a:rPr lang="en-US" smtClean="0"/>
              <a:t>‹#›</a:t>
            </a:fld>
            <a:endParaRPr lang="en-US"/>
          </a:p>
        </p:txBody>
      </p:sp>
    </p:spTree>
    <p:extLst>
      <p:ext uri="{BB962C8B-B14F-4D97-AF65-F5344CB8AC3E}">
        <p14:creationId xmlns:p14="http://schemas.microsoft.com/office/powerpoint/2010/main" val="1209335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5958893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2D89C7-9D13-C522-46B1-4A8C4202B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E0F2B2-9724-E464-F97D-03BA895DD9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58239-FFE1-6C72-2C76-C1193AC708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A5BC01-998F-455F-8137-B0030D374183}" type="datetimeFigureOut">
              <a:rPr lang="en-US" smtClean="0"/>
              <a:t>11/7/2024</a:t>
            </a:fld>
            <a:endParaRPr lang="en-US"/>
          </a:p>
        </p:txBody>
      </p:sp>
      <p:sp>
        <p:nvSpPr>
          <p:cNvPr id="5" name="Footer Placeholder 4">
            <a:extLst>
              <a:ext uri="{FF2B5EF4-FFF2-40B4-BE49-F238E27FC236}">
                <a16:creationId xmlns:a16="http://schemas.microsoft.com/office/drawing/2014/main" id="{4040B5FD-A518-6B38-6E6D-2433BD84E0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B519DA-46B5-0CFF-E0A0-E9DE8294DA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893134-2644-4CE6-A645-3031487FDC7D}" type="slidenum">
              <a:rPr lang="en-US" smtClean="0"/>
              <a:t>‹#›</a:t>
            </a:fld>
            <a:endParaRPr lang="en-US"/>
          </a:p>
        </p:txBody>
      </p:sp>
    </p:spTree>
    <p:extLst>
      <p:ext uri="{BB962C8B-B14F-4D97-AF65-F5344CB8AC3E}">
        <p14:creationId xmlns:p14="http://schemas.microsoft.com/office/powerpoint/2010/main" val="670192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bip300cusf.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D1B9-27DE-D67F-B46D-7BEDC80A5128}"/>
              </a:ext>
            </a:extLst>
          </p:cNvPr>
          <p:cNvSpPr>
            <a:spLocks noGrp="1"/>
          </p:cNvSpPr>
          <p:nvPr>
            <p:ph type="title"/>
          </p:nvPr>
        </p:nvSpPr>
        <p:spPr>
          <a:xfrm>
            <a:off x="4538660" y="956468"/>
            <a:ext cx="3114679" cy="1386681"/>
          </a:xfrm>
          <a:solidFill>
            <a:schemeClr val="bg1">
              <a:lumMod val="85000"/>
            </a:schemeClr>
          </a:solidFill>
          <a:ln>
            <a:solidFill>
              <a:schemeClr val="accent4">
                <a:lumMod val="50000"/>
              </a:schemeClr>
            </a:solidFill>
          </a:ln>
        </p:spPr>
        <p:txBody>
          <a:bodyPr>
            <a:normAutofit/>
          </a:bodyPr>
          <a:lstStyle/>
          <a:p>
            <a:pPr algn="ctr"/>
            <a:r>
              <a:rPr lang="en-US" sz="8800" dirty="0"/>
              <a:t>CUSF</a:t>
            </a:r>
          </a:p>
        </p:txBody>
      </p:sp>
      <p:sp>
        <p:nvSpPr>
          <p:cNvPr id="3" name="Content Placeholder 2">
            <a:extLst>
              <a:ext uri="{FF2B5EF4-FFF2-40B4-BE49-F238E27FC236}">
                <a16:creationId xmlns:a16="http://schemas.microsoft.com/office/drawing/2014/main" id="{0D8F90D6-E9C9-A70E-DC6D-FDCB3854CAC5}"/>
              </a:ext>
            </a:extLst>
          </p:cNvPr>
          <p:cNvSpPr>
            <a:spLocks noGrp="1"/>
          </p:cNvSpPr>
          <p:nvPr>
            <p:ph idx="1"/>
          </p:nvPr>
        </p:nvSpPr>
        <p:spPr>
          <a:xfrm>
            <a:off x="5157789" y="4720434"/>
            <a:ext cx="1876422" cy="1466849"/>
          </a:xfrm>
          <a:solidFill>
            <a:schemeClr val="bg1">
              <a:lumMod val="85000"/>
            </a:schemeClr>
          </a:solidFill>
          <a:ln>
            <a:solidFill>
              <a:schemeClr val="accent4">
                <a:lumMod val="50000"/>
              </a:schemeClr>
            </a:solidFill>
          </a:ln>
        </p:spPr>
        <p:txBody>
          <a:bodyPr>
            <a:normAutofit/>
          </a:bodyPr>
          <a:lstStyle/>
          <a:p>
            <a:pPr marL="0" indent="0" algn="ctr">
              <a:buNone/>
            </a:pPr>
            <a:r>
              <a:rPr lang="en-US" sz="2400" dirty="0"/>
              <a:t>OP NEXT</a:t>
            </a:r>
            <a:br>
              <a:rPr lang="en-US" sz="2400" dirty="0"/>
            </a:br>
            <a:r>
              <a:rPr lang="en-US" sz="2400" dirty="0"/>
              <a:t>Nov 9, 2024 </a:t>
            </a:r>
            <a:br>
              <a:rPr lang="en-US" sz="2400" dirty="0"/>
            </a:br>
            <a:r>
              <a:rPr lang="en-US" sz="2400" dirty="0"/>
              <a:t>Boston MA</a:t>
            </a:r>
            <a:br>
              <a:rPr lang="en-US" sz="2400" dirty="0"/>
            </a:br>
            <a:r>
              <a:rPr lang="en-US" sz="2400" dirty="0"/>
              <a:t>Paul Sztorc</a:t>
            </a:r>
          </a:p>
        </p:txBody>
      </p:sp>
      <p:sp>
        <p:nvSpPr>
          <p:cNvPr id="4" name="Content Placeholder 2">
            <a:extLst>
              <a:ext uri="{FF2B5EF4-FFF2-40B4-BE49-F238E27FC236}">
                <a16:creationId xmlns:a16="http://schemas.microsoft.com/office/drawing/2014/main" id="{0B1874AD-B108-DC7E-6AF5-4CF148DE65CF}"/>
              </a:ext>
            </a:extLst>
          </p:cNvPr>
          <p:cNvSpPr txBox="1">
            <a:spLocks/>
          </p:cNvSpPr>
          <p:nvPr/>
        </p:nvSpPr>
        <p:spPr>
          <a:xfrm>
            <a:off x="3409951" y="2710657"/>
            <a:ext cx="5372100" cy="1562099"/>
          </a:xfrm>
          <a:prstGeom prst="rect">
            <a:avLst/>
          </a:prstGeom>
          <a:solidFill>
            <a:schemeClr val="bg1">
              <a:lumMod val="85000"/>
            </a:schemeClr>
          </a:solidFill>
          <a:ln>
            <a:solidFill>
              <a:schemeClr val="accent4">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arenR"/>
            </a:pPr>
            <a:r>
              <a:rPr lang="en-US" dirty="0"/>
              <a:t>Scale Bitcoin to 8 billion people</a:t>
            </a:r>
          </a:p>
          <a:p>
            <a:pPr marL="514350" indent="-514350">
              <a:buFont typeface="Arial" panose="020B0604020202020204" pitchFamily="34" charset="0"/>
              <a:buAutoNum type="arabicParenR"/>
            </a:pPr>
            <a:r>
              <a:rPr lang="en-US" dirty="0"/>
              <a:t>No changes to Bitcoin Core</a:t>
            </a:r>
          </a:p>
          <a:p>
            <a:pPr marL="514350" indent="-514350">
              <a:buFont typeface="Arial" panose="020B0604020202020204" pitchFamily="34" charset="0"/>
              <a:buAutoNum type="arabicParenR"/>
            </a:pPr>
            <a:r>
              <a:rPr lang="en-US" dirty="0"/>
              <a:t>Collect Billions in Txn Fees</a:t>
            </a:r>
          </a:p>
          <a:p>
            <a:pPr marL="514350" indent="-514350">
              <a:buFont typeface="Arial" panose="020B0604020202020204" pitchFamily="34" charset="0"/>
              <a:buAutoNum type="arabicParenR"/>
            </a:pPr>
            <a:endParaRPr lang="en-US" dirty="0"/>
          </a:p>
        </p:txBody>
      </p:sp>
    </p:spTree>
    <p:extLst>
      <p:ext uri="{BB962C8B-B14F-4D97-AF65-F5344CB8AC3E}">
        <p14:creationId xmlns:p14="http://schemas.microsoft.com/office/powerpoint/2010/main" val="83019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51F07-C61F-DB76-98BD-908BCEF9A1E6}"/>
              </a:ext>
            </a:extLst>
          </p:cNvPr>
          <p:cNvSpPr>
            <a:spLocks noGrp="1"/>
          </p:cNvSpPr>
          <p:nvPr>
            <p:ph type="title"/>
          </p:nvPr>
        </p:nvSpPr>
        <p:spPr/>
        <p:txBody>
          <a:bodyPr/>
          <a:lstStyle/>
          <a:p>
            <a:r>
              <a:rPr lang="en-US" sz="6600" dirty="0"/>
              <a:t>Agenda</a:t>
            </a:r>
            <a:endParaRPr lang="en-US" dirty="0"/>
          </a:p>
        </p:txBody>
      </p:sp>
      <p:sp>
        <p:nvSpPr>
          <p:cNvPr id="3" name="Content Placeholder 2">
            <a:extLst>
              <a:ext uri="{FF2B5EF4-FFF2-40B4-BE49-F238E27FC236}">
                <a16:creationId xmlns:a16="http://schemas.microsoft.com/office/drawing/2014/main" id="{A961B972-81FA-9E40-46F3-C85940B0DBDA}"/>
              </a:ext>
            </a:extLst>
          </p:cNvPr>
          <p:cNvSpPr>
            <a:spLocks noGrp="1"/>
          </p:cNvSpPr>
          <p:nvPr>
            <p:ph idx="1"/>
          </p:nvPr>
        </p:nvSpPr>
        <p:spPr>
          <a:xfrm>
            <a:off x="838200" y="2305049"/>
            <a:ext cx="10515600" cy="3871913"/>
          </a:xfrm>
        </p:spPr>
        <p:txBody>
          <a:bodyPr>
            <a:normAutofit/>
          </a:bodyPr>
          <a:lstStyle/>
          <a:p>
            <a:pPr marL="514350" indent="-514350">
              <a:buFont typeface="+mj-lt"/>
              <a:buAutoNum type="arabicPeriod"/>
            </a:pPr>
            <a:r>
              <a:rPr lang="en-US" sz="3600" dirty="0"/>
              <a:t>Background, Context – 15 mins</a:t>
            </a:r>
          </a:p>
          <a:p>
            <a:pPr marL="514350" indent="-514350">
              <a:buFont typeface="+mj-lt"/>
              <a:buAutoNum type="arabicPeriod"/>
            </a:pPr>
            <a:r>
              <a:rPr lang="en-US" sz="3600" dirty="0"/>
              <a:t>CUSF (the solution) – 5 mins</a:t>
            </a:r>
          </a:p>
          <a:p>
            <a:pPr marL="514350" indent="-514350">
              <a:buFont typeface="+mj-lt"/>
              <a:buAutoNum type="arabicPeriod"/>
            </a:pPr>
            <a:r>
              <a:rPr lang="en-US" sz="3600" dirty="0"/>
              <a:t>Q &amp; A – 10 mins</a:t>
            </a:r>
          </a:p>
        </p:txBody>
      </p:sp>
    </p:spTree>
    <p:extLst>
      <p:ext uri="{BB962C8B-B14F-4D97-AF65-F5344CB8AC3E}">
        <p14:creationId xmlns:p14="http://schemas.microsoft.com/office/powerpoint/2010/main" val="28820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77F7-D57E-839A-14C5-74558F3D4743}"/>
              </a:ext>
            </a:extLst>
          </p:cNvPr>
          <p:cNvSpPr>
            <a:spLocks noGrp="1"/>
          </p:cNvSpPr>
          <p:nvPr>
            <p:ph type="title"/>
          </p:nvPr>
        </p:nvSpPr>
        <p:spPr>
          <a:xfrm>
            <a:off x="495300" y="182562"/>
            <a:ext cx="2809875" cy="996949"/>
          </a:xfrm>
        </p:spPr>
        <p:txBody>
          <a:bodyPr/>
          <a:lstStyle/>
          <a:p>
            <a:r>
              <a:rPr lang="en-US" dirty="0"/>
              <a:t>My History</a:t>
            </a:r>
          </a:p>
        </p:txBody>
      </p:sp>
      <p:sp>
        <p:nvSpPr>
          <p:cNvPr id="3" name="Content Placeholder 2">
            <a:extLst>
              <a:ext uri="{FF2B5EF4-FFF2-40B4-BE49-F238E27FC236}">
                <a16:creationId xmlns:a16="http://schemas.microsoft.com/office/drawing/2014/main" id="{5AE5F892-CCEA-7A66-FB5E-1797792B0209}"/>
              </a:ext>
            </a:extLst>
          </p:cNvPr>
          <p:cNvSpPr>
            <a:spLocks noGrp="1"/>
          </p:cNvSpPr>
          <p:nvPr>
            <p:ph idx="1"/>
          </p:nvPr>
        </p:nvSpPr>
        <p:spPr>
          <a:xfrm>
            <a:off x="495299" y="1466851"/>
            <a:ext cx="11268075" cy="4229100"/>
          </a:xfrm>
        </p:spPr>
        <p:txBody>
          <a:bodyPr>
            <a:normAutofit lnSpcReduction="10000"/>
          </a:bodyPr>
          <a:lstStyle/>
          <a:p>
            <a:r>
              <a:rPr lang="en-US" dirty="0"/>
              <a:t>Scaling I, II, III (Sept 2015) </a:t>
            </a:r>
            <a:r>
              <a:rPr lang="en-US" dirty="0">
                <a:sym typeface="Wingdings" panose="05000000000000000000" pitchFamily="2" charset="2"/>
              </a:rPr>
              <a:t> This conference (?)</a:t>
            </a:r>
            <a:endParaRPr lang="en-US" dirty="0"/>
          </a:p>
          <a:p>
            <a:r>
              <a:rPr lang="en-US" dirty="0"/>
              <a:t>“</a:t>
            </a:r>
            <a:r>
              <a:rPr lang="en-US" dirty="0" err="1"/>
              <a:t>Truthcoin</a:t>
            </a:r>
            <a:r>
              <a:rPr lang="en-US" dirty="0"/>
              <a:t>” (Dec 2013) </a:t>
            </a:r>
            <a:r>
              <a:rPr lang="en-US" dirty="0">
                <a:sym typeface="Wingdings" panose="05000000000000000000" pitchFamily="2" charset="2"/>
              </a:rPr>
              <a:t>  BitcoinHivemind.com  [other ppl] </a:t>
            </a:r>
            <a:r>
              <a:rPr lang="en-US" dirty="0" err="1">
                <a:sym typeface="Wingdings" panose="05000000000000000000" pitchFamily="2" charset="2"/>
              </a:rPr>
              <a:t>PolyMarket</a:t>
            </a:r>
            <a:endParaRPr lang="en-US" dirty="0">
              <a:sym typeface="Wingdings" panose="05000000000000000000" pitchFamily="2" charset="2"/>
            </a:endParaRPr>
          </a:p>
          <a:p>
            <a:r>
              <a:rPr lang="en-US" dirty="0">
                <a:sym typeface="Wingdings" panose="05000000000000000000" pitchFamily="2" charset="2"/>
              </a:rPr>
              <a:t>“Measuring Decentralization” (Sept 2015)  “Drivechain” (Nov 2015)  BIP-300</a:t>
            </a:r>
          </a:p>
          <a:p>
            <a:r>
              <a:rPr lang="en-US" dirty="0">
                <a:sym typeface="Wingdings" panose="05000000000000000000" pitchFamily="2" charset="2"/>
              </a:rPr>
              <a:t>“Sidechain Privatization” (Jun 2016)  Blind Merged Mining (Jan 2017)  BIP-301  proposer-builder separation</a:t>
            </a:r>
          </a:p>
          <a:p>
            <a:r>
              <a:rPr lang="en-US" dirty="0">
                <a:sym typeface="Wingdings" panose="05000000000000000000" pitchFamily="2" charset="2"/>
              </a:rPr>
              <a:t>“Win-Win Blocksize Solution” (July 2015)  “Fork Futures”</a:t>
            </a:r>
          </a:p>
          <a:p>
            <a:r>
              <a:rPr lang="en-US" dirty="0" err="1">
                <a:sym typeface="Wingdings" panose="05000000000000000000" pitchFamily="2" charset="2"/>
              </a:rPr>
              <a:t>BitAssets</a:t>
            </a:r>
            <a:r>
              <a:rPr lang="en-US" dirty="0">
                <a:sym typeface="Wingdings" panose="05000000000000000000" pitchFamily="2" charset="2"/>
              </a:rPr>
              <a:t> (Jun 2018)   [other ppl] Ordinals , Coordinate , ERC20</a:t>
            </a:r>
          </a:p>
          <a:p>
            <a:r>
              <a:rPr lang="en-US" dirty="0">
                <a:sym typeface="Wingdings" panose="05000000000000000000" pitchFamily="2" charset="2"/>
              </a:rPr>
              <a:t>“Better Fork Terminology” (Dec 2016)  MIT talk (2023)  CUSF (2024)</a:t>
            </a:r>
            <a:endParaRPr lang="en-US" dirty="0"/>
          </a:p>
        </p:txBody>
      </p:sp>
    </p:spTree>
    <p:extLst>
      <p:ext uri="{BB962C8B-B14F-4D97-AF65-F5344CB8AC3E}">
        <p14:creationId xmlns:p14="http://schemas.microsoft.com/office/powerpoint/2010/main" val="684725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9279C-743A-4D15-1EE9-4D8EDEC371E6}"/>
              </a:ext>
            </a:extLst>
          </p:cNvPr>
          <p:cNvSpPr>
            <a:spLocks noGrp="1"/>
          </p:cNvSpPr>
          <p:nvPr>
            <p:ph type="title"/>
          </p:nvPr>
        </p:nvSpPr>
        <p:spPr>
          <a:xfrm>
            <a:off x="838200" y="365125"/>
            <a:ext cx="4815371" cy="1325563"/>
          </a:xfrm>
        </p:spPr>
        <p:txBody>
          <a:bodyPr/>
          <a:lstStyle/>
          <a:p>
            <a:r>
              <a:rPr lang="en-US" dirty="0"/>
              <a:t>Fee Comparison</a:t>
            </a:r>
          </a:p>
        </p:txBody>
      </p:sp>
      <p:sp>
        <p:nvSpPr>
          <p:cNvPr id="4" name="TextBox 3">
            <a:extLst>
              <a:ext uri="{FF2B5EF4-FFF2-40B4-BE49-F238E27FC236}">
                <a16:creationId xmlns:a16="http://schemas.microsoft.com/office/drawing/2014/main" id="{8235E5F4-DC65-57B2-CEFE-CFC1CB73CF5F}"/>
              </a:ext>
            </a:extLst>
          </p:cNvPr>
          <p:cNvSpPr txBox="1"/>
          <p:nvPr/>
        </p:nvSpPr>
        <p:spPr>
          <a:xfrm>
            <a:off x="244751" y="5885942"/>
            <a:ext cx="2464136" cy="646331"/>
          </a:xfrm>
          <a:prstGeom prst="rect">
            <a:avLst/>
          </a:prstGeom>
          <a:noFill/>
        </p:spPr>
        <p:txBody>
          <a:bodyPr wrap="none" rtlCol="0">
            <a:spAutoFit/>
          </a:bodyPr>
          <a:lstStyle/>
          <a:p>
            <a:pPr algn="ctr"/>
            <a:r>
              <a:rPr lang="en-US" dirty="0">
                <a:latin typeface="Consolas" panose="020B0609020204030204" pitchFamily="49" charset="0"/>
              </a:rPr>
              <a:t>$128 million</a:t>
            </a:r>
            <a:br>
              <a:rPr lang="en-US" dirty="0">
                <a:latin typeface="Consolas" panose="020B0609020204030204" pitchFamily="49" charset="0"/>
              </a:rPr>
            </a:br>
            <a:r>
              <a:rPr lang="en-US" dirty="0">
                <a:latin typeface="Consolas" panose="020B0609020204030204" pitchFamily="49" charset="0"/>
              </a:rPr>
              <a:t>(fee revenue 2022)</a:t>
            </a:r>
          </a:p>
        </p:txBody>
      </p:sp>
      <p:sp>
        <p:nvSpPr>
          <p:cNvPr id="5" name="TextBox 4">
            <a:extLst>
              <a:ext uri="{FF2B5EF4-FFF2-40B4-BE49-F238E27FC236}">
                <a16:creationId xmlns:a16="http://schemas.microsoft.com/office/drawing/2014/main" id="{1BF46DEF-D507-6AA8-8162-E4C738BE91A5}"/>
              </a:ext>
            </a:extLst>
          </p:cNvPr>
          <p:cNvSpPr txBox="1"/>
          <p:nvPr/>
        </p:nvSpPr>
        <p:spPr>
          <a:xfrm>
            <a:off x="6091238" y="5812227"/>
            <a:ext cx="2196182" cy="923330"/>
          </a:xfrm>
          <a:prstGeom prst="rect">
            <a:avLst/>
          </a:prstGeom>
          <a:noFill/>
        </p:spPr>
        <p:txBody>
          <a:bodyPr wrap="square" rtlCol="0">
            <a:spAutoFit/>
          </a:bodyPr>
          <a:lstStyle/>
          <a:p>
            <a:pPr algn="ctr"/>
            <a:r>
              <a:rPr lang="en-US" dirty="0">
                <a:latin typeface="Consolas" panose="020B0609020204030204" pitchFamily="49" charset="0"/>
              </a:rPr>
              <a:t>$3.0 billion</a:t>
            </a:r>
            <a:br>
              <a:rPr lang="en-US" dirty="0">
                <a:latin typeface="Consolas" panose="020B0609020204030204" pitchFamily="49" charset="0"/>
              </a:rPr>
            </a:br>
            <a:r>
              <a:rPr lang="en-US" dirty="0">
                <a:latin typeface="Consolas" panose="020B0609020204030204" pitchFamily="49" charset="0"/>
              </a:rPr>
              <a:t>(All-Altcoin Fee</a:t>
            </a:r>
            <a:br>
              <a:rPr lang="en-US" dirty="0">
                <a:latin typeface="Consolas" panose="020B0609020204030204" pitchFamily="49" charset="0"/>
              </a:rPr>
            </a:br>
            <a:r>
              <a:rPr lang="en-US" dirty="0">
                <a:latin typeface="Consolas" panose="020B0609020204030204" pitchFamily="49" charset="0"/>
              </a:rPr>
              <a:t>Revenue 2022)</a:t>
            </a:r>
          </a:p>
        </p:txBody>
      </p:sp>
      <p:sp>
        <p:nvSpPr>
          <p:cNvPr id="6" name="TextBox 5">
            <a:extLst>
              <a:ext uri="{FF2B5EF4-FFF2-40B4-BE49-F238E27FC236}">
                <a16:creationId xmlns:a16="http://schemas.microsoft.com/office/drawing/2014/main" id="{0F539337-2D8A-18AE-B220-F7C28F4CA42E}"/>
              </a:ext>
            </a:extLst>
          </p:cNvPr>
          <p:cNvSpPr txBox="1"/>
          <p:nvPr/>
        </p:nvSpPr>
        <p:spPr>
          <a:xfrm>
            <a:off x="3237584" y="5812227"/>
            <a:ext cx="2590774" cy="923330"/>
          </a:xfrm>
          <a:prstGeom prst="rect">
            <a:avLst/>
          </a:prstGeom>
          <a:noFill/>
        </p:spPr>
        <p:txBody>
          <a:bodyPr wrap="none" rtlCol="0">
            <a:spAutoFit/>
          </a:bodyPr>
          <a:lstStyle/>
          <a:p>
            <a:pPr algn="ctr"/>
            <a:r>
              <a:rPr lang="en-US" dirty="0">
                <a:latin typeface="Consolas" panose="020B0609020204030204" pitchFamily="49" charset="0"/>
              </a:rPr>
              <a:t>$767 million</a:t>
            </a:r>
            <a:br>
              <a:rPr lang="en-US" dirty="0">
                <a:latin typeface="Consolas" panose="020B0609020204030204" pitchFamily="49" charset="0"/>
              </a:rPr>
            </a:br>
            <a:r>
              <a:rPr lang="en-US" dirty="0">
                <a:latin typeface="Consolas" panose="020B0609020204030204" pitchFamily="49" charset="0"/>
              </a:rPr>
              <a:t>(fee revenue 2023 –</a:t>
            </a:r>
            <a:br>
              <a:rPr lang="en-US" dirty="0">
                <a:latin typeface="Consolas" panose="020B0609020204030204" pitchFamily="49" charset="0"/>
              </a:rPr>
            </a:br>
            <a:r>
              <a:rPr lang="en-US" dirty="0">
                <a:latin typeface="Consolas" panose="020B0609020204030204" pitchFamily="49" charset="0"/>
              </a:rPr>
              <a:t>the ordinals year)</a:t>
            </a:r>
          </a:p>
        </p:txBody>
      </p:sp>
      <p:sp>
        <p:nvSpPr>
          <p:cNvPr id="7" name="TextBox 6">
            <a:extLst>
              <a:ext uri="{FF2B5EF4-FFF2-40B4-BE49-F238E27FC236}">
                <a16:creationId xmlns:a16="http://schemas.microsoft.com/office/drawing/2014/main" id="{44964565-FC0D-4664-E61C-EA4211FB918B}"/>
              </a:ext>
            </a:extLst>
          </p:cNvPr>
          <p:cNvSpPr txBox="1"/>
          <p:nvPr/>
        </p:nvSpPr>
        <p:spPr>
          <a:xfrm>
            <a:off x="8550300" y="5543419"/>
            <a:ext cx="3350597" cy="923330"/>
          </a:xfrm>
          <a:prstGeom prst="rect">
            <a:avLst/>
          </a:prstGeom>
          <a:noFill/>
        </p:spPr>
        <p:txBody>
          <a:bodyPr wrap="none" rtlCol="0">
            <a:spAutoFit/>
          </a:bodyPr>
          <a:lstStyle/>
          <a:p>
            <a:pPr algn="ctr"/>
            <a:r>
              <a:rPr lang="en-US" dirty="0">
                <a:latin typeface="Consolas" panose="020B0609020204030204" pitchFamily="49" charset="0"/>
              </a:rPr>
              <a:t>$640 billion</a:t>
            </a:r>
            <a:br>
              <a:rPr lang="en-US" dirty="0">
                <a:latin typeface="Consolas" panose="020B0609020204030204" pitchFamily="49" charset="0"/>
              </a:rPr>
            </a:br>
            <a:r>
              <a:rPr lang="en-US" dirty="0">
                <a:latin typeface="Consolas" panose="020B0609020204030204" pitchFamily="49" charset="0"/>
              </a:rPr>
              <a:t>(Earth’s 6.4 trillion txn</a:t>
            </a:r>
          </a:p>
          <a:p>
            <a:pPr algn="ctr"/>
            <a:r>
              <a:rPr lang="en-US" dirty="0">
                <a:latin typeface="Consolas" panose="020B0609020204030204" pitchFamily="49" charset="0"/>
              </a:rPr>
              <a:t>X $0.10 , 2022)</a:t>
            </a:r>
          </a:p>
        </p:txBody>
      </p:sp>
      <p:sp>
        <p:nvSpPr>
          <p:cNvPr id="11" name="Oval 10">
            <a:extLst>
              <a:ext uri="{FF2B5EF4-FFF2-40B4-BE49-F238E27FC236}">
                <a16:creationId xmlns:a16="http://schemas.microsoft.com/office/drawing/2014/main" id="{A02040FB-4B70-20E6-F2C5-EEDAB340F3D9}"/>
              </a:ext>
            </a:extLst>
          </p:cNvPr>
          <p:cNvSpPr/>
          <p:nvPr/>
        </p:nvSpPr>
        <p:spPr>
          <a:xfrm>
            <a:off x="1476819" y="5695066"/>
            <a:ext cx="126040" cy="1216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41BD734-4E8C-8FEF-F565-572E3FC92FBB}"/>
              </a:ext>
            </a:extLst>
          </p:cNvPr>
          <p:cNvSpPr/>
          <p:nvPr/>
        </p:nvSpPr>
        <p:spPr>
          <a:xfrm>
            <a:off x="5587036" y="-2989157"/>
            <a:ext cx="8882083" cy="83741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A657EB1-ED4F-DF41-9048-803012D310DC}"/>
              </a:ext>
            </a:extLst>
          </p:cNvPr>
          <p:cNvSpPr txBox="1"/>
          <p:nvPr/>
        </p:nvSpPr>
        <p:spPr>
          <a:xfrm>
            <a:off x="1945759" y="6449576"/>
            <a:ext cx="9429184" cy="369332"/>
          </a:xfrm>
          <a:prstGeom prst="rect">
            <a:avLst/>
          </a:prstGeom>
          <a:noFill/>
        </p:spPr>
        <p:txBody>
          <a:bodyPr wrap="none" rtlCol="0">
            <a:spAutoFit/>
          </a:bodyPr>
          <a:lstStyle/>
          <a:p>
            <a:pPr algn="ctr"/>
            <a:r>
              <a:rPr lang="en-US" dirty="0">
                <a:solidFill>
                  <a:schemeClr val="bg1"/>
                </a:solidFill>
                <a:latin typeface="Consolas" panose="020B0609020204030204" pitchFamily="49" charset="0"/>
              </a:rPr>
              <a:t>12345678901234567890123456789012345678901234567890123456789012345678901</a:t>
            </a:r>
          </a:p>
        </p:txBody>
      </p:sp>
      <p:sp>
        <p:nvSpPr>
          <p:cNvPr id="18" name="Oval 17">
            <a:extLst>
              <a:ext uri="{FF2B5EF4-FFF2-40B4-BE49-F238E27FC236}">
                <a16:creationId xmlns:a16="http://schemas.microsoft.com/office/drawing/2014/main" id="{1D355001-8E9F-4722-A98F-06EF97EF2E5E}"/>
              </a:ext>
            </a:extLst>
          </p:cNvPr>
          <p:cNvSpPr/>
          <p:nvPr/>
        </p:nvSpPr>
        <p:spPr>
          <a:xfrm>
            <a:off x="4386012" y="5482854"/>
            <a:ext cx="293918" cy="2730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744402E-32EA-7E5C-AC08-B7127EB72CBE}"/>
              </a:ext>
            </a:extLst>
          </p:cNvPr>
          <p:cNvSpPr/>
          <p:nvPr/>
        </p:nvSpPr>
        <p:spPr>
          <a:xfrm>
            <a:off x="6902670" y="5108049"/>
            <a:ext cx="573318" cy="5520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6903647-4B8F-7BBE-E326-A14AEA1EF517}"/>
              </a:ext>
            </a:extLst>
          </p:cNvPr>
          <p:cNvSpPr txBox="1"/>
          <p:nvPr/>
        </p:nvSpPr>
        <p:spPr>
          <a:xfrm>
            <a:off x="3004631" y="4475778"/>
            <a:ext cx="3350597" cy="369332"/>
          </a:xfrm>
          <a:prstGeom prst="rect">
            <a:avLst/>
          </a:prstGeom>
          <a:noFill/>
        </p:spPr>
        <p:txBody>
          <a:bodyPr wrap="none" rtlCol="0">
            <a:spAutoFit/>
          </a:bodyPr>
          <a:lstStyle/>
          <a:p>
            <a:pPr algn="ctr"/>
            <a:r>
              <a:rPr lang="en-US" dirty="0">
                <a:latin typeface="Consolas" panose="020B0609020204030204" pitchFamily="49" charset="0"/>
              </a:rPr>
              <a:t>This diagram </a:t>
            </a:r>
            <a:r>
              <a:rPr lang="en-US" i="1" u="sng" dirty="0">
                <a:latin typeface="Consolas" panose="020B0609020204030204" pitchFamily="49" charset="0"/>
              </a:rPr>
              <a:t>is to scale</a:t>
            </a:r>
            <a:r>
              <a:rPr lang="en-US" dirty="0">
                <a:latin typeface="Consolas" panose="020B0609020204030204" pitchFamily="49" charset="0"/>
              </a:rPr>
              <a:t>.</a:t>
            </a:r>
          </a:p>
        </p:txBody>
      </p:sp>
    </p:spTree>
    <p:extLst>
      <p:ext uri="{BB962C8B-B14F-4D97-AF65-F5344CB8AC3E}">
        <p14:creationId xmlns:p14="http://schemas.microsoft.com/office/powerpoint/2010/main" val="3964872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054CA-E8FD-8BB4-25B0-8D260D478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39D11-E7D1-C43E-0CAE-FCA8D383DF92}"/>
              </a:ext>
            </a:extLst>
          </p:cNvPr>
          <p:cNvSpPr>
            <a:spLocks noGrp="1"/>
          </p:cNvSpPr>
          <p:nvPr>
            <p:ph type="title"/>
          </p:nvPr>
        </p:nvSpPr>
        <p:spPr>
          <a:xfrm>
            <a:off x="683107" y="227635"/>
            <a:ext cx="4748836" cy="1645450"/>
          </a:xfrm>
        </p:spPr>
        <p:txBody>
          <a:bodyPr>
            <a:normAutofit fontScale="90000"/>
          </a:bodyPr>
          <a:lstStyle/>
          <a:p>
            <a:r>
              <a:rPr lang="en-US" dirty="0"/>
              <a:t>Non-Mined L2s</a:t>
            </a:r>
            <a:br>
              <a:rPr lang="en-US" dirty="0"/>
            </a:br>
            <a:r>
              <a:rPr lang="en-US" dirty="0"/>
              <a:t>vs</a:t>
            </a:r>
            <a:br>
              <a:rPr lang="en-US" dirty="0"/>
            </a:br>
            <a:r>
              <a:rPr lang="en-US" dirty="0"/>
              <a:t>Mined L2s</a:t>
            </a:r>
          </a:p>
        </p:txBody>
      </p:sp>
      <p:sp>
        <p:nvSpPr>
          <p:cNvPr id="7" name="TextBox 6">
            <a:extLst>
              <a:ext uri="{FF2B5EF4-FFF2-40B4-BE49-F238E27FC236}">
                <a16:creationId xmlns:a16="http://schemas.microsoft.com/office/drawing/2014/main" id="{F42F18D9-0940-E62C-6CC4-B7BDE4EA6F1A}"/>
              </a:ext>
            </a:extLst>
          </p:cNvPr>
          <p:cNvSpPr txBox="1"/>
          <p:nvPr/>
        </p:nvSpPr>
        <p:spPr>
          <a:xfrm>
            <a:off x="9373442" y="5543419"/>
            <a:ext cx="1704313" cy="646331"/>
          </a:xfrm>
          <a:prstGeom prst="rect">
            <a:avLst/>
          </a:prstGeom>
          <a:noFill/>
        </p:spPr>
        <p:txBody>
          <a:bodyPr wrap="none" rtlCol="0">
            <a:spAutoFit/>
          </a:bodyPr>
          <a:lstStyle/>
          <a:p>
            <a:pPr algn="ctr"/>
            <a:r>
              <a:rPr lang="en-US" dirty="0">
                <a:latin typeface="Consolas" panose="020B0609020204030204" pitchFamily="49" charset="0"/>
              </a:rPr>
              <a:t>$640 billion</a:t>
            </a:r>
            <a:br>
              <a:rPr lang="en-US" dirty="0">
                <a:latin typeface="Consolas" panose="020B0609020204030204" pitchFamily="49" charset="0"/>
              </a:rPr>
            </a:br>
            <a:endParaRPr lang="en-US" dirty="0">
              <a:latin typeface="Consolas" panose="020B0609020204030204" pitchFamily="49" charset="0"/>
            </a:endParaRPr>
          </a:p>
        </p:txBody>
      </p:sp>
      <p:sp>
        <p:nvSpPr>
          <p:cNvPr id="14" name="Oval 13">
            <a:extLst>
              <a:ext uri="{FF2B5EF4-FFF2-40B4-BE49-F238E27FC236}">
                <a16:creationId xmlns:a16="http://schemas.microsoft.com/office/drawing/2014/main" id="{567C00BC-6352-1C12-EA2F-D239049DA645}"/>
              </a:ext>
            </a:extLst>
          </p:cNvPr>
          <p:cNvSpPr/>
          <p:nvPr/>
        </p:nvSpPr>
        <p:spPr>
          <a:xfrm>
            <a:off x="5587036" y="-2989157"/>
            <a:ext cx="8882083" cy="8374195"/>
          </a:xfrm>
          <a:prstGeom prst="ellipse">
            <a:avLst/>
          </a:prstGeom>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E87F116-0B7B-9341-EAF3-0325F6C7160E}"/>
              </a:ext>
            </a:extLst>
          </p:cNvPr>
          <p:cNvSpPr txBox="1"/>
          <p:nvPr/>
        </p:nvSpPr>
        <p:spPr>
          <a:xfrm>
            <a:off x="1945759" y="6449576"/>
            <a:ext cx="9429184" cy="369332"/>
          </a:xfrm>
          <a:prstGeom prst="rect">
            <a:avLst/>
          </a:prstGeom>
          <a:noFill/>
        </p:spPr>
        <p:txBody>
          <a:bodyPr wrap="none" rtlCol="0">
            <a:spAutoFit/>
          </a:bodyPr>
          <a:lstStyle/>
          <a:p>
            <a:pPr algn="ctr"/>
            <a:r>
              <a:rPr lang="en-US" dirty="0">
                <a:solidFill>
                  <a:schemeClr val="bg1"/>
                </a:solidFill>
                <a:latin typeface="Consolas" panose="020B0609020204030204" pitchFamily="49" charset="0"/>
              </a:rPr>
              <a:t>12345678901234567890123456789012345678901234567890123456789012345678901</a:t>
            </a:r>
          </a:p>
        </p:txBody>
      </p:sp>
      <p:pic>
        <p:nvPicPr>
          <p:cNvPr id="8" name="Picture 7">
            <a:extLst>
              <a:ext uri="{FF2B5EF4-FFF2-40B4-BE49-F238E27FC236}">
                <a16:creationId xmlns:a16="http://schemas.microsoft.com/office/drawing/2014/main" id="{5149CDD2-EA54-B5E4-A50F-B44E0BACC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758" y="5065151"/>
            <a:ext cx="1704313" cy="1704313"/>
          </a:xfrm>
          <a:prstGeom prst="rect">
            <a:avLst/>
          </a:prstGeom>
          <a:ln>
            <a:solidFill>
              <a:schemeClr val="tx1"/>
            </a:solidFill>
          </a:ln>
        </p:spPr>
      </p:pic>
      <p:pic>
        <p:nvPicPr>
          <p:cNvPr id="9" name="Picture 8">
            <a:extLst>
              <a:ext uri="{FF2B5EF4-FFF2-40B4-BE49-F238E27FC236}">
                <a16:creationId xmlns:a16="http://schemas.microsoft.com/office/drawing/2014/main" id="{603F8731-A8C9-EEA8-D6A4-C5A853D48F74}"/>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245885" y="2642540"/>
            <a:ext cx="1817000" cy="1817000"/>
          </a:xfrm>
          <a:prstGeom prst="rect">
            <a:avLst/>
          </a:prstGeom>
          <a:ln>
            <a:solidFill>
              <a:schemeClr val="tx1"/>
            </a:solidFill>
          </a:ln>
        </p:spPr>
      </p:pic>
      <p:pic>
        <p:nvPicPr>
          <p:cNvPr id="21" name="Picture 20">
            <a:extLst>
              <a:ext uri="{FF2B5EF4-FFF2-40B4-BE49-F238E27FC236}">
                <a16:creationId xmlns:a16="http://schemas.microsoft.com/office/drawing/2014/main" id="{E2380576-D645-6984-A5B9-D869FA5238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267" y="2642539"/>
            <a:ext cx="1790648" cy="1790648"/>
          </a:xfrm>
          <a:prstGeom prst="rect">
            <a:avLst/>
          </a:prstGeom>
          <a:ln w="76200">
            <a:solidFill>
              <a:srgbClr val="00B050"/>
            </a:solidFill>
          </a:ln>
        </p:spPr>
      </p:pic>
      <p:cxnSp>
        <p:nvCxnSpPr>
          <p:cNvPr id="23" name="Straight Arrow Connector 22">
            <a:extLst>
              <a:ext uri="{FF2B5EF4-FFF2-40B4-BE49-F238E27FC236}">
                <a16:creationId xmlns:a16="http://schemas.microsoft.com/office/drawing/2014/main" id="{6AD36E5B-1E66-28AC-30C2-64A14147BA67}"/>
              </a:ext>
            </a:extLst>
          </p:cNvPr>
          <p:cNvCxnSpPr/>
          <p:nvPr/>
        </p:nvCxnSpPr>
        <p:spPr>
          <a:xfrm flipH="1">
            <a:off x="2797915" y="1690688"/>
            <a:ext cx="2478935" cy="738187"/>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2BF141B-FE8D-2247-D603-CFF13A2AECDF}"/>
              </a:ext>
            </a:extLst>
          </p:cNvPr>
          <p:cNvSpPr txBox="1"/>
          <p:nvPr/>
        </p:nvSpPr>
        <p:spPr>
          <a:xfrm>
            <a:off x="946028" y="4521301"/>
            <a:ext cx="1830950" cy="369332"/>
          </a:xfrm>
          <a:prstGeom prst="rect">
            <a:avLst/>
          </a:prstGeom>
          <a:noFill/>
        </p:spPr>
        <p:txBody>
          <a:bodyPr wrap="none" rtlCol="0">
            <a:spAutoFit/>
          </a:bodyPr>
          <a:lstStyle/>
          <a:p>
            <a:pPr algn="ctr"/>
            <a:r>
              <a:rPr lang="en-US" dirty="0">
                <a:latin typeface="Consolas" panose="020B0609020204030204" pitchFamily="49" charset="0"/>
              </a:rPr>
              <a:t>Non-Mined L2s</a:t>
            </a:r>
          </a:p>
        </p:txBody>
      </p:sp>
      <p:sp>
        <p:nvSpPr>
          <p:cNvPr id="25" name="TextBox 24">
            <a:extLst>
              <a:ext uri="{FF2B5EF4-FFF2-40B4-BE49-F238E27FC236}">
                <a16:creationId xmlns:a16="http://schemas.microsoft.com/office/drawing/2014/main" id="{1894FE94-1BF5-1F6A-754D-FAE5E2AB1101}"/>
              </a:ext>
            </a:extLst>
          </p:cNvPr>
          <p:cNvSpPr txBox="1"/>
          <p:nvPr/>
        </p:nvSpPr>
        <p:spPr>
          <a:xfrm>
            <a:off x="3492185" y="4462258"/>
            <a:ext cx="1324402" cy="369332"/>
          </a:xfrm>
          <a:prstGeom prst="rect">
            <a:avLst/>
          </a:prstGeom>
          <a:noFill/>
        </p:spPr>
        <p:txBody>
          <a:bodyPr wrap="none" rtlCol="0">
            <a:spAutoFit/>
          </a:bodyPr>
          <a:lstStyle/>
          <a:p>
            <a:pPr algn="ctr"/>
            <a:r>
              <a:rPr lang="en-US" dirty="0">
                <a:latin typeface="Consolas" panose="020B0609020204030204" pitchFamily="49" charset="0"/>
              </a:rPr>
              <a:t>Mined L2s</a:t>
            </a:r>
          </a:p>
        </p:txBody>
      </p:sp>
      <p:sp>
        <p:nvSpPr>
          <p:cNvPr id="26" name="TextBox 25">
            <a:extLst>
              <a:ext uri="{FF2B5EF4-FFF2-40B4-BE49-F238E27FC236}">
                <a16:creationId xmlns:a16="http://schemas.microsoft.com/office/drawing/2014/main" id="{548D1DA0-CA03-AD37-C779-16330ADDF148}"/>
              </a:ext>
            </a:extLst>
          </p:cNvPr>
          <p:cNvSpPr txBox="1"/>
          <p:nvPr/>
        </p:nvSpPr>
        <p:spPr>
          <a:xfrm>
            <a:off x="1304849" y="5681918"/>
            <a:ext cx="437941" cy="369332"/>
          </a:xfrm>
          <a:prstGeom prst="rect">
            <a:avLst/>
          </a:prstGeom>
          <a:noFill/>
        </p:spPr>
        <p:txBody>
          <a:bodyPr wrap="none" rtlCol="0">
            <a:spAutoFit/>
          </a:bodyPr>
          <a:lstStyle/>
          <a:p>
            <a:pPr algn="ctr"/>
            <a:r>
              <a:rPr lang="en-US" dirty="0">
                <a:latin typeface="Consolas" panose="020B0609020204030204" pitchFamily="49" charset="0"/>
              </a:rPr>
              <a:t>L1</a:t>
            </a:r>
          </a:p>
        </p:txBody>
      </p:sp>
      <p:cxnSp>
        <p:nvCxnSpPr>
          <p:cNvPr id="28" name="Straight Connector 27">
            <a:extLst>
              <a:ext uri="{FF2B5EF4-FFF2-40B4-BE49-F238E27FC236}">
                <a16:creationId xmlns:a16="http://schemas.microsoft.com/office/drawing/2014/main" id="{98DCB87B-3AB4-C10A-3091-AFEDECC53C9F}"/>
              </a:ext>
            </a:extLst>
          </p:cNvPr>
          <p:cNvCxnSpPr>
            <a:cxnSpLocks/>
            <a:stCxn id="24" idx="0"/>
            <a:endCxn id="8" idx="0"/>
          </p:cNvCxnSpPr>
          <p:nvPr/>
        </p:nvCxnSpPr>
        <p:spPr>
          <a:xfrm>
            <a:off x="1861503" y="4521301"/>
            <a:ext cx="936412" cy="54385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6B03DD-142E-3CDA-8FA2-E225B82585A6}"/>
              </a:ext>
            </a:extLst>
          </p:cNvPr>
          <p:cNvCxnSpPr>
            <a:cxnSpLocks/>
            <a:stCxn id="9" idx="2"/>
            <a:endCxn id="8" idx="0"/>
          </p:cNvCxnSpPr>
          <p:nvPr/>
        </p:nvCxnSpPr>
        <p:spPr>
          <a:xfrm flipH="1">
            <a:off x="2797915" y="4459540"/>
            <a:ext cx="1356470" cy="605611"/>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34" name="Picture 33">
            <a:extLst>
              <a:ext uri="{FF2B5EF4-FFF2-40B4-BE49-F238E27FC236}">
                <a16:creationId xmlns:a16="http://schemas.microsoft.com/office/drawing/2014/main" id="{EA93C1C3-B9ED-C932-D1C1-A458382654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0902" y="5308719"/>
            <a:ext cx="1217176" cy="1217176"/>
          </a:xfrm>
          <a:prstGeom prst="rect">
            <a:avLst/>
          </a:prstGeom>
        </p:spPr>
      </p:pic>
    </p:spTree>
    <p:extLst>
      <p:ext uri="{BB962C8B-B14F-4D97-AF65-F5344CB8AC3E}">
        <p14:creationId xmlns:p14="http://schemas.microsoft.com/office/powerpoint/2010/main" val="2725602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7324-4DEC-A443-4200-DF74A068CE60}"/>
              </a:ext>
            </a:extLst>
          </p:cNvPr>
          <p:cNvSpPr>
            <a:spLocks noGrp="1"/>
          </p:cNvSpPr>
          <p:nvPr>
            <p:ph type="title"/>
          </p:nvPr>
        </p:nvSpPr>
        <p:spPr>
          <a:xfrm>
            <a:off x="838200" y="365125"/>
            <a:ext cx="5057775" cy="1120775"/>
          </a:xfrm>
        </p:spPr>
        <p:txBody>
          <a:bodyPr/>
          <a:lstStyle/>
          <a:p>
            <a:r>
              <a:rPr lang="en-US" dirty="0"/>
              <a:t>The Coming L2 War</a:t>
            </a:r>
          </a:p>
        </p:txBody>
      </p:sp>
      <p:sp>
        <p:nvSpPr>
          <p:cNvPr id="3" name="Content Placeholder 2">
            <a:extLst>
              <a:ext uri="{FF2B5EF4-FFF2-40B4-BE49-F238E27FC236}">
                <a16:creationId xmlns:a16="http://schemas.microsoft.com/office/drawing/2014/main" id="{3883A1B9-CAF8-A69A-519B-5CF85DF80D77}"/>
              </a:ext>
            </a:extLst>
          </p:cNvPr>
          <p:cNvSpPr>
            <a:spLocks noGrp="1"/>
          </p:cNvSpPr>
          <p:nvPr>
            <p:ph idx="1"/>
          </p:nvPr>
        </p:nvSpPr>
        <p:spPr/>
        <p:txBody>
          <a:bodyPr/>
          <a:lstStyle/>
          <a:p>
            <a:r>
              <a:rPr lang="en-US" i="1" dirty="0"/>
              <a:t>Instability</a:t>
            </a:r>
          </a:p>
          <a:p>
            <a:pPr marL="914400" lvl="1" indent="-457200">
              <a:buFont typeface="+mj-lt"/>
              <a:buAutoNum type="arabicPeriod"/>
            </a:pPr>
            <a:r>
              <a:rPr lang="en-US" dirty="0"/>
              <a:t>Conflict between L1 and L2</a:t>
            </a:r>
          </a:p>
          <a:p>
            <a:pPr marL="914400" lvl="1" indent="-457200">
              <a:buFont typeface="+mj-lt"/>
              <a:buAutoNum type="arabicPeriod"/>
            </a:pPr>
            <a:r>
              <a:rPr lang="en-US" dirty="0"/>
              <a:t>Incentives for Mining Centralization</a:t>
            </a:r>
          </a:p>
          <a:p>
            <a:pPr marL="914400" lvl="1" indent="-457200">
              <a:buFont typeface="+mj-lt"/>
              <a:buAutoNum type="arabicPeriod"/>
            </a:pPr>
            <a:r>
              <a:rPr lang="en-US" dirty="0"/>
              <a:t>Vertical integration – </a:t>
            </a:r>
            <a:r>
              <a:rPr lang="en-US" dirty="0" err="1"/>
              <a:t>eg</a:t>
            </a:r>
            <a:r>
              <a:rPr lang="en-US" dirty="0"/>
              <a:t> “Foundry Lighting – </a:t>
            </a:r>
            <a:r>
              <a:rPr lang="en-US" dirty="0" err="1"/>
              <a:t>AntPool</a:t>
            </a:r>
            <a:r>
              <a:rPr lang="en-US" dirty="0"/>
              <a:t> LSP”</a:t>
            </a:r>
            <a:endParaRPr lang="en-US" i="1" dirty="0"/>
          </a:p>
          <a:p>
            <a:pPr marL="914400" lvl="1" indent="-457200">
              <a:buFont typeface="+mj-lt"/>
              <a:buAutoNum type="arabicPeriod"/>
            </a:pPr>
            <a:r>
              <a:rPr lang="en-US" dirty="0"/>
              <a:t>Original L2 security model obsolete</a:t>
            </a:r>
          </a:p>
        </p:txBody>
      </p:sp>
      <p:sp>
        <p:nvSpPr>
          <p:cNvPr id="5" name="Oval 4">
            <a:extLst>
              <a:ext uri="{FF2B5EF4-FFF2-40B4-BE49-F238E27FC236}">
                <a16:creationId xmlns:a16="http://schemas.microsoft.com/office/drawing/2014/main" id="{A1FE4B71-396D-B6BA-AF69-68FC8C72FF3F}"/>
              </a:ext>
            </a:extLst>
          </p:cNvPr>
          <p:cNvSpPr/>
          <p:nvPr/>
        </p:nvSpPr>
        <p:spPr>
          <a:xfrm>
            <a:off x="6233007" y="6334562"/>
            <a:ext cx="126040" cy="121677"/>
          </a:xfrm>
          <a:prstGeom prst="ellipse">
            <a:avLst/>
          </a:prstGeom>
          <a:solidFill>
            <a:srgbClr val="15608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4C3143B-A88A-B52B-14CE-7D64FCB5D02C}"/>
              </a:ext>
            </a:extLst>
          </p:cNvPr>
          <p:cNvSpPr/>
          <p:nvPr/>
        </p:nvSpPr>
        <p:spPr>
          <a:xfrm>
            <a:off x="1854985" y="-2361473"/>
            <a:ext cx="8882083" cy="8374195"/>
          </a:xfrm>
          <a:prstGeom prst="ellipse">
            <a:avLst/>
          </a:prstGeom>
          <a:solidFill>
            <a:srgbClr val="15608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F31AFB3-769B-903D-C3AC-FCD31B3243EB}"/>
              </a:ext>
            </a:extLst>
          </p:cNvPr>
          <p:cNvSpPr txBox="1"/>
          <p:nvPr/>
        </p:nvSpPr>
        <p:spPr>
          <a:xfrm>
            <a:off x="6344368" y="6248657"/>
            <a:ext cx="1451039" cy="369332"/>
          </a:xfrm>
          <a:prstGeom prst="rect">
            <a:avLst/>
          </a:prstGeom>
          <a:noFill/>
        </p:spPr>
        <p:txBody>
          <a:bodyPr wrap="none" rtlCol="0">
            <a:spAutoFit/>
          </a:bodyPr>
          <a:lstStyle/>
          <a:p>
            <a:pPr algn="ctr"/>
            <a:r>
              <a:rPr lang="en-US" dirty="0">
                <a:latin typeface="Consolas" panose="020B0609020204030204" pitchFamily="49" charset="0"/>
              </a:rPr>
              <a:t>L1 Revenue</a:t>
            </a:r>
          </a:p>
        </p:txBody>
      </p:sp>
      <p:sp>
        <p:nvSpPr>
          <p:cNvPr id="8" name="TextBox 7">
            <a:extLst>
              <a:ext uri="{FF2B5EF4-FFF2-40B4-BE49-F238E27FC236}">
                <a16:creationId xmlns:a16="http://schemas.microsoft.com/office/drawing/2014/main" id="{35E80098-A01A-C7F5-E74D-D29CF2456D49}"/>
              </a:ext>
            </a:extLst>
          </p:cNvPr>
          <p:cNvSpPr txBox="1"/>
          <p:nvPr/>
        </p:nvSpPr>
        <p:spPr>
          <a:xfrm>
            <a:off x="8497018" y="5296157"/>
            <a:ext cx="1451039" cy="369332"/>
          </a:xfrm>
          <a:prstGeom prst="rect">
            <a:avLst/>
          </a:prstGeom>
          <a:noFill/>
        </p:spPr>
        <p:txBody>
          <a:bodyPr wrap="none" rtlCol="0">
            <a:spAutoFit/>
          </a:bodyPr>
          <a:lstStyle/>
          <a:p>
            <a:pPr algn="ctr"/>
            <a:r>
              <a:rPr lang="en-US" dirty="0">
                <a:latin typeface="Consolas" panose="020B0609020204030204" pitchFamily="49" charset="0"/>
              </a:rPr>
              <a:t>L2 Revenue</a:t>
            </a:r>
          </a:p>
        </p:txBody>
      </p:sp>
    </p:spTree>
    <p:extLst>
      <p:ext uri="{BB962C8B-B14F-4D97-AF65-F5344CB8AC3E}">
        <p14:creationId xmlns:p14="http://schemas.microsoft.com/office/powerpoint/2010/main" val="76324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64F9BF-D22A-5D47-97AD-17FB313F5CCB}"/>
              </a:ext>
            </a:extLst>
          </p:cNvPr>
          <p:cNvSpPr>
            <a:spLocks noGrp="1"/>
          </p:cNvSpPr>
          <p:nvPr>
            <p:ph idx="1"/>
          </p:nvPr>
        </p:nvSpPr>
        <p:spPr>
          <a:xfrm>
            <a:off x="302380" y="383772"/>
            <a:ext cx="9079745" cy="624676"/>
          </a:xfrm>
          <a:solidFill>
            <a:schemeClr val="bg1">
              <a:lumMod val="95000"/>
            </a:schemeClr>
          </a:solidFill>
          <a:ln>
            <a:solidFill>
              <a:schemeClr val="tx1"/>
            </a:solidFill>
          </a:ln>
        </p:spPr>
        <p:txBody>
          <a:bodyPr>
            <a:normAutofit/>
          </a:bodyPr>
          <a:lstStyle/>
          <a:p>
            <a:pPr marL="0" indent="0">
              <a:buNone/>
            </a:pPr>
            <a:r>
              <a:rPr lang="en-US" sz="3600" dirty="0"/>
              <a:t>Every L2 is vulnerable to 51% attack by miners</a:t>
            </a:r>
          </a:p>
        </p:txBody>
      </p:sp>
      <p:pic>
        <p:nvPicPr>
          <p:cNvPr id="5" name="Picture 4">
            <a:extLst>
              <a:ext uri="{FF2B5EF4-FFF2-40B4-BE49-F238E27FC236}">
                <a16:creationId xmlns:a16="http://schemas.microsoft.com/office/drawing/2014/main" id="{A70AF787-4BFB-E4B8-AE39-61CF30E34FD3}"/>
              </a:ext>
            </a:extLst>
          </p:cNvPr>
          <p:cNvPicPr>
            <a:picLocks noChangeAspect="1"/>
          </p:cNvPicPr>
          <p:nvPr/>
        </p:nvPicPr>
        <p:blipFill>
          <a:blip r:embed="rId2"/>
          <a:stretch>
            <a:fillRect/>
          </a:stretch>
        </p:blipFill>
        <p:spPr>
          <a:xfrm>
            <a:off x="2067906" y="1266425"/>
            <a:ext cx="7484904" cy="1762924"/>
          </a:xfrm>
          <a:prstGeom prst="rect">
            <a:avLst/>
          </a:prstGeom>
          <a:ln>
            <a:solidFill>
              <a:schemeClr val="tx1"/>
            </a:solidFill>
          </a:ln>
        </p:spPr>
      </p:pic>
      <p:pic>
        <p:nvPicPr>
          <p:cNvPr id="7" name="Picture 6">
            <a:extLst>
              <a:ext uri="{FF2B5EF4-FFF2-40B4-BE49-F238E27FC236}">
                <a16:creationId xmlns:a16="http://schemas.microsoft.com/office/drawing/2014/main" id="{545D632F-5A69-E13A-05FF-FD7AB10C4674}"/>
              </a:ext>
            </a:extLst>
          </p:cNvPr>
          <p:cNvPicPr>
            <a:picLocks noChangeAspect="1"/>
          </p:cNvPicPr>
          <p:nvPr/>
        </p:nvPicPr>
        <p:blipFill>
          <a:blip r:embed="rId3"/>
          <a:stretch>
            <a:fillRect/>
          </a:stretch>
        </p:blipFill>
        <p:spPr>
          <a:xfrm>
            <a:off x="2053326" y="3259539"/>
            <a:ext cx="7499484" cy="3477414"/>
          </a:xfrm>
          <a:prstGeom prst="rect">
            <a:avLst/>
          </a:prstGeom>
          <a:ln>
            <a:solidFill>
              <a:schemeClr val="tx1"/>
            </a:solidFill>
          </a:ln>
        </p:spPr>
      </p:pic>
      <p:sp>
        <p:nvSpPr>
          <p:cNvPr id="8" name="Content Placeholder 2">
            <a:extLst>
              <a:ext uri="{FF2B5EF4-FFF2-40B4-BE49-F238E27FC236}">
                <a16:creationId xmlns:a16="http://schemas.microsoft.com/office/drawing/2014/main" id="{3FAC9B16-FD0A-E686-13E8-4EA2F7322796}"/>
              </a:ext>
            </a:extLst>
          </p:cNvPr>
          <p:cNvSpPr txBox="1">
            <a:spLocks/>
          </p:cNvSpPr>
          <p:nvPr/>
        </p:nvSpPr>
        <p:spPr>
          <a:xfrm>
            <a:off x="9903580" y="2547538"/>
            <a:ext cx="1840745" cy="1762924"/>
          </a:xfrm>
          <a:prstGeom prst="rect">
            <a:avLst/>
          </a:prstGeom>
          <a:solidFill>
            <a:schemeClr val="bg1">
              <a:lumMod val="95000"/>
            </a:schemeClr>
          </a:solidFill>
          <a:ln>
            <a:solidFill>
              <a:schemeClr val="tx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onboard, offboard, and “justice” txns on L1 can all be censored</a:t>
            </a:r>
          </a:p>
        </p:txBody>
      </p:sp>
    </p:spTree>
    <p:extLst>
      <p:ext uri="{BB962C8B-B14F-4D97-AF65-F5344CB8AC3E}">
        <p14:creationId xmlns:p14="http://schemas.microsoft.com/office/powerpoint/2010/main" val="881916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C69A-E407-7268-A80F-7FEFAFF48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005DC-191D-265B-C9B8-7AFE81DEE729}"/>
              </a:ext>
            </a:extLst>
          </p:cNvPr>
          <p:cNvSpPr>
            <a:spLocks noGrp="1"/>
          </p:cNvSpPr>
          <p:nvPr>
            <p:ph type="title"/>
          </p:nvPr>
        </p:nvSpPr>
        <p:spPr>
          <a:xfrm>
            <a:off x="838200" y="365125"/>
            <a:ext cx="6067425" cy="1120775"/>
          </a:xfrm>
        </p:spPr>
        <p:txBody>
          <a:bodyPr>
            <a:normAutofit/>
          </a:bodyPr>
          <a:lstStyle/>
          <a:p>
            <a:r>
              <a:rPr lang="en-US" dirty="0"/>
              <a:t>Centralization Advantage</a:t>
            </a:r>
          </a:p>
        </p:txBody>
      </p:sp>
      <p:sp>
        <p:nvSpPr>
          <p:cNvPr id="3" name="Content Placeholder 2">
            <a:extLst>
              <a:ext uri="{FF2B5EF4-FFF2-40B4-BE49-F238E27FC236}">
                <a16:creationId xmlns:a16="http://schemas.microsoft.com/office/drawing/2014/main" id="{038F1CEA-50B7-6FDC-C2B5-5E0FC67B7C78}"/>
              </a:ext>
            </a:extLst>
          </p:cNvPr>
          <p:cNvSpPr>
            <a:spLocks noGrp="1"/>
          </p:cNvSpPr>
          <p:nvPr>
            <p:ph idx="1"/>
          </p:nvPr>
        </p:nvSpPr>
        <p:spPr/>
        <p:txBody>
          <a:bodyPr/>
          <a:lstStyle/>
          <a:p>
            <a:r>
              <a:rPr lang="en-US" dirty="0"/>
              <a:t>Lightning “LSP” backed by large hashrate</a:t>
            </a:r>
          </a:p>
          <a:p>
            <a:r>
              <a:rPr lang="en-US" dirty="0"/>
              <a:t>Other LSPs cannot compete</a:t>
            </a:r>
          </a:p>
          <a:p>
            <a:r>
              <a:rPr lang="en-US" dirty="0"/>
              <a:t>Eventually: all LSPs are backed by large pools</a:t>
            </a:r>
          </a:p>
        </p:txBody>
      </p:sp>
      <p:sp>
        <p:nvSpPr>
          <p:cNvPr id="5" name="Oval 4">
            <a:extLst>
              <a:ext uri="{FF2B5EF4-FFF2-40B4-BE49-F238E27FC236}">
                <a16:creationId xmlns:a16="http://schemas.microsoft.com/office/drawing/2014/main" id="{90F45228-44F4-18DF-7DD3-97937EF25BA3}"/>
              </a:ext>
            </a:extLst>
          </p:cNvPr>
          <p:cNvSpPr/>
          <p:nvPr/>
        </p:nvSpPr>
        <p:spPr>
          <a:xfrm>
            <a:off x="6233007" y="6334562"/>
            <a:ext cx="126040" cy="121677"/>
          </a:xfrm>
          <a:prstGeom prst="ellipse">
            <a:avLst/>
          </a:prstGeom>
          <a:solidFill>
            <a:srgbClr val="15608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68C11CB-B8AC-1F40-0F0F-8B5B56D60E22}"/>
              </a:ext>
            </a:extLst>
          </p:cNvPr>
          <p:cNvSpPr/>
          <p:nvPr/>
        </p:nvSpPr>
        <p:spPr>
          <a:xfrm>
            <a:off x="1854985" y="-2361473"/>
            <a:ext cx="8882083" cy="8374195"/>
          </a:xfrm>
          <a:prstGeom prst="ellipse">
            <a:avLst/>
          </a:prstGeom>
          <a:solidFill>
            <a:srgbClr val="156082">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D8829DA-C212-7689-9FF6-4CBE2D3BB1FD}"/>
              </a:ext>
            </a:extLst>
          </p:cNvPr>
          <p:cNvSpPr txBox="1"/>
          <p:nvPr/>
        </p:nvSpPr>
        <p:spPr>
          <a:xfrm>
            <a:off x="6344368" y="6248657"/>
            <a:ext cx="1451039" cy="369332"/>
          </a:xfrm>
          <a:prstGeom prst="rect">
            <a:avLst/>
          </a:prstGeom>
          <a:noFill/>
        </p:spPr>
        <p:txBody>
          <a:bodyPr wrap="none" rtlCol="0">
            <a:spAutoFit/>
          </a:bodyPr>
          <a:lstStyle/>
          <a:p>
            <a:pPr algn="ctr"/>
            <a:r>
              <a:rPr lang="en-US" dirty="0">
                <a:latin typeface="Consolas" panose="020B0609020204030204" pitchFamily="49" charset="0"/>
              </a:rPr>
              <a:t>L1 Revenue</a:t>
            </a:r>
          </a:p>
        </p:txBody>
      </p:sp>
      <p:sp>
        <p:nvSpPr>
          <p:cNvPr id="8" name="TextBox 7">
            <a:extLst>
              <a:ext uri="{FF2B5EF4-FFF2-40B4-BE49-F238E27FC236}">
                <a16:creationId xmlns:a16="http://schemas.microsoft.com/office/drawing/2014/main" id="{AE46377B-F193-BA95-0282-A8F0262F8363}"/>
              </a:ext>
            </a:extLst>
          </p:cNvPr>
          <p:cNvSpPr txBox="1"/>
          <p:nvPr/>
        </p:nvSpPr>
        <p:spPr>
          <a:xfrm>
            <a:off x="9001843" y="5153282"/>
            <a:ext cx="1451038" cy="646331"/>
          </a:xfrm>
          <a:prstGeom prst="rect">
            <a:avLst/>
          </a:prstGeom>
          <a:noFill/>
        </p:spPr>
        <p:txBody>
          <a:bodyPr wrap="none" rtlCol="0">
            <a:spAutoFit/>
          </a:bodyPr>
          <a:lstStyle/>
          <a:p>
            <a:pPr algn="ctr"/>
            <a:r>
              <a:rPr lang="en-US" dirty="0">
                <a:latin typeface="Consolas" panose="020B0609020204030204" pitchFamily="49" charset="0"/>
              </a:rPr>
              <a:t>L2 Revenue</a:t>
            </a:r>
            <a:br>
              <a:rPr lang="en-US" dirty="0">
                <a:latin typeface="Consolas" panose="020B0609020204030204" pitchFamily="49" charset="0"/>
              </a:rPr>
            </a:br>
            <a:r>
              <a:rPr lang="en-US" dirty="0">
                <a:latin typeface="Consolas" panose="020B0609020204030204" pitchFamily="49" charset="0"/>
              </a:rPr>
              <a:t>(Now MEV)</a:t>
            </a:r>
          </a:p>
        </p:txBody>
      </p:sp>
    </p:spTree>
    <p:extLst>
      <p:ext uri="{BB962C8B-B14F-4D97-AF65-F5344CB8AC3E}">
        <p14:creationId xmlns:p14="http://schemas.microsoft.com/office/powerpoint/2010/main" val="1781736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B8F6B-3E5F-DFC5-1818-5B35875BC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D79D1-0035-4E61-FD1E-170DC6B630B7}"/>
              </a:ext>
            </a:extLst>
          </p:cNvPr>
          <p:cNvSpPr>
            <a:spLocks noGrp="1"/>
          </p:cNvSpPr>
          <p:nvPr>
            <p:ph type="title"/>
          </p:nvPr>
        </p:nvSpPr>
        <p:spPr>
          <a:xfrm>
            <a:off x="683107" y="227635"/>
            <a:ext cx="4748836" cy="1645450"/>
          </a:xfrm>
        </p:spPr>
        <p:txBody>
          <a:bodyPr>
            <a:normAutofit fontScale="90000"/>
          </a:bodyPr>
          <a:lstStyle/>
          <a:p>
            <a:r>
              <a:rPr lang="en-US" dirty="0"/>
              <a:t>Non-Mined L2s</a:t>
            </a:r>
            <a:br>
              <a:rPr lang="en-US" dirty="0"/>
            </a:br>
            <a:r>
              <a:rPr lang="en-US" dirty="0"/>
              <a:t>vs</a:t>
            </a:r>
            <a:br>
              <a:rPr lang="en-US" dirty="0"/>
            </a:br>
            <a:r>
              <a:rPr lang="en-US" dirty="0"/>
              <a:t>Mined L2s</a:t>
            </a:r>
          </a:p>
        </p:txBody>
      </p:sp>
      <p:sp>
        <p:nvSpPr>
          <p:cNvPr id="7" name="TextBox 6">
            <a:extLst>
              <a:ext uri="{FF2B5EF4-FFF2-40B4-BE49-F238E27FC236}">
                <a16:creationId xmlns:a16="http://schemas.microsoft.com/office/drawing/2014/main" id="{8441C1DD-0177-2BF0-AEC1-3F6B78A95E52}"/>
              </a:ext>
            </a:extLst>
          </p:cNvPr>
          <p:cNvSpPr txBox="1"/>
          <p:nvPr/>
        </p:nvSpPr>
        <p:spPr>
          <a:xfrm>
            <a:off x="9373442" y="5543419"/>
            <a:ext cx="1704313" cy="646331"/>
          </a:xfrm>
          <a:prstGeom prst="rect">
            <a:avLst/>
          </a:prstGeom>
          <a:noFill/>
        </p:spPr>
        <p:txBody>
          <a:bodyPr wrap="none" rtlCol="0">
            <a:spAutoFit/>
          </a:bodyPr>
          <a:lstStyle/>
          <a:p>
            <a:pPr algn="ctr"/>
            <a:r>
              <a:rPr lang="en-US" dirty="0">
                <a:latin typeface="Consolas" panose="020B0609020204030204" pitchFamily="49" charset="0"/>
              </a:rPr>
              <a:t>$640 billion</a:t>
            </a:r>
            <a:br>
              <a:rPr lang="en-US" dirty="0">
                <a:latin typeface="Consolas" panose="020B0609020204030204" pitchFamily="49" charset="0"/>
              </a:rPr>
            </a:br>
            <a:endParaRPr lang="en-US" dirty="0">
              <a:latin typeface="Consolas" panose="020B0609020204030204" pitchFamily="49" charset="0"/>
            </a:endParaRPr>
          </a:p>
        </p:txBody>
      </p:sp>
      <p:sp>
        <p:nvSpPr>
          <p:cNvPr id="14" name="Oval 13">
            <a:extLst>
              <a:ext uri="{FF2B5EF4-FFF2-40B4-BE49-F238E27FC236}">
                <a16:creationId xmlns:a16="http://schemas.microsoft.com/office/drawing/2014/main" id="{54F3058B-DB4A-61A9-5920-CC23B6CD5EB4}"/>
              </a:ext>
            </a:extLst>
          </p:cNvPr>
          <p:cNvSpPr/>
          <p:nvPr/>
        </p:nvSpPr>
        <p:spPr>
          <a:xfrm>
            <a:off x="5587036" y="-2989157"/>
            <a:ext cx="8882083" cy="8374195"/>
          </a:xfrm>
          <a:prstGeom prst="ellipse">
            <a:avLst/>
          </a:prstGeom>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8AD2DDF-84A9-6891-D878-60751FFE24D0}"/>
              </a:ext>
            </a:extLst>
          </p:cNvPr>
          <p:cNvSpPr txBox="1"/>
          <p:nvPr/>
        </p:nvSpPr>
        <p:spPr>
          <a:xfrm>
            <a:off x="1945759" y="6449576"/>
            <a:ext cx="9429184" cy="369332"/>
          </a:xfrm>
          <a:prstGeom prst="rect">
            <a:avLst/>
          </a:prstGeom>
          <a:noFill/>
        </p:spPr>
        <p:txBody>
          <a:bodyPr wrap="none" rtlCol="0">
            <a:spAutoFit/>
          </a:bodyPr>
          <a:lstStyle/>
          <a:p>
            <a:pPr algn="ctr"/>
            <a:r>
              <a:rPr lang="en-US" dirty="0">
                <a:solidFill>
                  <a:schemeClr val="bg1"/>
                </a:solidFill>
                <a:latin typeface="Consolas" panose="020B0609020204030204" pitchFamily="49" charset="0"/>
              </a:rPr>
              <a:t>12345678901234567890123456789012345678901234567890123456789012345678901</a:t>
            </a:r>
          </a:p>
        </p:txBody>
      </p:sp>
      <p:pic>
        <p:nvPicPr>
          <p:cNvPr id="8" name="Picture 7">
            <a:extLst>
              <a:ext uri="{FF2B5EF4-FFF2-40B4-BE49-F238E27FC236}">
                <a16:creationId xmlns:a16="http://schemas.microsoft.com/office/drawing/2014/main" id="{391B3290-A381-3B5E-60AB-9428D497D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758" y="5065151"/>
            <a:ext cx="1704313" cy="1704313"/>
          </a:xfrm>
          <a:prstGeom prst="rect">
            <a:avLst/>
          </a:prstGeom>
          <a:ln>
            <a:solidFill>
              <a:schemeClr val="tx1"/>
            </a:solidFill>
          </a:ln>
        </p:spPr>
      </p:pic>
      <p:pic>
        <p:nvPicPr>
          <p:cNvPr id="9" name="Picture 8">
            <a:extLst>
              <a:ext uri="{FF2B5EF4-FFF2-40B4-BE49-F238E27FC236}">
                <a16:creationId xmlns:a16="http://schemas.microsoft.com/office/drawing/2014/main" id="{7784DB68-E124-76B9-2C56-3C2943A040B1}"/>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245885" y="2642540"/>
            <a:ext cx="1817000" cy="1817000"/>
          </a:xfrm>
          <a:prstGeom prst="rect">
            <a:avLst/>
          </a:prstGeom>
          <a:ln w="76200">
            <a:solidFill>
              <a:srgbClr val="00B050"/>
            </a:solidFill>
          </a:ln>
        </p:spPr>
      </p:pic>
      <p:pic>
        <p:nvPicPr>
          <p:cNvPr id="21" name="Picture 20">
            <a:extLst>
              <a:ext uri="{FF2B5EF4-FFF2-40B4-BE49-F238E27FC236}">
                <a16:creationId xmlns:a16="http://schemas.microsoft.com/office/drawing/2014/main" id="{154150B1-1B20-BAC5-5F27-72C50A69B3EA}"/>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1007267" y="2642539"/>
            <a:ext cx="1790648" cy="1790648"/>
          </a:xfrm>
          <a:prstGeom prst="rect">
            <a:avLst/>
          </a:prstGeom>
          <a:ln w="76200">
            <a:noFill/>
          </a:ln>
        </p:spPr>
      </p:pic>
      <p:cxnSp>
        <p:nvCxnSpPr>
          <p:cNvPr id="23" name="Straight Arrow Connector 22">
            <a:extLst>
              <a:ext uri="{FF2B5EF4-FFF2-40B4-BE49-F238E27FC236}">
                <a16:creationId xmlns:a16="http://schemas.microsoft.com/office/drawing/2014/main" id="{725B7A08-A208-0FD0-CAD2-7741AC48678F}"/>
              </a:ext>
            </a:extLst>
          </p:cNvPr>
          <p:cNvCxnSpPr>
            <a:cxnSpLocks/>
          </p:cNvCxnSpPr>
          <p:nvPr/>
        </p:nvCxnSpPr>
        <p:spPr>
          <a:xfrm flipH="1">
            <a:off x="4270022" y="1208642"/>
            <a:ext cx="1006827" cy="1166706"/>
          </a:xfrm>
          <a:prstGeom prst="straightConnector1">
            <a:avLst/>
          </a:prstGeom>
          <a:ln w="76200">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7343EE3-288F-6D69-FFDE-B419A48F1ABF}"/>
              </a:ext>
            </a:extLst>
          </p:cNvPr>
          <p:cNvSpPr txBox="1"/>
          <p:nvPr/>
        </p:nvSpPr>
        <p:spPr>
          <a:xfrm>
            <a:off x="946028" y="4521301"/>
            <a:ext cx="1830950" cy="369332"/>
          </a:xfrm>
          <a:prstGeom prst="rect">
            <a:avLst/>
          </a:prstGeom>
          <a:noFill/>
        </p:spPr>
        <p:txBody>
          <a:bodyPr wrap="none" rtlCol="0">
            <a:spAutoFit/>
          </a:bodyPr>
          <a:lstStyle/>
          <a:p>
            <a:pPr algn="ctr"/>
            <a:r>
              <a:rPr lang="en-US" dirty="0">
                <a:latin typeface="Consolas" panose="020B0609020204030204" pitchFamily="49" charset="0"/>
              </a:rPr>
              <a:t>Non-Mined L2s</a:t>
            </a:r>
          </a:p>
        </p:txBody>
      </p:sp>
      <p:sp>
        <p:nvSpPr>
          <p:cNvPr id="25" name="TextBox 24">
            <a:extLst>
              <a:ext uri="{FF2B5EF4-FFF2-40B4-BE49-F238E27FC236}">
                <a16:creationId xmlns:a16="http://schemas.microsoft.com/office/drawing/2014/main" id="{9589E183-77FD-45D1-F27E-CCDC1D61E327}"/>
              </a:ext>
            </a:extLst>
          </p:cNvPr>
          <p:cNvSpPr txBox="1"/>
          <p:nvPr/>
        </p:nvSpPr>
        <p:spPr>
          <a:xfrm>
            <a:off x="3492185" y="4462258"/>
            <a:ext cx="1324402" cy="369332"/>
          </a:xfrm>
          <a:prstGeom prst="rect">
            <a:avLst/>
          </a:prstGeom>
          <a:noFill/>
        </p:spPr>
        <p:txBody>
          <a:bodyPr wrap="none" rtlCol="0">
            <a:spAutoFit/>
          </a:bodyPr>
          <a:lstStyle/>
          <a:p>
            <a:pPr algn="ctr"/>
            <a:r>
              <a:rPr lang="en-US" dirty="0">
                <a:latin typeface="Consolas" panose="020B0609020204030204" pitchFamily="49" charset="0"/>
              </a:rPr>
              <a:t>Mined L2s</a:t>
            </a:r>
          </a:p>
        </p:txBody>
      </p:sp>
      <p:sp>
        <p:nvSpPr>
          <p:cNvPr id="26" name="TextBox 25">
            <a:extLst>
              <a:ext uri="{FF2B5EF4-FFF2-40B4-BE49-F238E27FC236}">
                <a16:creationId xmlns:a16="http://schemas.microsoft.com/office/drawing/2014/main" id="{D9CBA75D-E4A4-AD20-3409-CD48F3F833F2}"/>
              </a:ext>
            </a:extLst>
          </p:cNvPr>
          <p:cNvSpPr txBox="1"/>
          <p:nvPr/>
        </p:nvSpPr>
        <p:spPr>
          <a:xfrm>
            <a:off x="1304849" y="5681918"/>
            <a:ext cx="437941" cy="369332"/>
          </a:xfrm>
          <a:prstGeom prst="rect">
            <a:avLst/>
          </a:prstGeom>
          <a:noFill/>
        </p:spPr>
        <p:txBody>
          <a:bodyPr wrap="none" rtlCol="0">
            <a:spAutoFit/>
          </a:bodyPr>
          <a:lstStyle/>
          <a:p>
            <a:pPr algn="ctr"/>
            <a:r>
              <a:rPr lang="en-US" dirty="0">
                <a:latin typeface="Consolas" panose="020B0609020204030204" pitchFamily="49" charset="0"/>
              </a:rPr>
              <a:t>L1</a:t>
            </a:r>
          </a:p>
        </p:txBody>
      </p:sp>
      <p:cxnSp>
        <p:nvCxnSpPr>
          <p:cNvPr id="28" name="Straight Connector 27">
            <a:extLst>
              <a:ext uri="{FF2B5EF4-FFF2-40B4-BE49-F238E27FC236}">
                <a16:creationId xmlns:a16="http://schemas.microsoft.com/office/drawing/2014/main" id="{A55D2756-B8CA-92B6-7A2A-3A165D6873AC}"/>
              </a:ext>
            </a:extLst>
          </p:cNvPr>
          <p:cNvCxnSpPr>
            <a:cxnSpLocks/>
            <a:stCxn id="24" idx="0"/>
            <a:endCxn id="8" idx="0"/>
          </p:cNvCxnSpPr>
          <p:nvPr/>
        </p:nvCxnSpPr>
        <p:spPr>
          <a:xfrm>
            <a:off x="1861503" y="4521301"/>
            <a:ext cx="936412" cy="54385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0CD718C-251E-C39F-33AE-0ABACD012CF6}"/>
              </a:ext>
            </a:extLst>
          </p:cNvPr>
          <p:cNvCxnSpPr>
            <a:cxnSpLocks/>
            <a:stCxn id="9" idx="2"/>
            <a:endCxn id="8" idx="0"/>
          </p:cNvCxnSpPr>
          <p:nvPr/>
        </p:nvCxnSpPr>
        <p:spPr>
          <a:xfrm flipH="1">
            <a:off x="2797915" y="4459540"/>
            <a:ext cx="1356470" cy="605611"/>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24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433D21-79A8-565E-B162-9F8E6E783B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975" y="705421"/>
            <a:ext cx="11416050" cy="5637658"/>
          </a:xfrm>
        </p:spPr>
      </p:pic>
      <p:sp>
        <p:nvSpPr>
          <p:cNvPr id="6" name="Rectangle: Rounded Corners 5">
            <a:extLst>
              <a:ext uri="{FF2B5EF4-FFF2-40B4-BE49-F238E27FC236}">
                <a16:creationId xmlns:a16="http://schemas.microsoft.com/office/drawing/2014/main" id="{4B3BB58D-5928-C95C-5C9C-62B160C4DE24}"/>
              </a:ext>
            </a:extLst>
          </p:cNvPr>
          <p:cNvSpPr/>
          <p:nvPr/>
        </p:nvSpPr>
        <p:spPr>
          <a:xfrm>
            <a:off x="7267575" y="1819274"/>
            <a:ext cx="4743450" cy="4714875"/>
          </a:xfrm>
          <a:prstGeom prst="roundRect">
            <a:avLst/>
          </a:prstGeom>
          <a:no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13C3569-9E95-1285-4408-229DEF1871BD}"/>
              </a:ext>
            </a:extLst>
          </p:cNvPr>
          <p:cNvPicPr>
            <a:picLocks noChangeAspect="1"/>
          </p:cNvPicPr>
          <p:nvPr/>
        </p:nvPicPr>
        <p:blipFill>
          <a:blip r:embed="rId3"/>
          <a:stretch>
            <a:fillRect/>
          </a:stretch>
        </p:blipFill>
        <p:spPr>
          <a:xfrm>
            <a:off x="4867255" y="323851"/>
            <a:ext cx="5314989" cy="1300172"/>
          </a:xfrm>
          <a:prstGeom prst="rect">
            <a:avLst/>
          </a:prstGeom>
          <a:ln w="76200">
            <a:solidFill>
              <a:schemeClr val="tx1"/>
            </a:solidFill>
          </a:ln>
        </p:spPr>
      </p:pic>
      <p:sp>
        <p:nvSpPr>
          <p:cNvPr id="9" name="Title 1">
            <a:extLst>
              <a:ext uri="{FF2B5EF4-FFF2-40B4-BE49-F238E27FC236}">
                <a16:creationId xmlns:a16="http://schemas.microsoft.com/office/drawing/2014/main" id="{E2F6C8A0-9820-1C94-BC0F-023A81D146FD}"/>
              </a:ext>
            </a:extLst>
          </p:cNvPr>
          <p:cNvSpPr>
            <a:spLocks noGrp="1"/>
          </p:cNvSpPr>
          <p:nvPr>
            <p:ph type="title"/>
          </p:nvPr>
        </p:nvSpPr>
        <p:spPr>
          <a:xfrm>
            <a:off x="664057" y="345742"/>
            <a:ext cx="3279293" cy="1182065"/>
          </a:xfrm>
          <a:solidFill>
            <a:schemeClr val="bg1">
              <a:lumMod val="95000"/>
            </a:schemeClr>
          </a:solidFill>
          <a:ln>
            <a:solidFill>
              <a:schemeClr val="tx1"/>
            </a:solidFill>
          </a:ln>
        </p:spPr>
        <p:txBody>
          <a:bodyPr>
            <a:normAutofit fontScale="90000"/>
          </a:bodyPr>
          <a:lstStyle/>
          <a:p>
            <a:r>
              <a:rPr lang="en-US" dirty="0">
                <a:solidFill>
                  <a:sysClr val="windowText" lastClr="000000"/>
                </a:solidFill>
              </a:rPr>
              <a:t>My Proposal </a:t>
            </a:r>
            <a:br>
              <a:rPr lang="en-US" dirty="0">
                <a:solidFill>
                  <a:sysClr val="windowText" lastClr="000000"/>
                </a:solidFill>
              </a:rPr>
            </a:br>
            <a:r>
              <a:rPr lang="en-US" dirty="0">
                <a:solidFill>
                  <a:sysClr val="windowText" lastClr="000000"/>
                </a:solidFill>
              </a:rPr>
              <a:t>13-13</a:t>
            </a:r>
          </a:p>
        </p:txBody>
      </p:sp>
    </p:spTree>
    <p:extLst>
      <p:ext uri="{BB962C8B-B14F-4D97-AF65-F5344CB8AC3E}">
        <p14:creationId xmlns:p14="http://schemas.microsoft.com/office/powerpoint/2010/main" val="2183666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FABAE4C-CE7D-B976-DBEA-B7E286FF5D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563" y="1879603"/>
            <a:ext cx="11614871" cy="4781779"/>
          </a:xfrm>
          <a:ln>
            <a:solidFill>
              <a:schemeClr val="tx1"/>
            </a:solidFill>
          </a:ln>
        </p:spPr>
      </p:pic>
      <p:pic>
        <p:nvPicPr>
          <p:cNvPr id="5" name="Picture 4">
            <a:extLst>
              <a:ext uri="{FF2B5EF4-FFF2-40B4-BE49-F238E27FC236}">
                <a16:creationId xmlns:a16="http://schemas.microsoft.com/office/drawing/2014/main" id="{725E900B-58AF-C165-4152-ABB0E124584D}"/>
              </a:ext>
            </a:extLst>
          </p:cNvPr>
          <p:cNvPicPr>
            <a:picLocks noChangeAspect="1"/>
          </p:cNvPicPr>
          <p:nvPr/>
        </p:nvPicPr>
        <p:blipFill>
          <a:blip r:embed="rId3"/>
          <a:stretch>
            <a:fillRect/>
          </a:stretch>
        </p:blipFill>
        <p:spPr>
          <a:xfrm>
            <a:off x="3049433" y="223831"/>
            <a:ext cx="6093132" cy="1514478"/>
          </a:xfrm>
          <a:prstGeom prst="rect">
            <a:avLst/>
          </a:prstGeom>
          <a:ln>
            <a:solidFill>
              <a:schemeClr val="tx1"/>
            </a:solidFill>
          </a:ln>
        </p:spPr>
      </p:pic>
    </p:spTree>
    <p:extLst>
      <p:ext uri="{BB962C8B-B14F-4D97-AF65-F5344CB8AC3E}">
        <p14:creationId xmlns:p14="http://schemas.microsoft.com/office/powerpoint/2010/main" val="2314592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4132-C5C4-053E-0052-53E4B890314B}"/>
              </a:ext>
            </a:extLst>
          </p:cNvPr>
          <p:cNvSpPr>
            <a:spLocks noGrp="1"/>
          </p:cNvSpPr>
          <p:nvPr>
            <p:ph type="title"/>
          </p:nvPr>
        </p:nvSpPr>
        <p:spPr/>
        <p:txBody>
          <a:bodyPr/>
          <a:lstStyle/>
          <a:p>
            <a:r>
              <a:rPr lang="en-US" dirty="0"/>
              <a:t>Advantages</a:t>
            </a:r>
          </a:p>
        </p:txBody>
      </p:sp>
      <p:pic>
        <p:nvPicPr>
          <p:cNvPr id="7" name="Content Placeholder 6">
            <a:extLst>
              <a:ext uri="{FF2B5EF4-FFF2-40B4-BE49-F238E27FC236}">
                <a16:creationId xmlns:a16="http://schemas.microsoft.com/office/drawing/2014/main" id="{8B7EF137-4AD5-4FAA-0828-959C1CFDED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524" y="13835"/>
            <a:ext cx="9801225" cy="6844165"/>
          </a:xfrm>
        </p:spPr>
      </p:pic>
    </p:spTree>
    <p:extLst>
      <p:ext uri="{BB962C8B-B14F-4D97-AF65-F5344CB8AC3E}">
        <p14:creationId xmlns:p14="http://schemas.microsoft.com/office/powerpoint/2010/main" val="857857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336D0-0EB8-50A6-1473-B209ACE1D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3E545-62F1-3581-418E-BA9A58CCD6F9}"/>
              </a:ext>
            </a:extLst>
          </p:cNvPr>
          <p:cNvSpPr>
            <a:spLocks noGrp="1"/>
          </p:cNvSpPr>
          <p:nvPr>
            <p:ph type="title"/>
          </p:nvPr>
        </p:nvSpPr>
        <p:spPr/>
        <p:txBody>
          <a:bodyPr/>
          <a:lstStyle/>
          <a:p>
            <a:r>
              <a:rPr lang="en-US" dirty="0"/>
              <a:t>Advantages</a:t>
            </a:r>
          </a:p>
        </p:txBody>
      </p:sp>
      <p:pic>
        <p:nvPicPr>
          <p:cNvPr id="7" name="Content Placeholder 6">
            <a:extLst>
              <a:ext uri="{FF2B5EF4-FFF2-40B4-BE49-F238E27FC236}">
                <a16:creationId xmlns:a16="http://schemas.microsoft.com/office/drawing/2014/main" id="{103D5DAF-329C-B9E9-6ECC-467F8EEF34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524" y="13835"/>
            <a:ext cx="9801225" cy="6844165"/>
          </a:xfrm>
        </p:spPr>
      </p:pic>
      <p:sp>
        <p:nvSpPr>
          <p:cNvPr id="3" name="Rectangle: Rounded Corners 2">
            <a:extLst>
              <a:ext uri="{FF2B5EF4-FFF2-40B4-BE49-F238E27FC236}">
                <a16:creationId xmlns:a16="http://schemas.microsoft.com/office/drawing/2014/main" id="{F7A9BE70-44C8-31B9-0CC9-696F63348CFA}"/>
              </a:ext>
            </a:extLst>
          </p:cNvPr>
          <p:cNvSpPr/>
          <p:nvPr/>
        </p:nvSpPr>
        <p:spPr>
          <a:xfrm>
            <a:off x="523875" y="6172200"/>
            <a:ext cx="10515600" cy="657225"/>
          </a:xfrm>
          <a:prstGeom prst="roundRect">
            <a:avLst>
              <a:gd name="adj" fmla="val 50000"/>
            </a:avLst>
          </a:prstGeom>
          <a:noFill/>
          <a:ln w="762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C1B5EEF5-4DD0-7016-C344-B7B123AFFE6A}"/>
              </a:ext>
            </a:extLst>
          </p:cNvPr>
          <p:cNvSpPr/>
          <p:nvPr/>
        </p:nvSpPr>
        <p:spPr>
          <a:xfrm>
            <a:off x="409575" y="6019800"/>
            <a:ext cx="10782300" cy="962025"/>
          </a:xfrm>
          <a:prstGeom prst="roundRect">
            <a:avLst>
              <a:gd name="adj" fmla="val 50000"/>
            </a:avLst>
          </a:prstGeom>
          <a:noFill/>
          <a:ln w="762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5278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E585B-A96C-9AB9-D1A9-9B0A70984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EAA42-3671-2432-8135-0764C1E5500C}"/>
              </a:ext>
            </a:extLst>
          </p:cNvPr>
          <p:cNvSpPr>
            <a:spLocks noGrp="1"/>
          </p:cNvSpPr>
          <p:nvPr>
            <p:ph type="title"/>
          </p:nvPr>
        </p:nvSpPr>
        <p:spPr/>
        <p:txBody>
          <a:bodyPr/>
          <a:lstStyle/>
          <a:p>
            <a:r>
              <a:rPr lang="en-US" dirty="0"/>
              <a:t>Advantages</a:t>
            </a:r>
          </a:p>
        </p:txBody>
      </p:sp>
      <p:pic>
        <p:nvPicPr>
          <p:cNvPr id="7" name="Content Placeholder 6">
            <a:extLst>
              <a:ext uri="{FF2B5EF4-FFF2-40B4-BE49-F238E27FC236}">
                <a16:creationId xmlns:a16="http://schemas.microsoft.com/office/drawing/2014/main" id="{C5C6BED9-F348-4026-10BB-F477ED12F8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524" y="13835"/>
            <a:ext cx="9801225" cy="6844165"/>
          </a:xfrm>
        </p:spPr>
      </p:pic>
      <p:sp>
        <p:nvSpPr>
          <p:cNvPr id="8" name="Rectangle 7">
            <a:extLst>
              <a:ext uri="{FF2B5EF4-FFF2-40B4-BE49-F238E27FC236}">
                <a16:creationId xmlns:a16="http://schemas.microsoft.com/office/drawing/2014/main" id="{B7345788-830C-B6FA-A567-037D395EFBCD}"/>
              </a:ext>
            </a:extLst>
          </p:cNvPr>
          <p:cNvSpPr/>
          <p:nvPr/>
        </p:nvSpPr>
        <p:spPr>
          <a:xfrm>
            <a:off x="7583671" y="2541015"/>
            <a:ext cx="3268991" cy="8949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 Fast Cashouts from Pools to Hashers</a:t>
            </a:r>
            <a:endParaRPr lang="en-US" sz="2400" dirty="0"/>
          </a:p>
        </p:txBody>
      </p:sp>
      <p:sp>
        <p:nvSpPr>
          <p:cNvPr id="9" name="Rectangle 8">
            <a:extLst>
              <a:ext uri="{FF2B5EF4-FFF2-40B4-BE49-F238E27FC236}">
                <a16:creationId xmlns:a16="http://schemas.microsoft.com/office/drawing/2014/main" id="{650956CA-9BD5-49D8-5431-5315881D653C}"/>
              </a:ext>
            </a:extLst>
          </p:cNvPr>
          <p:cNvSpPr/>
          <p:nvPr/>
        </p:nvSpPr>
        <p:spPr>
          <a:xfrm>
            <a:off x="7583671" y="4686300"/>
            <a:ext cx="3268991" cy="1216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 Does not require changes to Bitcoin Core</a:t>
            </a:r>
            <a:br>
              <a:rPr lang="en-US" sz="2400" b="1" dirty="0"/>
            </a:br>
            <a:r>
              <a:rPr lang="en-US" sz="2400" b="1" dirty="0"/>
              <a:t>(but does require CUSF)</a:t>
            </a:r>
            <a:endParaRPr lang="en-US" sz="2400" dirty="0"/>
          </a:p>
        </p:txBody>
      </p:sp>
    </p:spTree>
    <p:extLst>
      <p:ext uri="{BB962C8B-B14F-4D97-AF65-F5344CB8AC3E}">
        <p14:creationId xmlns:p14="http://schemas.microsoft.com/office/powerpoint/2010/main" val="2897323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8FE61-458B-E013-0FA1-577F4CA569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9AFB65-C7AB-CA2E-3CF6-99BAEFC3050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9BFA13D-619A-8745-7223-4AE7B808EECD}"/>
              </a:ext>
            </a:extLst>
          </p:cNvPr>
          <p:cNvPicPr>
            <a:picLocks noChangeAspect="1"/>
          </p:cNvPicPr>
          <p:nvPr/>
        </p:nvPicPr>
        <p:blipFill>
          <a:blip r:embed="rId2"/>
          <a:stretch>
            <a:fillRect/>
          </a:stretch>
        </p:blipFill>
        <p:spPr>
          <a:xfrm>
            <a:off x="1255089" y="95250"/>
            <a:ext cx="9986621" cy="6858000"/>
          </a:xfrm>
          <a:prstGeom prst="rect">
            <a:avLst/>
          </a:prstGeom>
        </p:spPr>
      </p:pic>
    </p:spTree>
    <p:extLst>
      <p:ext uri="{BB962C8B-B14F-4D97-AF65-F5344CB8AC3E}">
        <p14:creationId xmlns:p14="http://schemas.microsoft.com/office/powerpoint/2010/main" val="1224215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740D-E793-BD7C-7090-11B27CD5A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79280-DE60-5890-6EC6-3FF3526E1555}"/>
              </a:ext>
            </a:extLst>
          </p:cNvPr>
          <p:cNvSpPr>
            <a:spLocks noGrp="1"/>
          </p:cNvSpPr>
          <p:nvPr>
            <p:ph type="title"/>
          </p:nvPr>
        </p:nvSpPr>
        <p:spPr>
          <a:xfrm>
            <a:off x="838200" y="495467"/>
            <a:ext cx="10515600" cy="5185443"/>
          </a:xfrm>
        </p:spPr>
        <p:txBody>
          <a:bodyPr>
            <a:normAutofit/>
          </a:bodyPr>
          <a:lstStyle/>
          <a:p>
            <a:pPr algn="ctr"/>
            <a:r>
              <a:rPr lang="en-US" sz="11500" dirty="0"/>
              <a:t>CUSF</a:t>
            </a:r>
            <a:br>
              <a:rPr lang="en-US" sz="11500" dirty="0"/>
            </a:br>
            <a:r>
              <a:rPr lang="en-US" sz="4000" dirty="0">
                <a:solidFill>
                  <a:schemeClr val="bg1">
                    <a:lumMod val="65000"/>
                  </a:schemeClr>
                </a:solidFill>
              </a:rPr>
              <a:t>Core Untouched Soft Fork</a:t>
            </a:r>
            <a:br>
              <a:rPr lang="en-US" sz="4000" dirty="0">
                <a:solidFill>
                  <a:schemeClr val="bg1">
                    <a:lumMod val="65000"/>
                  </a:schemeClr>
                </a:solidFill>
              </a:rPr>
            </a:br>
            <a:r>
              <a:rPr lang="en-US" sz="4000" dirty="0">
                <a:solidFill>
                  <a:schemeClr val="bg1">
                    <a:lumMod val="65000"/>
                  </a:schemeClr>
                </a:solidFill>
              </a:rPr>
              <a:t>“Ordinal-</a:t>
            </a:r>
            <a:r>
              <a:rPr lang="en-US" sz="4000" dirty="0" err="1">
                <a:solidFill>
                  <a:schemeClr val="bg1">
                    <a:lumMod val="65000"/>
                  </a:schemeClr>
                </a:solidFill>
              </a:rPr>
              <a:t>ization</a:t>
            </a:r>
            <a:r>
              <a:rPr lang="en-US" sz="4000" dirty="0">
                <a:solidFill>
                  <a:schemeClr val="bg1">
                    <a:lumMod val="65000"/>
                  </a:schemeClr>
                </a:solidFill>
              </a:rPr>
              <a:t>” of Soft Forks</a:t>
            </a:r>
            <a:br>
              <a:rPr lang="en-US" dirty="0"/>
            </a:br>
            <a:r>
              <a:rPr lang="en-US" dirty="0"/>
              <a:t>(The Solution to everyone’s problems)</a:t>
            </a:r>
            <a:endParaRPr lang="en-US" sz="11500" dirty="0"/>
          </a:p>
        </p:txBody>
      </p:sp>
      <p:sp>
        <p:nvSpPr>
          <p:cNvPr id="3" name="Title 1">
            <a:extLst>
              <a:ext uri="{FF2B5EF4-FFF2-40B4-BE49-F238E27FC236}">
                <a16:creationId xmlns:a16="http://schemas.microsoft.com/office/drawing/2014/main" id="{FB4B4B1D-FA79-32A4-EAD0-454BB2D54668}"/>
              </a:ext>
            </a:extLst>
          </p:cNvPr>
          <p:cNvSpPr txBox="1">
            <a:spLocks/>
          </p:cNvSpPr>
          <p:nvPr/>
        </p:nvSpPr>
        <p:spPr>
          <a:xfrm>
            <a:off x="3840079" y="4601792"/>
            <a:ext cx="4511842" cy="1668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t>Part 2 of 3</a:t>
            </a:r>
          </a:p>
        </p:txBody>
      </p:sp>
    </p:spTree>
    <p:extLst>
      <p:ext uri="{BB962C8B-B14F-4D97-AF65-F5344CB8AC3E}">
        <p14:creationId xmlns:p14="http://schemas.microsoft.com/office/powerpoint/2010/main" val="4157180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58666-1C46-3DC2-07A9-95C5155B151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86B221AB-3143-D0DE-C464-3DFA96075C2B}"/>
              </a:ext>
            </a:extLst>
          </p:cNvPr>
          <p:cNvSpPr/>
          <p:nvPr/>
        </p:nvSpPr>
        <p:spPr>
          <a:xfrm>
            <a:off x="108858" y="720353"/>
            <a:ext cx="11952514" cy="60463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CE2FF68-14C7-DC1B-9C64-D1B0E84771B6}"/>
              </a:ext>
            </a:extLst>
          </p:cNvPr>
          <p:cNvSpPr/>
          <p:nvPr/>
        </p:nvSpPr>
        <p:spPr>
          <a:xfrm>
            <a:off x="3643085" y="125858"/>
            <a:ext cx="5080001" cy="1082456"/>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E4E9E5AF-88B8-A736-6E08-09D1560FEDCE}"/>
              </a:ext>
            </a:extLst>
          </p:cNvPr>
          <p:cNvSpPr txBox="1">
            <a:spLocks/>
          </p:cNvSpPr>
          <p:nvPr/>
        </p:nvSpPr>
        <p:spPr>
          <a:xfrm>
            <a:off x="4275222" y="5664118"/>
            <a:ext cx="1801585"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20 Months</a:t>
            </a:r>
          </a:p>
        </p:txBody>
      </p:sp>
      <p:sp>
        <p:nvSpPr>
          <p:cNvPr id="8" name="Content Placeholder 2">
            <a:extLst>
              <a:ext uri="{FF2B5EF4-FFF2-40B4-BE49-F238E27FC236}">
                <a16:creationId xmlns:a16="http://schemas.microsoft.com/office/drawing/2014/main" id="{FEFC4540-11F6-554F-06F3-5DDBF435B2B9}"/>
              </a:ext>
            </a:extLst>
          </p:cNvPr>
          <p:cNvSpPr txBox="1">
            <a:spLocks/>
          </p:cNvSpPr>
          <p:nvPr/>
        </p:nvSpPr>
        <p:spPr>
          <a:xfrm>
            <a:off x="10227375" y="5591530"/>
            <a:ext cx="1801585"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46 Months</a:t>
            </a:r>
          </a:p>
        </p:txBody>
      </p:sp>
      <p:sp>
        <p:nvSpPr>
          <p:cNvPr id="9" name="Right Brace 8">
            <a:extLst>
              <a:ext uri="{FF2B5EF4-FFF2-40B4-BE49-F238E27FC236}">
                <a16:creationId xmlns:a16="http://schemas.microsoft.com/office/drawing/2014/main" id="{A1BA542C-B41C-50F7-7563-D78BCC39AF17}"/>
              </a:ext>
            </a:extLst>
          </p:cNvPr>
          <p:cNvSpPr/>
          <p:nvPr/>
        </p:nvSpPr>
        <p:spPr>
          <a:xfrm>
            <a:off x="3974808" y="5328705"/>
            <a:ext cx="251430" cy="1069519"/>
          </a:xfrm>
          <a:prstGeom prst="rightBrace">
            <a:avLst>
              <a:gd name="adj1" fmla="val 3787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6CAAA9C6-D5EE-C598-A20D-2C6C8F45B351}"/>
              </a:ext>
            </a:extLst>
          </p:cNvPr>
          <p:cNvSpPr/>
          <p:nvPr/>
        </p:nvSpPr>
        <p:spPr>
          <a:xfrm>
            <a:off x="9926961" y="5293536"/>
            <a:ext cx="251430" cy="1069519"/>
          </a:xfrm>
          <a:prstGeom prst="rightBrace">
            <a:avLst>
              <a:gd name="adj1" fmla="val 3787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1" name="Table 11">
            <a:extLst>
              <a:ext uri="{FF2B5EF4-FFF2-40B4-BE49-F238E27FC236}">
                <a16:creationId xmlns:a16="http://schemas.microsoft.com/office/drawing/2014/main" id="{0CD3E34F-3852-813C-A383-7C228CE6D634}"/>
              </a:ext>
            </a:extLst>
          </p:cNvPr>
          <p:cNvGraphicFramePr>
            <a:graphicFrameLocks noGrp="1"/>
          </p:cNvGraphicFramePr>
          <p:nvPr/>
        </p:nvGraphicFramePr>
        <p:xfrm>
          <a:off x="906875" y="1604364"/>
          <a:ext cx="9963288" cy="1431904"/>
        </p:xfrm>
        <a:graphic>
          <a:graphicData uri="http://schemas.openxmlformats.org/drawingml/2006/table">
            <a:tbl>
              <a:tblPr firstCol="1" bandRow="1">
                <a:tableStyleId>{5C22544A-7EE6-4342-B048-85BDC9FD1C3A}</a:tableStyleId>
              </a:tblPr>
              <a:tblGrid>
                <a:gridCol w="1107032">
                  <a:extLst>
                    <a:ext uri="{9D8B030D-6E8A-4147-A177-3AD203B41FA5}">
                      <a16:colId xmlns:a16="http://schemas.microsoft.com/office/drawing/2014/main" val="1962472240"/>
                    </a:ext>
                  </a:extLst>
                </a:gridCol>
                <a:gridCol w="1107032">
                  <a:extLst>
                    <a:ext uri="{9D8B030D-6E8A-4147-A177-3AD203B41FA5}">
                      <a16:colId xmlns:a16="http://schemas.microsoft.com/office/drawing/2014/main" val="3918106669"/>
                    </a:ext>
                  </a:extLst>
                </a:gridCol>
                <a:gridCol w="1107032">
                  <a:extLst>
                    <a:ext uri="{9D8B030D-6E8A-4147-A177-3AD203B41FA5}">
                      <a16:colId xmlns:a16="http://schemas.microsoft.com/office/drawing/2014/main" val="841432074"/>
                    </a:ext>
                  </a:extLst>
                </a:gridCol>
                <a:gridCol w="1107032">
                  <a:extLst>
                    <a:ext uri="{9D8B030D-6E8A-4147-A177-3AD203B41FA5}">
                      <a16:colId xmlns:a16="http://schemas.microsoft.com/office/drawing/2014/main" val="4193041647"/>
                    </a:ext>
                  </a:extLst>
                </a:gridCol>
                <a:gridCol w="1107032">
                  <a:extLst>
                    <a:ext uri="{9D8B030D-6E8A-4147-A177-3AD203B41FA5}">
                      <a16:colId xmlns:a16="http://schemas.microsoft.com/office/drawing/2014/main" val="2424521326"/>
                    </a:ext>
                  </a:extLst>
                </a:gridCol>
                <a:gridCol w="1107032">
                  <a:extLst>
                    <a:ext uri="{9D8B030D-6E8A-4147-A177-3AD203B41FA5}">
                      <a16:colId xmlns:a16="http://schemas.microsoft.com/office/drawing/2014/main" val="3499498031"/>
                    </a:ext>
                  </a:extLst>
                </a:gridCol>
                <a:gridCol w="1107032">
                  <a:extLst>
                    <a:ext uri="{9D8B030D-6E8A-4147-A177-3AD203B41FA5}">
                      <a16:colId xmlns:a16="http://schemas.microsoft.com/office/drawing/2014/main" val="3328407539"/>
                    </a:ext>
                  </a:extLst>
                </a:gridCol>
                <a:gridCol w="1107032">
                  <a:extLst>
                    <a:ext uri="{9D8B030D-6E8A-4147-A177-3AD203B41FA5}">
                      <a16:colId xmlns:a16="http://schemas.microsoft.com/office/drawing/2014/main" val="1040280834"/>
                    </a:ext>
                  </a:extLst>
                </a:gridCol>
                <a:gridCol w="1107032">
                  <a:extLst>
                    <a:ext uri="{9D8B030D-6E8A-4147-A177-3AD203B41FA5}">
                      <a16:colId xmlns:a16="http://schemas.microsoft.com/office/drawing/2014/main" val="2982646618"/>
                    </a:ext>
                  </a:extLst>
                </a:gridCol>
              </a:tblGrid>
              <a:tr h="715952">
                <a:tc>
                  <a:txBody>
                    <a:bodyPr/>
                    <a:lstStyle/>
                    <a:p>
                      <a:pPr algn="ctr"/>
                      <a:r>
                        <a:rPr lang="en-US" sz="2400"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505752"/>
                  </a:ext>
                </a:extLst>
              </a:tr>
              <a:tr h="715952">
                <a:tc>
                  <a:txBody>
                    <a:bodyPr/>
                    <a:lstStyle/>
                    <a:p>
                      <a:pPr algn="ctr"/>
                      <a:r>
                        <a:rPr lang="en-US" dirty="0"/>
                        <a:t># of Soft Forks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ln>
                            <a:solidFill>
                              <a:sysClr val="windowText" lastClr="000000"/>
                            </a:solidFill>
                          </a:ln>
                          <a:solidFill>
                            <a:schemeClr val="bg1">
                              <a:lumMod val="75000"/>
                            </a:schemeClr>
                          </a:solidFill>
                        </a:rPr>
                        <a:t>0</a:t>
                      </a:r>
                      <a:r>
                        <a:rPr lang="en-US" sz="2800" b="1" dirty="0">
                          <a:ln>
                            <a:solidFill>
                              <a:sysClr val="windowText" lastClr="000000"/>
                            </a:solidFill>
                          </a:ln>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FF000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accent2">
                              <a:lumMod val="60000"/>
                              <a:lumOff val="40000"/>
                            </a:schemeClr>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376571"/>
                  </a:ext>
                </a:extLst>
              </a:tr>
            </a:tbl>
          </a:graphicData>
        </a:graphic>
      </p:graphicFrame>
      <p:sp>
        <p:nvSpPr>
          <p:cNvPr id="12" name="Content Placeholder 2">
            <a:extLst>
              <a:ext uri="{FF2B5EF4-FFF2-40B4-BE49-F238E27FC236}">
                <a16:creationId xmlns:a16="http://schemas.microsoft.com/office/drawing/2014/main" id="{156EB646-FE17-036E-B770-89102C730C88}"/>
              </a:ext>
            </a:extLst>
          </p:cNvPr>
          <p:cNvSpPr txBox="1">
            <a:spLocks/>
          </p:cNvSpPr>
          <p:nvPr/>
        </p:nvSpPr>
        <p:spPr>
          <a:xfrm>
            <a:off x="358179" y="4800652"/>
            <a:ext cx="4985656" cy="1676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SegWit</a:t>
            </a:r>
            <a:endParaRPr lang="en-US" dirty="0"/>
          </a:p>
          <a:p>
            <a:pPr lvl="1"/>
            <a:r>
              <a:rPr lang="en-US" dirty="0"/>
              <a:t>Announced Dec 2015</a:t>
            </a:r>
          </a:p>
          <a:p>
            <a:pPr lvl="1"/>
            <a:r>
              <a:rPr lang="en-US" dirty="0"/>
              <a:t>Coded Oct 2016</a:t>
            </a:r>
          </a:p>
          <a:p>
            <a:pPr lvl="1"/>
            <a:r>
              <a:rPr lang="en-US" dirty="0"/>
              <a:t>Activated Aug 2017</a:t>
            </a:r>
          </a:p>
        </p:txBody>
      </p:sp>
      <p:graphicFrame>
        <p:nvGraphicFramePr>
          <p:cNvPr id="13" name="Table 11">
            <a:extLst>
              <a:ext uri="{FF2B5EF4-FFF2-40B4-BE49-F238E27FC236}">
                <a16:creationId xmlns:a16="http://schemas.microsoft.com/office/drawing/2014/main" id="{4104E728-6841-6618-41A4-37C3395A3549}"/>
              </a:ext>
            </a:extLst>
          </p:cNvPr>
          <p:cNvGraphicFramePr>
            <a:graphicFrameLocks noGrp="1"/>
          </p:cNvGraphicFramePr>
          <p:nvPr/>
        </p:nvGraphicFramePr>
        <p:xfrm>
          <a:off x="906875" y="3231063"/>
          <a:ext cx="9963288" cy="1321675"/>
        </p:xfrm>
        <a:graphic>
          <a:graphicData uri="http://schemas.openxmlformats.org/drawingml/2006/table">
            <a:tbl>
              <a:tblPr firstCol="1" bandRow="1">
                <a:tableStyleId>{5C22544A-7EE6-4342-B048-85BDC9FD1C3A}</a:tableStyleId>
              </a:tblPr>
              <a:tblGrid>
                <a:gridCol w="1107032">
                  <a:extLst>
                    <a:ext uri="{9D8B030D-6E8A-4147-A177-3AD203B41FA5}">
                      <a16:colId xmlns:a16="http://schemas.microsoft.com/office/drawing/2014/main" val="1962472240"/>
                    </a:ext>
                  </a:extLst>
                </a:gridCol>
                <a:gridCol w="1107032">
                  <a:extLst>
                    <a:ext uri="{9D8B030D-6E8A-4147-A177-3AD203B41FA5}">
                      <a16:colId xmlns:a16="http://schemas.microsoft.com/office/drawing/2014/main" val="4193041647"/>
                    </a:ext>
                  </a:extLst>
                </a:gridCol>
                <a:gridCol w="1107032">
                  <a:extLst>
                    <a:ext uri="{9D8B030D-6E8A-4147-A177-3AD203B41FA5}">
                      <a16:colId xmlns:a16="http://schemas.microsoft.com/office/drawing/2014/main" val="2424521326"/>
                    </a:ext>
                  </a:extLst>
                </a:gridCol>
                <a:gridCol w="1107032">
                  <a:extLst>
                    <a:ext uri="{9D8B030D-6E8A-4147-A177-3AD203B41FA5}">
                      <a16:colId xmlns:a16="http://schemas.microsoft.com/office/drawing/2014/main" val="3499498031"/>
                    </a:ext>
                  </a:extLst>
                </a:gridCol>
                <a:gridCol w="1107032">
                  <a:extLst>
                    <a:ext uri="{9D8B030D-6E8A-4147-A177-3AD203B41FA5}">
                      <a16:colId xmlns:a16="http://schemas.microsoft.com/office/drawing/2014/main" val="3328407539"/>
                    </a:ext>
                  </a:extLst>
                </a:gridCol>
                <a:gridCol w="1107032">
                  <a:extLst>
                    <a:ext uri="{9D8B030D-6E8A-4147-A177-3AD203B41FA5}">
                      <a16:colId xmlns:a16="http://schemas.microsoft.com/office/drawing/2014/main" val="1040280834"/>
                    </a:ext>
                  </a:extLst>
                </a:gridCol>
                <a:gridCol w="1107032">
                  <a:extLst>
                    <a:ext uri="{9D8B030D-6E8A-4147-A177-3AD203B41FA5}">
                      <a16:colId xmlns:a16="http://schemas.microsoft.com/office/drawing/2014/main" val="2982646618"/>
                    </a:ext>
                  </a:extLst>
                </a:gridCol>
                <a:gridCol w="1107032">
                  <a:extLst>
                    <a:ext uri="{9D8B030D-6E8A-4147-A177-3AD203B41FA5}">
                      <a16:colId xmlns:a16="http://schemas.microsoft.com/office/drawing/2014/main" val="3507746376"/>
                    </a:ext>
                  </a:extLst>
                </a:gridCol>
                <a:gridCol w="1107032">
                  <a:extLst>
                    <a:ext uri="{9D8B030D-6E8A-4147-A177-3AD203B41FA5}">
                      <a16:colId xmlns:a16="http://schemas.microsoft.com/office/drawing/2014/main" val="2554118778"/>
                    </a:ext>
                  </a:extLst>
                </a:gridCol>
              </a:tblGrid>
              <a:tr h="429330">
                <a:tc>
                  <a:txBody>
                    <a:bodyPr/>
                    <a:lstStyle/>
                    <a:p>
                      <a:pPr algn="ctr"/>
                      <a:r>
                        <a:rPr lang="en-US" sz="2400"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505752"/>
                  </a:ext>
                </a:extLst>
              </a:tr>
              <a:tr h="864475">
                <a:tc>
                  <a:txBody>
                    <a:bodyPr/>
                    <a:lstStyle/>
                    <a:p>
                      <a:pPr algn="ctr"/>
                      <a:r>
                        <a:rPr lang="en-US" dirty="0"/>
                        <a:t># of Soft Forks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mn-lt"/>
                          <a:ea typeface="+mn-ea"/>
                          <a:cs typeface="+mn-cs"/>
                        </a:rPr>
                        <a:t>(Presumably)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376571"/>
                  </a:ext>
                </a:extLst>
              </a:tr>
            </a:tbl>
          </a:graphicData>
        </a:graphic>
      </p:graphicFrame>
      <p:sp>
        <p:nvSpPr>
          <p:cNvPr id="6" name="Content Placeholder 2">
            <a:extLst>
              <a:ext uri="{FF2B5EF4-FFF2-40B4-BE49-F238E27FC236}">
                <a16:creationId xmlns:a16="http://schemas.microsoft.com/office/drawing/2014/main" id="{6076824E-E47E-C641-B6C4-E9DD870958ED}"/>
              </a:ext>
            </a:extLst>
          </p:cNvPr>
          <p:cNvSpPr txBox="1">
            <a:spLocks/>
          </p:cNvSpPr>
          <p:nvPr/>
        </p:nvSpPr>
        <p:spPr>
          <a:xfrm>
            <a:off x="11322142" y="3626763"/>
            <a:ext cx="331504" cy="492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a:t>
            </a:r>
          </a:p>
        </p:txBody>
      </p:sp>
      <p:sp>
        <p:nvSpPr>
          <p:cNvPr id="14" name="Content Placeholder 2">
            <a:extLst>
              <a:ext uri="{FF2B5EF4-FFF2-40B4-BE49-F238E27FC236}">
                <a16:creationId xmlns:a16="http://schemas.microsoft.com/office/drawing/2014/main" id="{BB917858-B261-3578-F7F1-B0177F19A7DD}"/>
              </a:ext>
            </a:extLst>
          </p:cNvPr>
          <p:cNvSpPr txBox="1">
            <a:spLocks/>
          </p:cNvSpPr>
          <p:nvPr/>
        </p:nvSpPr>
        <p:spPr>
          <a:xfrm>
            <a:off x="11213959" y="2199258"/>
            <a:ext cx="547871"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16</a:t>
            </a:r>
          </a:p>
        </p:txBody>
      </p:sp>
      <p:cxnSp>
        <p:nvCxnSpPr>
          <p:cNvPr id="18" name="Straight Connector 17">
            <a:extLst>
              <a:ext uri="{FF2B5EF4-FFF2-40B4-BE49-F238E27FC236}">
                <a16:creationId xmlns:a16="http://schemas.microsoft.com/office/drawing/2014/main" id="{91D1D4CA-0C63-32E7-F9DD-DD572371E002}"/>
              </a:ext>
            </a:extLst>
          </p:cNvPr>
          <p:cNvCxnSpPr>
            <a:cxnSpLocks/>
          </p:cNvCxnSpPr>
          <p:nvPr/>
        </p:nvCxnSpPr>
        <p:spPr>
          <a:xfrm>
            <a:off x="10295560" y="3140441"/>
            <a:ext cx="14413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C5AA5F-306D-3CE3-986F-BEC71E6527E1}"/>
              </a:ext>
            </a:extLst>
          </p:cNvPr>
          <p:cNvCxnSpPr>
            <a:cxnSpLocks/>
          </p:cNvCxnSpPr>
          <p:nvPr/>
        </p:nvCxnSpPr>
        <p:spPr>
          <a:xfrm flipV="1">
            <a:off x="6047012" y="4800652"/>
            <a:ext cx="0" cy="1803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AA3BDD54-1F6E-4208-7987-B6249A48BA9A}"/>
              </a:ext>
            </a:extLst>
          </p:cNvPr>
          <p:cNvSpPr>
            <a:spLocks noGrp="1"/>
          </p:cNvSpPr>
          <p:nvPr>
            <p:ph type="title"/>
          </p:nvPr>
        </p:nvSpPr>
        <p:spPr>
          <a:xfrm>
            <a:off x="710877" y="31889"/>
            <a:ext cx="11087099" cy="1266672"/>
          </a:xfrm>
        </p:spPr>
        <p:txBody>
          <a:bodyPr>
            <a:normAutofit/>
          </a:bodyPr>
          <a:lstStyle/>
          <a:p>
            <a:pPr algn="ctr"/>
            <a:r>
              <a:rPr lang="en-US" dirty="0"/>
              <a:t>Bitcoin’s Ossification</a:t>
            </a:r>
          </a:p>
        </p:txBody>
      </p:sp>
      <p:sp>
        <p:nvSpPr>
          <p:cNvPr id="21" name="Content Placeholder 2">
            <a:extLst>
              <a:ext uri="{FF2B5EF4-FFF2-40B4-BE49-F238E27FC236}">
                <a16:creationId xmlns:a16="http://schemas.microsoft.com/office/drawing/2014/main" id="{9FFAB98C-536A-A4AB-6521-A5A19AB3678B}"/>
              </a:ext>
            </a:extLst>
          </p:cNvPr>
          <p:cNvSpPr txBox="1">
            <a:spLocks/>
          </p:cNvSpPr>
          <p:nvPr/>
        </p:nvSpPr>
        <p:spPr>
          <a:xfrm>
            <a:off x="6310334" y="4800652"/>
            <a:ext cx="3925057" cy="1676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Taproot</a:t>
            </a:r>
          </a:p>
          <a:p>
            <a:pPr lvl="1"/>
            <a:r>
              <a:rPr lang="en-US" dirty="0"/>
              <a:t>Announced Jan 2018</a:t>
            </a:r>
          </a:p>
          <a:p>
            <a:pPr lvl="1"/>
            <a:r>
              <a:rPr lang="en-US" dirty="0"/>
              <a:t>Coded Oct 2020</a:t>
            </a:r>
          </a:p>
          <a:p>
            <a:pPr lvl="1"/>
            <a:r>
              <a:rPr lang="en-US" dirty="0"/>
              <a:t>Activated Nov 2021</a:t>
            </a:r>
          </a:p>
        </p:txBody>
      </p:sp>
      <p:sp>
        <p:nvSpPr>
          <p:cNvPr id="4" name="Content Placeholder 2">
            <a:extLst>
              <a:ext uri="{FF2B5EF4-FFF2-40B4-BE49-F238E27FC236}">
                <a16:creationId xmlns:a16="http://schemas.microsoft.com/office/drawing/2014/main" id="{C6D33044-12A1-29D4-A57A-A43C76DC47A9}"/>
              </a:ext>
            </a:extLst>
          </p:cNvPr>
          <p:cNvSpPr txBox="1">
            <a:spLocks/>
          </p:cNvSpPr>
          <p:nvPr/>
        </p:nvSpPr>
        <p:spPr>
          <a:xfrm>
            <a:off x="934833" y="894667"/>
            <a:ext cx="2484297" cy="5356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tx1">
                    <a:lumMod val="50000"/>
                    <a:lumOff val="50000"/>
                  </a:schemeClr>
                </a:solidFill>
              </a:rPr>
              <a:t>original source code &amp; edit history are mostly lost</a:t>
            </a:r>
          </a:p>
          <a:p>
            <a:endParaRPr lang="en-US" dirty="0"/>
          </a:p>
        </p:txBody>
      </p:sp>
      <p:cxnSp>
        <p:nvCxnSpPr>
          <p:cNvPr id="17" name="Straight Connector 16">
            <a:extLst>
              <a:ext uri="{FF2B5EF4-FFF2-40B4-BE49-F238E27FC236}">
                <a16:creationId xmlns:a16="http://schemas.microsoft.com/office/drawing/2014/main" id="{02C6E237-17CB-E45F-63EF-52187C1A93C6}"/>
              </a:ext>
            </a:extLst>
          </p:cNvPr>
          <p:cNvCxnSpPr>
            <a:cxnSpLocks/>
          </p:cNvCxnSpPr>
          <p:nvPr/>
        </p:nvCxnSpPr>
        <p:spPr>
          <a:xfrm>
            <a:off x="1752600" y="1430323"/>
            <a:ext cx="717550" cy="100569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767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D2C1-4447-6493-23A9-EBC5BB3E1AD5}"/>
              </a:ext>
            </a:extLst>
          </p:cNvPr>
          <p:cNvSpPr>
            <a:spLocks noGrp="1"/>
          </p:cNvSpPr>
          <p:nvPr>
            <p:ph type="title"/>
          </p:nvPr>
        </p:nvSpPr>
        <p:spPr/>
        <p:txBody>
          <a:bodyPr/>
          <a:lstStyle/>
          <a:p>
            <a:r>
              <a:rPr lang="en-US" dirty="0"/>
              <a:t>Roadblock 2: You can’t leave.</a:t>
            </a:r>
          </a:p>
        </p:txBody>
      </p:sp>
      <p:sp>
        <p:nvSpPr>
          <p:cNvPr id="3" name="Content Placeholder 2">
            <a:extLst>
              <a:ext uri="{FF2B5EF4-FFF2-40B4-BE49-F238E27FC236}">
                <a16:creationId xmlns:a16="http://schemas.microsoft.com/office/drawing/2014/main" id="{F2D856C1-22AA-6256-613A-A0EFC777A2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E12E302-FE97-0E24-AE6A-A3C64CB656F4}"/>
              </a:ext>
            </a:extLst>
          </p:cNvPr>
          <p:cNvPicPr>
            <a:picLocks noChangeAspect="1"/>
          </p:cNvPicPr>
          <p:nvPr/>
        </p:nvPicPr>
        <p:blipFill>
          <a:blip r:embed="rId2"/>
          <a:stretch>
            <a:fillRect/>
          </a:stretch>
        </p:blipFill>
        <p:spPr>
          <a:xfrm>
            <a:off x="1369387" y="1943099"/>
            <a:ext cx="9453225" cy="4486275"/>
          </a:xfrm>
          <a:prstGeom prst="rect">
            <a:avLst/>
          </a:prstGeom>
          <a:ln>
            <a:solidFill>
              <a:schemeClr val="accent4">
                <a:lumMod val="50000"/>
              </a:schemeClr>
            </a:solidFill>
          </a:ln>
        </p:spPr>
      </p:pic>
    </p:spTree>
    <p:extLst>
      <p:ext uri="{BB962C8B-B14F-4D97-AF65-F5344CB8AC3E}">
        <p14:creationId xmlns:p14="http://schemas.microsoft.com/office/powerpoint/2010/main" val="2588375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5B12-681D-B856-C033-E7C673BA1641}"/>
              </a:ext>
            </a:extLst>
          </p:cNvPr>
          <p:cNvSpPr>
            <a:spLocks noGrp="1"/>
          </p:cNvSpPr>
          <p:nvPr>
            <p:ph type="title"/>
          </p:nvPr>
        </p:nvSpPr>
        <p:spPr>
          <a:xfrm>
            <a:off x="352426" y="107821"/>
            <a:ext cx="10515600" cy="1325563"/>
          </a:xfrm>
        </p:spPr>
        <p:txBody>
          <a:bodyPr>
            <a:normAutofit/>
          </a:bodyPr>
          <a:lstStyle/>
          <a:p>
            <a:r>
              <a:rPr lang="en-US" sz="5400" dirty="0"/>
              <a:t>Two Roadblocks	</a:t>
            </a:r>
          </a:p>
        </p:txBody>
      </p:sp>
      <p:sp>
        <p:nvSpPr>
          <p:cNvPr id="3" name="Content Placeholder 2">
            <a:extLst>
              <a:ext uri="{FF2B5EF4-FFF2-40B4-BE49-F238E27FC236}">
                <a16:creationId xmlns:a16="http://schemas.microsoft.com/office/drawing/2014/main" id="{6B69F9EE-0F27-0374-45E8-CADFAAD07EB2}"/>
              </a:ext>
            </a:extLst>
          </p:cNvPr>
          <p:cNvSpPr>
            <a:spLocks noGrp="1"/>
          </p:cNvSpPr>
          <p:nvPr>
            <p:ph idx="1"/>
          </p:nvPr>
        </p:nvSpPr>
        <p:spPr>
          <a:xfrm>
            <a:off x="676275" y="1445463"/>
            <a:ext cx="8362950" cy="1098550"/>
          </a:xfrm>
        </p:spPr>
        <p:txBody>
          <a:bodyPr/>
          <a:lstStyle/>
          <a:p>
            <a:pPr marL="514350" indent="-514350">
              <a:buAutoNum type="arabicPeriod"/>
            </a:pPr>
            <a:r>
              <a:rPr lang="en-US" u="sng" dirty="0"/>
              <a:t>Bitcoin Core</a:t>
            </a:r>
            <a:r>
              <a:rPr lang="en-US" dirty="0"/>
              <a:t> doesn’t work anymore – (for soft forks).</a:t>
            </a:r>
          </a:p>
          <a:p>
            <a:pPr marL="514350" indent="-514350">
              <a:buAutoNum type="arabicPeriod"/>
            </a:pPr>
            <a:r>
              <a:rPr lang="en-US" dirty="0"/>
              <a:t>You can’t </a:t>
            </a:r>
            <a:r>
              <a:rPr lang="en-US" i="1" u="sng" dirty="0"/>
              <a:t>leave</a:t>
            </a:r>
            <a:r>
              <a:rPr lang="en-US" dirty="0"/>
              <a:t> Bitcoin Core.</a:t>
            </a:r>
          </a:p>
          <a:p>
            <a:pPr marL="514350" indent="-514350">
              <a:buAutoNum type="arabicPeriod"/>
            </a:pPr>
            <a:endParaRPr lang="en-US" i="1" u="sng" dirty="0"/>
          </a:p>
          <a:p>
            <a:pPr marL="514350" indent="-514350">
              <a:buAutoNum type="arabicPeriod"/>
            </a:pPr>
            <a:endParaRPr lang="en-US" i="1" u="sng" dirty="0"/>
          </a:p>
        </p:txBody>
      </p:sp>
      <p:sp>
        <p:nvSpPr>
          <p:cNvPr id="5" name="TextBox 4">
            <a:extLst>
              <a:ext uri="{FF2B5EF4-FFF2-40B4-BE49-F238E27FC236}">
                <a16:creationId xmlns:a16="http://schemas.microsoft.com/office/drawing/2014/main" id="{FF5A508E-929A-2DA0-D809-3DD9DA27B9C8}"/>
              </a:ext>
            </a:extLst>
          </p:cNvPr>
          <p:cNvSpPr txBox="1"/>
          <p:nvPr/>
        </p:nvSpPr>
        <p:spPr>
          <a:xfrm>
            <a:off x="985837" y="2875198"/>
            <a:ext cx="10220326" cy="1384995"/>
          </a:xfrm>
          <a:prstGeom prst="rect">
            <a:avLst/>
          </a:prstGeom>
          <a:noFill/>
        </p:spPr>
        <p:txBody>
          <a:bodyPr wrap="square">
            <a:spAutoFit/>
          </a:bodyPr>
          <a:lstStyle/>
          <a:p>
            <a:r>
              <a:rPr lang="en-US" sz="2800" b="1" dirty="0"/>
              <a:t>Solution:</a:t>
            </a:r>
            <a:r>
              <a:rPr lang="en-US" sz="2800" dirty="0"/>
              <a:t> Keep Core unchanged – add a 2</a:t>
            </a:r>
            <a:r>
              <a:rPr lang="en-US" sz="2800" baseline="30000" dirty="0"/>
              <a:t>nd</a:t>
            </a:r>
            <a:r>
              <a:rPr lang="en-US" sz="2800" dirty="0"/>
              <a:t> “activator” software.</a:t>
            </a:r>
          </a:p>
          <a:p>
            <a:pPr lvl="1"/>
            <a:r>
              <a:rPr lang="en-US" sz="2800" dirty="0"/>
              <a:t>- Takes blocks from Bitcoin Core, and gives them a “second pass”.</a:t>
            </a:r>
          </a:p>
          <a:p>
            <a:pPr lvl="1"/>
            <a:r>
              <a:rPr lang="en-US" sz="2800" dirty="0"/>
              <a:t>- Calls `</a:t>
            </a:r>
            <a:r>
              <a:rPr lang="en-US" sz="2800" dirty="0" err="1"/>
              <a:t>invalidateblock</a:t>
            </a:r>
            <a:r>
              <a:rPr lang="en-US" sz="2800" dirty="0"/>
              <a:t>` in Bitcoin Core if new </a:t>
            </a:r>
            <a:r>
              <a:rPr lang="en-US" sz="2800" dirty="0" err="1"/>
              <a:t>rulebreaking</a:t>
            </a:r>
            <a:r>
              <a:rPr lang="en-US" sz="2800" dirty="0"/>
              <a:t>.</a:t>
            </a:r>
          </a:p>
        </p:txBody>
      </p:sp>
      <p:sp>
        <p:nvSpPr>
          <p:cNvPr id="6" name="TextBox 5">
            <a:extLst>
              <a:ext uri="{FF2B5EF4-FFF2-40B4-BE49-F238E27FC236}">
                <a16:creationId xmlns:a16="http://schemas.microsoft.com/office/drawing/2014/main" id="{31633C42-50A6-7C6C-02B2-3FD3F3095A59}"/>
              </a:ext>
            </a:extLst>
          </p:cNvPr>
          <p:cNvSpPr txBox="1"/>
          <p:nvPr/>
        </p:nvSpPr>
        <p:spPr>
          <a:xfrm>
            <a:off x="985837" y="4504596"/>
            <a:ext cx="10220326" cy="1815882"/>
          </a:xfrm>
          <a:prstGeom prst="rect">
            <a:avLst/>
          </a:prstGeom>
          <a:noFill/>
        </p:spPr>
        <p:txBody>
          <a:bodyPr wrap="square">
            <a:spAutoFit/>
          </a:bodyPr>
          <a:lstStyle/>
          <a:p>
            <a:r>
              <a:rPr lang="en-US" sz="2800" b="1" dirty="0"/>
              <a:t>Benefits</a:t>
            </a:r>
            <a:r>
              <a:rPr lang="en-US" sz="2800" dirty="0"/>
              <a:t>: </a:t>
            </a:r>
          </a:p>
          <a:p>
            <a:pPr marL="457200" indent="-457200">
              <a:buFontTx/>
              <a:buChar char="-"/>
            </a:pPr>
            <a:r>
              <a:rPr lang="en-US" sz="2800" dirty="0"/>
              <a:t>Faster</a:t>
            </a:r>
          </a:p>
          <a:p>
            <a:pPr marL="457200" indent="-457200">
              <a:buFontTx/>
              <a:buChar char="-"/>
            </a:pPr>
            <a:r>
              <a:rPr lang="en-US" sz="2800" dirty="0"/>
              <a:t>Safer</a:t>
            </a:r>
          </a:p>
          <a:p>
            <a:pPr marL="457200" indent="-457200">
              <a:buFontTx/>
              <a:buChar char="-"/>
            </a:pPr>
            <a:r>
              <a:rPr lang="en-US" sz="2800" dirty="0"/>
              <a:t>Easier to Understand</a:t>
            </a:r>
          </a:p>
        </p:txBody>
      </p:sp>
    </p:spTree>
    <p:extLst>
      <p:ext uri="{BB962C8B-B14F-4D97-AF65-F5344CB8AC3E}">
        <p14:creationId xmlns:p14="http://schemas.microsoft.com/office/powerpoint/2010/main" val="2581487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2613A-1987-39E2-3E4A-00E2E4D60BB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D401CB4-47CF-01EE-3FDD-3E67FAD75633}"/>
              </a:ext>
            </a:extLst>
          </p:cNvPr>
          <p:cNvSpPr>
            <a:spLocks noGrp="1"/>
          </p:cNvSpPr>
          <p:nvPr>
            <p:ph idx="1"/>
          </p:nvPr>
        </p:nvSpPr>
        <p:spPr>
          <a:xfrm>
            <a:off x="3557587" y="5756275"/>
            <a:ext cx="5076825" cy="473076"/>
          </a:xfrm>
        </p:spPr>
        <p:txBody>
          <a:bodyPr>
            <a:normAutofit lnSpcReduction="10000"/>
          </a:bodyPr>
          <a:lstStyle/>
          <a:p>
            <a:pPr marL="0" indent="0">
              <a:buNone/>
            </a:pPr>
            <a:r>
              <a:rPr lang="en-US" dirty="0"/>
              <a:t>Paper at: </a:t>
            </a:r>
            <a:r>
              <a:rPr lang="en-US" dirty="0">
                <a:hlinkClick r:id="rId2"/>
              </a:rPr>
              <a:t>https://bip300cusf.com</a:t>
            </a:r>
            <a:r>
              <a:rPr lang="en-US" dirty="0"/>
              <a:t> </a:t>
            </a:r>
          </a:p>
        </p:txBody>
      </p:sp>
      <p:pic>
        <p:nvPicPr>
          <p:cNvPr id="5" name="Picture 4">
            <a:extLst>
              <a:ext uri="{FF2B5EF4-FFF2-40B4-BE49-F238E27FC236}">
                <a16:creationId xmlns:a16="http://schemas.microsoft.com/office/drawing/2014/main" id="{C85E3D9E-913E-8060-82A9-9CE5E85448E2}"/>
              </a:ext>
            </a:extLst>
          </p:cNvPr>
          <p:cNvPicPr>
            <a:picLocks noChangeAspect="1"/>
          </p:cNvPicPr>
          <p:nvPr/>
        </p:nvPicPr>
        <p:blipFill>
          <a:blip r:embed="rId3"/>
          <a:stretch>
            <a:fillRect/>
          </a:stretch>
        </p:blipFill>
        <p:spPr>
          <a:xfrm>
            <a:off x="1544561" y="746125"/>
            <a:ext cx="9102875" cy="46013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26060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8463-2B8D-D8A1-37F6-093E5A8B6877}"/>
              </a:ext>
            </a:extLst>
          </p:cNvPr>
          <p:cNvSpPr>
            <a:spLocks noGrp="1"/>
          </p:cNvSpPr>
          <p:nvPr>
            <p:ph type="title"/>
          </p:nvPr>
        </p:nvSpPr>
        <p:spPr>
          <a:xfrm>
            <a:off x="352435" y="448093"/>
            <a:ext cx="9448800" cy="951658"/>
          </a:xfrm>
        </p:spPr>
        <p:txBody>
          <a:bodyPr/>
          <a:lstStyle/>
          <a:p>
            <a:r>
              <a:rPr lang="en-US" b="1" dirty="0"/>
              <a:t>Download Today – OP CAT &amp; BIP300</a:t>
            </a:r>
          </a:p>
        </p:txBody>
      </p:sp>
      <p:pic>
        <p:nvPicPr>
          <p:cNvPr id="7" name="Content Placeholder 6">
            <a:extLst>
              <a:ext uri="{FF2B5EF4-FFF2-40B4-BE49-F238E27FC236}">
                <a16:creationId xmlns:a16="http://schemas.microsoft.com/office/drawing/2014/main" id="{538D5B25-0CDA-D20A-83FA-49CFFC408589}"/>
              </a:ext>
            </a:extLst>
          </p:cNvPr>
          <p:cNvPicPr>
            <a:picLocks noGrp="1" noChangeAspect="1"/>
          </p:cNvPicPr>
          <p:nvPr>
            <p:ph idx="1"/>
          </p:nvPr>
        </p:nvPicPr>
        <p:blipFill>
          <a:blip r:embed="rId2"/>
          <a:stretch>
            <a:fillRect/>
          </a:stretch>
        </p:blipFill>
        <p:spPr>
          <a:xfrm>
            <a:off x="6570639" y="1760540"/>
            <a:ext cx="5210165" cy="2667805"/>
          </a:xfrm>
          <a:ln>
            <a:solidFill>
              <a:schemeClr val="tx1"/>
            </a:solidFill>
          </a:ln>
        </p:spPr>
      </p:pic>
      <p:pic>
        <p:nvPicPr>
          <p:cNvPr id="5" name="Picture 4">
            <a:extLst>
              <a:ext uri="{FF2B5EF4-FFF2-40B4-BE49-F238E27FC236}">
                <a16:creationId xmlns:a16="http://schemas.microsoft.com/office/drawing/2014/main" id="{CBB9F39A-0ADC-F8F3-045E-7B90D9A2149E}"/>
              </a:ext>
            </a:extLst>
          </p:cNvPr>
          <p:cNvPicPr>
            <a:picLocks noChangeAspect="1"/>
          </p:cNvPicPr>
          <p:nvPr/>
        </p:nvPicPr>
        <p:blipFill>
          <a:blip r:embed="rId3"/>
          <a:stretch>
            <a:fillRect/>
          </a:stretch>
        </p:blipFill>
        <p:spPr>
          <a:xfrm>
            <a:off x="385796" y="1579530"/>
            <a:ext cx="5876968" cy="4300569"/>
          </a:xfrm>
          <a:prstGeom prst="rect">
            <a:avLst/>
          </a:prstGeom>
          <a:ln>
            <a:solidFill>
              <a:schemeClr val="tx1"/>
            </a:solidFill>
          </a:ln>
        </p:spPr>
      </p:pic>
      <p:sp>
        <p:nvSpPr>
          <p:cNvPr id="8" name="Title 1">
            <a:extLst>
              <a:ext uri="{FF2B5EF4-FFF2-40B4-BE49-F238E27FC236}">
                <a16:creationId xmlns:a16="http://schemas.microsoft.com/office/drawing/2014/main" id="{926934B6-0C7A-D933-FEEF-E17776897531}"/>
              </a:ext>
            </a:extLst>
          </p:cNvPr>
          <p:cNvSpPr txBox="1">
            <a:spLocks/>
          </p:cNvSpPr>
          <p:nvPr/>
        </p:nvSpPr>
        <p:spPr>
          <a:xfrm>
            <a:off x="6882568" y="4691092"/>
            <a:ext cx="4629982" cy="660400"/>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bip300cusf.com/download</a:t>
            </a:r>
          </a:p>
        </p:txBody>
      </p:sp>
      <p:sp>
        <p:nvSpPr>
          <p:cNvPr id="9" name="Title 1">
            <a:extLst>
              <a:ext uri="{FF2B5EF4-FFF2-40B4-BE49-F238E27FC236}">
                <a16:creationId xmlns:a16="http://schemas.microsoft.com/office/drawing/2014/main" id="{0C17A768-EE14-F11C-8C19-35D7D51C4846}"/>
              </a:ext>
            </a:extLst>
          </p:cNvPr>
          <p:cNvSpPr txBox="1">
            <a:spLocks/>
          </p:cNvSpPr>
          <p:nvPr/>
        </p:nvSpPr>
        <p:spPr>
          <a:xfrm>
            <a:off x="609601" y="6007100"/>
            <a:ext cx="8966199" cy="717550"/>
          </a:xfrm>
          <a:prstGeom prst="rect">
            <a:avLst/>
          </a:prstGeom>
          <a:solidFill>
            <a:schemeClr val="bg1">
              <a:lumMod val="95000"/>
            </a:schemeClr>
          </a:solidFill>
          <a:ln>
            <a:solidFill>
              <a:schemeClr val="tx1"/>
            </a:solidFill>
          </a:ln>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(This is one easy way of solving all of our soft fork problems.)</a:t>
            </a:r>
          </a:p>
        </p:txBody>
      </p:sp>
    </p:spTree>
    <p:extLst>
      <p:ext uri="{BB962C8B-B14F-4D97-AF65-F5344CB8AC3E}">
        <p14:creationId xmlns:p14="http://schemas.microsoft.com/office/powerpoint/2010/main" val="1163915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784DAF-A0D0-4D86-2C1C-D8F864E229DB}"/>
              </a:ext>
            </a:extLst>
          </p:cNvPr>
          <p:cNvSpPr>
            <a:spLocks noGrp="1"/>
          </p:cNvSpPr>
          <p:nvPr>
            <p:ph idx="1"/>
          </p:nvPr>
        </p:nvSpPr>
        <p:spPr>
          <a:xfrm>
            <a:off x="8242300" y="463550"/>
            <a:ext cx="3111500" cy="5713413"/>
          </a:xfrm>
        </p:spPr>
        <p:txBody>
          <a:bodyPr/>
          <a:lstStyle/>
          <a:p>
            <a:r>
              <a:rPr lang="en-US" dirty="0"/>
              <a:t>Same effect</a:t>
            </a:r>
          </a:p>
          <a:p>
            <a:r>
              <a:rPr lang="en-US" dirty="0"/>
              <a:t>But two software daemons</a:t>
            </a:r>
          </a:p>
          <a:p>
            <a:r>
              <a:rPr lang="en-US" dirty="0"/>
              <a:t>Two RPC servers</a:t>
            </a:r>
          </a:p>
          <a:p>
            <a:r>
              <a:rPr lang="en-US" dirty="0"/>
              <a:t>“Inefficient” for computer – 2x as much work</a:t>
            </a:r>
          </a:p>
          <a:p>
            <a:r>
              <a:rPr lang="en-US" dirty="0"/>
              <a:t>But “separable” at the human level – socially scalable.</a:t>
            </a:r>
          </a:p>
          <a:p>
            <a:r>
              <a:rPr lang="en-US" dirty="0"/>
              <a:t>Simple change, many advantages</a:t>
            </a:r>
          </a:p>
        </p:txBody>
      </p:sp>
      <p:pic>
        <p:nvPicPr>
          <p:cNvPr id="5" name="Picture 4">
            <a:extLst>
              <a:ext uri="{FF2B5EF4-FFF2-40B4-BE49-F238E27FC236}">
                <a16:creationId xmlns:a16="http://schemas.microsoft.com/office/drawing/2014/main" id="{4DD58047-1ACB-2CB7-F5CE-9BEA5D8E0EF2}"/>
              </a:ext>
            </a:extLst>
          </p:cNvPr>
          <p:cNvPicPr>
            <a:picLocks noChangeAspect="1"/>
          </p:cNvPicPr>
          <p:nvPr/>
        </p:nvPicPr>
        <p:blipFill>
          <a:blip r:embed="rId2"/>
          <a:srcRect l="2231" t="1943" r="2296" b="2033"/>
          <a:stretch/>
        </p:blipFill>
        <p:spPr>
          <a:xfrm>
            <a:off x="514351" y="246856"/>
            <a:ext cx="7131050" cy="6146800"/>
          </a:xfrm>
          <a:prstGeom prst="rect">
            <a:avLst/>
          </a:prstGeom>
        </p:spPr>
      </p:pic>
    </p:spTree>
    <p:extLst>
      <p:ext uri="{BB962C8B-B14F-4D97-AF65-F5344CB8AC3E}">
        <p14:creationId xmlns:p14="http://schemas.microsoft.com/office/powerpoint/2010/main" val="1771720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5F9BB-5829-357B-7CE9-251856486D8F}"/>
              </a:ext>
            </a:extLst>
          </p:cNvPr>
          <p:cNvSpPr>
            <a:spLocks noGrp="1"/>
          </p:cNvSpPr>
          <p:nvPr>
            <p:ph type="title"/>
          </p:nvPr>
        </p:nvSpPr>
        <p:spPr>
          <a:xfrm>
            <a:off x="838200" y="365126"/>
            <a:ext cx="4086225" cy="1130300"/>
          </a:xfrm>
          <a:solidFill>
            <a:schemeClr val="bg1">
              <a:lumMod val="95000"/>
            </a:schemeClr>
          </a:solidFill>
          <a:ln>
            <a:solidFill>
              <a:schemeClr val="accent4">
                <a:lumMod val="50000"/>
              </a:schemeClr>
            </a:solidFill>
          </a:ln>
        </p:spPr>
        <p:txBody>
          <a:bodyPr/>
          <a:lstStyle/>
          <a:p>
            <a:r>
              <a:rPr lang="en-US" dirty="0"/>
              <a:t>My Proposal Is…</a:t>
            </a:r>
          </a:p>
        </p:txBody>
      </p:sp>
      <p:sp>
        <p:nvSpPr>
          <p:cNvPr id="3" name="Content Placeholder 2">
            <a:extLst>
              <a:ext uri="{FF2B5EF4-FFF2-40B4-BE49-F238E27FC236}">
                <a16:creationId xmlns:a16="http://schemas.microsoft.com/office/drawing/2014/main" id="{5A7384A6-ADEC-FDA9-4789-C42AD7B6448C}"/>
              </a:ext>
            </a:extLst>
          </p:cNvPr>
          <p:cNvSpPr>
            <a:spLocks noGrp="1"/>
          </p:cNvSpPr>
          <p:nvPr>
            <p:ph idx="1"/>
          </p:nvPr>
        </p:nvSpPr>
        <p:spPr>
          <a:xfrm>
            <a:off x="938212" y="1738313"/>
            <a:ext cx="10182225" cy="4081462"/>
          </a:xfrm>
          <a:solidFill>
            <a:schemeClr val="bg1">
              <a:lumMod val="95000"/>
            </a:schemeClr>
          </a:solidFill>
          <a:ln>
            <a:solidFill>
              <a:schemeClr val="accent4">
                <a:lumMod val="50000"/>
              </a:schemeClr>
            </a:solidFill>
          </a:ln>
        </p:spPr>
        <p:txBody>
          <a:bodyPr>
            <a:normAutofit lnSpcReduction="10000"/>
          </a:bodyPr>
          <a:lstStyle/>
          <a:p>
            <a:pPr marL="114300" marR="0" indent="-342900">
              <a:lnSpc>
                <a:spcPct val="115000"/>
              </a:lnSpc>
              <a:spcAft>
                <a:spcPts val="800"/>
              </a:spcAft>
              <a:buFont typeface="+mj-lt"/>
              <a:buAutoNum type="arabicPeriod"/>
            </a:pPr>
            <a:r>
              <a:rPr lang="en-US" kern="100" dirty="0">
                <a:effectLst/>
                <a:latin typeface="Aptos" panose="02110004020202020204"/>
                <a:ea typeface="Aptos" panose="02110004020202020204"/>
                <a:cs typeface="Times New Roman" panose="02020603050405020304" pitchFamily="18" charset="0"/>
              </a:rPr>
              <a:t>Miners run the Bip300 CUSF activator,</a:t>
            </a:r>
            <a:br>
              <a:rPr lang="en-US" kern="100" dirty="0">
                <a:effectLst/>
                <a:latin typeface="Aptos" panose="02110004020202020204"/>
                <a:ea typeface="Aptos" panose="02110004020202020204"/>
                <a:cs typeface="Times New Roman" panose="02020603050405020304" pitchFamily="18" charset="0"/>
              </a:rPr>
            </a:br>
            <a:r>
              <a:rPr lang="en-US" kern="100" dirty="0">
                <a:effectLst/>
                <a:latin typeface="Aptos" panose="02110004020202020204"/>
                <a:ea typeface="Aptos" panose="02110004020202020204"/>
                <a:cs typeface="Times New Roman" panose="02020603050405020304" pitchFamily="18" charset="0"/>
              </a:rPr>
              <a:t>   (Bitcoin Core continues to do nothing).</a:t>
            </a:r>
          </a:p>
          <a:p>
            <a:pPr marL="114300" marR="0" indent="-342900">
              <a:lnSpc>
                <a:spcPct val="115000"/>
              </a:lnSpc>
              <a:spcAft>
                <a:spcPts val="800"/>
              </a:spcAft>
              <a:buFont typeface="+mj-lt"/>
              <a:buAutoNum type="arabicPeriod"/>
            </a:pPr>
            <a:r>
              <a:rPr lang="en-US" kern="100" dirty="0">
                <a:effectLst/>
                <a:latin typeface="Aptos" panose="02110004020202020204"/>
                <a:ea typeface="Aptos" panose="02110004020202020204"/>
                <a:cs typeface="Times New Roman" panose="02020603050405020304" pitchFamily="18" charset="0"/>
              </a:rPr>
              <a:t>Once 51% hashrate </a:t>
            </a:r>
            <a:r>
              <a:rPr lang="en-US" kern="100" dirty="0">
                <a:latin typeface="Aptos" panose="02110004020202020204"/>
                <a:ea typeface="Aptos" panose="02110004020202020204"/>
                <a:cs typeface="Times New Roman" panose="02020603050405020304" pitchFamily="18" charset="0"/>
              </a:rPr>
              <a:t>runs </a:t>
            </a:r>
            <a:r>
              <a:rPr lang="en-US" kern="100" dirty="0">
                <a:effectLst/>
                <a:latin typeface="Aptos" panose="02110004020202020204"/>
                <a:ea typeface="Aptos" panose="02110004020202020204"/>
                <a:cs typeface="Times New Roman" panose="02020603050405020304" pitchFamily="18" charset="0"/>
              </a:rPr>
              <a:t>the CUSF addon, Bip300 activates.</a:t>
            </a:r>
          </a:p>
          <a:p>
            <a:pPr marL="114300" marR="0" indent="-342900">
              <a:lnSpc>
                <a:spcPct val="115000"/>
              </a:lnSpc>
              <a:spcAft>
                <a:spcPts val="800"/>
              </a:spcAft>
              <a:buFont typeface="+mj-lt"/>
              <a:buAutoNum type="arabicPeriod"/>
            </a:pPr>
            <a:r>
              <a:rPr lang="en-US" kern="100" dirty="0">
                <a:latin typeface="Aptos" panose="02110004020202020204"/>
                <a:ea typeface="Aptos" panose="02110004020202020204"/>
                <a:cs typeface="Times New Roman" panose="02020603050405020304" pitchFamily="18" charset="0"/>
              </a:rPr>
              <a:t>Miners a</a:t>
            </a:r>
            <a:r>
              <a:rPr lang="en-US" kern="100" dirty="0">
                <a:effectLst/>
                <a:latin typeface="Aptos" panose="02110004020202020204"/>
                <a:ea typeface="Aptos" panose="02110004020202020204"/>
                <a:cs typeface="Times New Roman" panose="02020603050405020304" pitchFamily="18" charset="0"/>
              </a:rPr>
              <a:t>ctivate the Mined-L2s, (13-13) and collect $$ from them.</a:t>
            </a:r>
          </a:p>
          <a:p>
            <a:pPr marL="0" marR="0" indent="0">
              <a:lnSpc>
                <a:spcPct val="115000"/>
              </a:lnSpc>
              <a:spcAft>
                <a:spcPts val="800"/>
              </a:spcAft>
              <a:buNone/>
            </a:pPr>
            <a:r>
              <a:rPr lang="en-US" kern="100" dirty="0">
                <a:effectLst/>
                <a:latin typeface="Aptos" panose="02110004020202020204"/>
                <a:ea typeface="Aptos" panose="02110004020202020204"/>
                <a:cs typeface="Times New Roman" panose="02020603050405020304" pitchFamily="18" charset="0"/>
              </a:rPr>
              <a:t>Problem solved!</a:t>
            </a:r>
            <a:br>
              <a:rPr lang="en-US" kern="100" dirty="0">
                <a:effectLst/>
                <a:latin typeface="Aptos" panose="02110004020202020204"/>
                <a:ea typeface="Aptos" panose="02110004020202020204"/>
                <a:cs typeface="Times New Roman" panose="02020603050405020304" pitchFamily="18" charset="0"/>
              </a:rPr>
            </a:br>
            <a:r>
              <a:rPr lang="en-US" kern="100" dirty="0">
                <a:effectLst/>
                <a:latin typeface="Aptos" panose="02110004020202020204"/>
                <a:ea typeface="Aptos" panose="02110004020202020204"/>
                <a:cs typeface="Times New Roman" panose="02020603050405020304" pitchFamily="18" charset="0"/>
              </a:rPr>
              <a:t>(Bitcoin gets scalability &amp; privacy &amp;</a:t>
            </a:r>
            <a:br>
              <a:rPr lang="en-US" kern="100" dirty="0">
                <a:effectLst/>
                <a:latin typeface="Aptos" panose="02110004020202020204"/>
                <a:ea typeface="Aptos" panose="02110004020202020204"/>
                <a:cs typeface="Times New Roman" panose="02020603050405020304" pitchFamily="18" charset="0"/>
              </a:rPr>
            </a:br>
            <a:r>
              <a:rPr lang="en-US" kern="100" dirty="0">
                <a:effectLst/>
                <a:latin typeface="Aptos" panose="02110004020202020204"/>
                <a:ea typeface="Aptos" panose="02110004020202020204"/>
                <a:cs typeface="Times New Roman" panose="02020603050405020304" pitchFamily="18" charset="0"/>
              </a:rPr>
              <a:t>extensibility &amp; security budget &amp; ossification)</a:t>
            </a:r>
          </a:p>
        </p:txBody>
      </p:sp>
    </p:spTree>
    <p:extLst>
      <p:ext uri="{BB962C8B-B14F-4D97-AF65-F5344CB8AC3E}">
        <p14:creationId xmlns:p14="http://schemas.microsoft.com/office/powerpoint/2010/main" val="111066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9AA0E-3C20-5D59-DE76-79F8ECB621A7}"/>
              </a:ext>
            </a:extLst>
          </p:cNvPr>
          <p:cNvSpPr>
            <a:spLocks noGrp="1"/>
          </p:cNvSpPr>
          <p:nvPr>
            <p:ph type="title"/>
          </p:nvPr>
        </p:nvSpPr>
        <p:spPr>
          <a:xfrm>
            <a:off x="266700" y="122238"/>
            <a:ext cx="10515600" cy="1325563"/>
          </a:xfrm>
        </p:spPr>
        <p:txBody>
          <a:bodyPr/>
          <a:lstStyle/>
          <a:p>
            <a:r>
              <a:rPr lang="en-US" dirty="0"/>
              <a:t>The Alternative Plan</a:t>
            </a:r>
          </a:p>
        </p:txBody>
      </p:sp>
      <p:sp>
        <p:nvSpPr>
          <p:cNvPr id="3" name="Content Placeholder 2">
            <a:extLst>
              <a:ext uri="{FF2B5EF4-FFF2-40B4-BE49-F238E27FC236}">
                <a16:creationId xmlns:a16="http://schemas.microsoft.com/office/drawing/2014/main" id="{EEA5BE6D-EA54-E9F3-5123-F262B7F00376}"/>
              </a:ext>
            </a:extLst>
          </p:cNvPr>
          <p:cNvSpPr>
            <a:spLocks noGrp="1"/>
          </p:cNvSpPr>
          <p:nvPr>
            <p:ph idx="1"/>
          </p:nvPr>
        </p:nvSpPr>
        <p:spPr>
          <a:xfrm>
            <a:off x="895350" y="1352551"/>
            <a:ext cx="9629775" cy="4905376"/>
          </a:xfrm>
        </p:spPr>
        <p:txBody>
          <a:bodyPr>
            <a:normAutofit fontScale="85000" lnSpcReduction="20000"/>
          </a:bodyPr>
          <a:lstStyle/>
          <a:p>
            <a:r>
              <a:rPr lang="en-US" dirty="0"/>
              <a:t>Take the same people, who for years were </a:t>
            </a:r>
            <a:r>
              <a:rPr lang="en-US" i="1" u="sng" dirty="0"/>
              <a:t>overoptimistic</a:t>
            </a:r>
            <a:r>
              <a:rPr lang="en-US" dirty="0"/>
              <a:t> about the viability of Lightning…</a:t>
            </a:r>
          </a:p>
          <a:p>
            <a:r>
              <a:rPr lang="en-US" dirty="0"/>
              <a:t>…give them money, &amp; wait </a:t>
            </a:r>
            <a:r>
              <a:rPr lang="en-US" i="1" u="sng" dirty="0"/>
              <a:t>more years</a:t>
            </a:r>
            <a:r>
              <a:rPr lang="en-US" dirty="0"/>
              <a:t>, for them to finish ARK….</a:t>
            </a:r>
          </a:p>
          <a:p>
            <a:r>
              <a:rPr lang="en-US" dirty="0"/>
              <a:t>…something that is </a:t>
            </a:r>
            <a:r>
              <a:rPr lang="en-US" i="1" u="sng" dirty="0"/>
              <a:t>way worse</a:t>
            </a:r>
            <a:r>
              <a:rPr lang="en-US" dirty="0"/>
              <a:t>, for the user, for no reason (more interactivity requirements, a liquidity rental cost, more complexity)…</a:t>
            </a:r>
          </a:p>
          <a:p>
            <a:r>
              <a:rPr lang="en-US" dirty="0"/>
              <a:t>…something which </a:t>
            </a:r>
            <a:r>
              <a:rPr lang="en-US" i="1" u="sng" dirty="0"/>
              <a:t>may not work at all</a:t>
            </a:r>
            <a:r>
              <a:rPr lang="en-US" dirty="0"/>
              <a:t> (which is very likely, given the track record of LN, </a:t>
            </a:r>
            <a:r>
              <a:rPr lang="en-US" dirty="0" err="1"/>
              <a:t>CoinPool</a:t>
            </a:r>
            <a:r>
              <a:rPr lang="en-US" dirty="0"/>
              <a:t>, channel factories)…</a:t>
            </a:r>
            <a:endParaRPr lang="en-US" i="1" u="sng" dirty="0"/>
          </a:p>
          <a:p>
            <a:r>
              <a:rPr lang="en-US" dirty="0"/>
              <a:t>…such that, even if it did work, miners would get </a:t>
            </a:r>
            <a:r>
              <a:rPr lang="en-US" i="1" u="sng" dirty="0"/>
              <a:t>none of the money</a:t>
            </a:r>
            <a:r>
              <a:rPr lang="en-US" dirty="0"/>
              <a:t> , leading to conflict , eventual vertical integration, and MEV off-the-charts (as miners pursue their self-interest, of fee-collection)…</a:t>
            </a:r>
          </a:p>
          <a:p>
            <a:r>
              <a:rPr lang="en-US" dirty="0"/>
              <a:t>…leading to a total </a:t>
            </a:r>
            <a:r>
              <a:rPr lang="en-US" i="1" u="sng" dirty="0"/>
              <a:t>collapse of the original security model</a:t>
            </a:r>
            <a:r>
              <a:rPr lang="en-US" dirty="0"/>
              <a:t> anyway (which is of course not designed to withstand Miners-as-sole counterparty), making all the tech effort pointless…</a:t>
            </a:r>
          </a:p>
          <a:p>
            <a:r>
              <a:rPr lang="en-US" dirty="0">
                <a:solidFill>
                  <a:schemeClr val="bg1"/>
                </a:solidFill>
              </a:rPr>
              <a:t>…with the added risk that, if it takes too long to implement, then </a:t>
            </a:r>
            <a:r>
              <a:rPr lang="en-US" i="1" u="sng" dirty="0">
                <a:solidFill>
                  <a:schemeClr val="bg1"/>
                </a:solidFill>
              </a:rPr>
              <a:t>the whole Bitcoin project might be replaced</a:t>
            </a:r>
            <a:r>
              <a:rPr lang="en-US" dirty="0">
                <a:solidFill>
                  <a:schemeClr val="bg1"/>
                </a:solidFill>
              </a:rPr>
              <a:t> , and fail and go to zero.</a:t>
            </a:r>
            <a:endParaRPr lang="en-US" i="1" u="sng" dirty="0">
              <a:solidFill>
                <a:schemeClr val="bg1"/>
              </a:solidFill>
            </a:endParaRPr>
          </a:p>
        </p:txBody>
      </p:sp>
    </p:spTree>
    <p:extLst>
      <p:ext uri="{BB962C8B-B14F-4D97-AF65-F5344CB8AC3E}">
        <p14:creationId xmlns:p14="http://schemas.microsoft.com/office/powerpoint/2010/main" val="370615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6087-6904-AE7B-9D16-CC468CCA1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C2314-60EB-8C80-949A-5A2559C35A2C}"/>
              </a:ext>
            </a:extLst>
          </p:cNvPr>
          <p:cNvSpPr>
            <a:spLocks noGrp="1"/>
          </p:cNvSpPr>
          <p:nvPr>
            <p:ph type="title"/>
          </p:nvPr>
        </p:nvSpPr>
        <p:spPr>
          <a:xfrm>
            <a:off x="266700" y="122238"/>
            <a:ext cx="10515600" cy="1325563"/>
          </a:xfrm>
        </p:spPr>
        <p:txBody>
          <a:bodyPr/>
          <a:lstStyle/>
          <a:p>
            <a:r>
              <a:rPr lang="en-US" dirty="0"/>
              <a:t>The Alternative Plan</a:t>
            </a:r>
          </a:p>
        </p:txBody>
      </p:sp>
      <p:sp>
        <p:nvSpPr>
          <p:cNvPr id="3" name="Content Placeholder 2">
            <a:extLst>
              <a:ext uri="{FF2B5EF4-FFF2-40B4-BE49-F238E27FC236}">
                <a16:creationId xmlns:a16="http://schemas.microsoft.com/office/drawing/2014/main" id="{CB3C3CCE-27B6-3355-4A16-6D311C64A9F8}"/>
              </a:ext>
            </a:extLst>
          </p:cNvPr>
          <p:cNvSpPr>
            <a:spLocks noGrp="1"/>
          </p:cNvSpPr>
          <p:nvPr>
            <p:ph idx="1"/>
          </p:nvPr>
        </p:nvSpPr>
        <p:spPr>
          <a:xfrm>
            <a:off x="895350" y="1352551"/>
            <a:ext cx="9629775" cy="4905376"/>
          </a:xfrm>
        </p:spPr>
        <p:txBody>
          <a:bodyPr>
            <a:normAutofit fontScale="85000" lnSpcReduction="20000"/>
          </a:bodyPr>
          <a:lstStyle/>
          <a:p>
            <a:r>
              <a:rPr lang="en-US" dirty="0"/>
              <a:t>Take the same people, who for years were </a:t>
            </a:r>
            <a:r>
              <a:rPr lang="en-US" i="1" u="sng" dirty="0"/>
              <a:t>overoptimistic</a:t>
            </a:r>
            <a:r>
              <a:rPr lang="en-US" dirty="0"/>
              <a:t> about the viability of Lightning…</a:t>
            </a:r>
          </a:p>
          <a:p>
            <a:r>
              <a:rPr lang="en-US" dirty="0"/>
              <a:t>…give them money, &amp; wait </a:t>
            </a:r>
            <a:r>
              <a:rPr lang="en-US" i="1" u="sng" dirty="0"/>
              <a:t>more years</a:t>
            </a:r>
            <a:r>
              <a:rPr lang="en-US" dirty="0"/>
              <a:t>, for them to finish ARK….</a:t>
            </a:r>
          </a:p>
          <a:p>
            <a:r>
              <a:rPr lang="en-US" dirty="0"/>
              <a:t>…something that is </a:t>
            </a:r>
            <a:r>
              <a:rPr lang="en-US" i="1" u="sng" dirty="0"/>
              <a:t>way worse</a:t>
            </a:r>
            <a:r>
              <a:rPr lang="en-US" dirty="0"/>
              <a:t>, for the user, for no reason (more interactivity requirements, a liquidity rental cost, more complexity)…</a:t>
            </a:r>
          </a:p>
          <a:p>
            <a:r>
              <a:rPr lang="en-US" dirty="0"/>
              <a:t>…something which </a:t>
            </a:r>
            <a:r>
              <a:rPr lang="en-US" i="1" u="sng" dirty="0"/>
              <a:t>may not work at all</a:t>
            </a:r>
            <a:r>
              <a:rPr lang="en-US" dirty="0"/>
              <a:t> (which is very likely, given the track record of LN, </a:t>
            </a:r>
            <a:r>
              <a:rPr lang="en-US" dirty="0" err="1"/>
              <a:t>CoinPool</a:t>
            </a:r>
            <a:r>
              <a:rPr lang="en-US" dirty="0"/>
              <a:t>, channel factories)…</a:t>
            </a:r>
            <a:endParaRPr lang="en-US" i="1" u="sng" dirty="0"/>
          </a:p>
          <a:p>
            <a:r>
              <a:rPr lang="en-US" dirty="0"/>
              <a:t>…such that, even if it did work, miners would get </a:t>
            </a:r>
            <a:r>
              <a:rPr lang="en-US" i="1" u="sng" dirty="0"/>
              <a:t>none of the money</a:t>
            </a:r>
            <a:r>
              <a:rPr lang="en-US" dirty="0"/>
              <a:t> , leading to conflict , eventual vertical integration, and MEV off-the-charts (as miners pursue their self-interest, of fee-collection)…</a:t>
            </a:r>
          </a:p>
          <a:p>
            <a:r>
              <a:rPr lang="en-US" dirty="0"/>
              <a:t>…leading to a total </a:t>
            </a:r>
            <a:r>
              <a:rPr lang="en-US" i="1" u="sng" dirty="0"/>
              <a:t>collapse of the original security model</a:t>
            </a:r>
            <a:r>
              <a:rPr lang="en-US" dirty="0"/>
              <a:t> anyway (which is of course not designed to withstand Miners-as-sole counterparty), making all the tech effort pointless…</a:t>
            </a:r>
          </a:p>
          <a:p>
            <a:r>
              <a:rPr lang="en-US" dirty="0"/>
              <a:t>…with the added risk that, if it takes too long to implement, then </a:t>
            </a:r>
            <a:r>
              <a:rPr lang="en-US" i="1" u="sng" dirty="0"/>
              <a:t>the whole Bitcoin project might be replaced</a:t>
            </a:r>
            <a:r>
              <a:rPr lang="en-US" dirty="0"/>
              <a:t> , and fail and go to zero.</a:t>
            </a:r>
            <a:endParaRPr lang="en-US" i="1" u="sng" dirty="0"/>
          </a:p>
        </p:txBody>
      </p:sp>
    </p:spTree>
    <p:extLst>
      <p:ext uri="{BB962C8B-B14F-4D97-AF65-F5344CB8AC3E}">
        <p14:creationId xmlns:p14="http://schemas.microsoft.com/office/powerpoint/2010/main" val="2940351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2202B-88BB-AA60-7DF5-4A95E850599B}"/>
              </a:ext>
            </a:extLst>
          </p:cNvPr>
          <p:cNvSpPr>
            <a:spLocks noGrp="1"/>
          </p:cNvSpPr>
          <p:nvPr>
            <p:ph type="title"/>
          </p:nvPr>
        </p:nvSpPr>
        <p:spPr>
          <a:xfrm>
            <a:off x="2562225" y="2793206"/>
            <a:ext cx="7067550" cy="1271588"/>
          </a:xfrm>
        </p:spPr>
        <p:txBody>
          <a:bodyPr>
            <a:normAutofit/>
          </a:bodyPr>
          <a:lstStyle/>
          <a:p>
            <a:pPr algn="ctr"/>
            <a:r>
              <a:rPr lang="en-US" sz="6600" dirty="0"/>
              <a:t>More About CUSF</a:t>
            </a:r>
          </a:p>
        </p:txBody>
      </p:sp>
    </p:spTree>
    <p:extLst>
      <p:ext uri="{BB962C8B-B14F-4D97-AF65-F5344CB8AC3E}">
        <p14:creationId xmlns:p14="http://schemas.microsoft.com/office/powerpoint/2010/main" val="1092895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FBB89-A48F-23A9-1E36-7BA149ACA6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57FE07-3EE3-E98B-D96B-DDF35D26341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3A055B1-7D9C-3ACB-020E-AD12B2AD2BBB}"/>
              </a:ext>
            </a:extLst>
          </p:cNvPr>
          <p:cNvPicPr>
            <a:picLocks noChangeAspect="1"/>
          </p:cNvPicPr>
          <p:nvPr/>
        </p:nvPicPr>
        <p:blipFill>
          <a:blip r:embed="rId2"/>
          <a:stretch>
            <a:fillRect/>
          </a:stretch>
        </p:blipFill>
        <p:spPr>
          <a:xfrm>
            <a:off x="1310457" y="1045345"/>
            <a:ext cx="10043343" cy="4639783"/>
          </a:xfrm>
          <a:prstGeom prst="rect">
            <a:avLst/>
          </a:prstGeom>
        </p:spPr>
      </p:pic>
    </p:spTree>
    <p:extLst>
      <p:ext uri="{BB962C8B-B14F-4D97-AF65-F5344CB8AC3E}">
        <p14:creationId xmlns:p14="http://schemas.microsoft.com/office/powerpoint/2010/main" val="450426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9C6F1-B9F9-D1E8-2833-972F7EC662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E33914-B4E6-4A30-2EA7-9630EB35E2E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0863686-E8B5-8BC0-5011-5F96CCBAE1A6}"/>
              </a:ext>
            </a:extLst>
          </p:cNvPr>
          <p:cNvPicPr>
            <a:picLocks noChangeAspect="1"/>
          </p:cNvPicPr>
          <p:nvPr/>
        </p:nvPicPr>
        <p:blipFill>
          <a:blip r:embed="rId2"/>
          <a:stretch>
            <a:fillRect/>
          </a:stretch>
        </p:blipFill>
        <p:spPr>
          <a:xfrm>
            <a:off x="1348953" y="599070"/>
            <a:ext cx="9915550" cy="5990059"/>
          </a:xfrm>
          <a:prstGeom prst="rect">
            <a:avLst/>
          </a:prstGeom>
        </p:spPr>
      </p:pic>
      <p:pic>
        <p:nvPicPr>
          <p:cNvPr id="4" name="Picture 3">
            <a:extLst>
              <a:ext uri="{FF2B5EF4-FFF2-40B4-BE49-F238E27FC236}">
                <a16:creationId xmlns:a16="http://schemas.microsoft.com/office/drawing/2014/main" id="{E83911B8-AA05-7DBD-61B8-17DA86D4EC22}"/>
              </a:ext>
            </a:extLst>
          </p:cNvPr>
          <p:cNvPicPr>
            <a:picLocks noChangeAspect="1"/>
          </p:cNvPicPr>
          <p:nvPr/>
        </p:nvPicPr>
        <p:blipFill>
          <a:blip r:embed="rId3"/>
          <a:srcRect b="90921"/>
          <a:stretch/>
        </p:blipFill>
        <p:spPr>
          <a:xfrm>
            <a:off x="1402896" y="377867"/>
            <a:ext cx="9915550" cy="415883"/>
          </a:xfrm>
          <a:prstGeom prst="rect">
            <a:avLst/>
          </a:prstGeom>
        </p:spPr>
      </p:pic>
    </p:spTree>
    <p:extLst>
      <p:ext uri="{BB962C8B-B14F-4D97-AF65-F5344CB8AC3E}">
        <p14:creationId xmlns:p14="http://schemas.microsoft.com/office/powerpoint/2010/main" val="1573036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900B5B-FB91-72B2-77F1-634279EC1CF2}"/>
              </a:ext>
            </a:extLst>
          </p:cNvPr>
          <p:cNvPicPr>
            <a:picLocks noChangeAspect="1"/>
          </p:cNvPicPr>
          <p:nvPr/>
        </p:nvPicPr>
        <p:blipFill>
          <a:blip r:embed="rId2"/>
          <a:stretch>
            <a:fillRect/>
          </a:stretch>
        </p:blipFill>
        <p:spPr>
          <a:xfrm>
            <a:off x="1399948" y="719115"/>
            <a:ext cx="9176204" cy="5849967"/>
          </a:xfrm>
          <a:prstGeom prst="rect">
            <a:avLst/>
          </a:prstGeom>
        </p:spPr>
      </p:pic>
      <p:pic>
        <p:nvPicPr>
          <p:cNvPr id="8" name="Picture 7">
            <a:extLst>
              <a:ext uri="{FF2B5EF4-FFF2-40B4-BE49-F238E27FC236}">
                <a16:creationId xmlns:a16="http://schemas.microsoft.com/office/drawing/2014/main" id="{DAB724CA-D0C1-9693-09AC-E4BBC151F05C}"/>
              </a:ext>
            </a:extLst>
          </p:cNvPr>
          <p:cNvPicPr>
            <a:picLocks noChangeAspect="1"/>
          </p:cNvPicPr>
          <p:nvPr/>
        </p:nvPicPr>
        <p:blipFill>
          <a:blip r:embed="rId3"/>
          <a:srcRect b="90921"/>
          <a:stretch/>
        </p:blipFill>
        <p:spPr>
          <a:xfrm>
            <a:off x="1333046" y="377825"/>
            <a:ext cx="9306606" cy="390342"/>
          </a:xfrm>
          <a:prstGeom prst="rect">
            <a:avLst/>
          </a:prstGeom>
        </p:spPr>
      </p:pic>
    </p:spTree>
    <p:extLst>
      <p:ext uri="{BB962C8B-B14F-4D97-AF65-F5344CB8AC3E}">
        <p14:creationId xmlns:p14="http://schemas.microsoft.com/office/powerpoint/2010/main" val="4025977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8A3CD-A34B-5341-A66A-D8A0CB055C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4FF00C-7FB1-5BDC-BFDA-F201577FDF06}"/>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7A23A24D-E06D-59E4-F20E-BF4A33F2CCF9}"/>
              </a:ext>
            </a:extLst>
          </p:cNvPr>
          <p:cNvPicPr>
            <a:picLocks noChangeAspect="1"/>
          </p:cNvPicPr>
          <p:nvPr/>
        </p:nvPicPr>
        <p:blipFill>
          <a:blip r:embed="rId2"/>
          <a:stretch>
            <a:fillRect/>
          </a:stretch>
        </p:blipFill>
        <p:spPr>
          <a:xfrm>
            <a:off x="1549385" y="681037"/>
            <a:ext cx="9093229" cy="6005685"/>
          </a:xfrm>
          <a:prstGeom prst="rect">
            <a:avLst/>
          </a:prstGeom>
        </p:spPr>
      </p:pic>
      <p:pic>
        <p:nvPicPr>
          <p:cNvPr id="6" name="Picture 5">
            <a:extLst>
              <a:ext uri="{FF2B5EF4-FFF2-40B4-BE49-F238E27FC236}">
                <a16:creationId xmlns:a16="http://schemas.microsoft.com/office/drawing/2014/main" id="{78E3CE86-9D97-5745-7060-A65DF2654968}"/>
              </a:ext>
            </a:extLst>
          </p:cNvPr>
          <p:cNvPicPr>
            <a:picLocks noChangeAspect="1"/>
          </p:cNvPicPr>
          <p:nvPr/>
        </p:nvPicPr>
        <p:blipFill>
          <a:blip r:embed="rId3"/>
          <a:srcRect b="90921"/>
          <a:stretch/>
        </p:blipFill>
        <p:spPr>
          <a:xfrm>
            <a:off x="1434646" y="377825"/>
            <a:ext cx="9306606" cy="390342"/>
          </a:xfrm>
          <a:prstGeom prst="rect">
            <a:avLst/>
          </a:prstGeom>
        </p:spPr>
      </p:pic>
    </p:spTree>
    <p:extLst>
      <p:ext uri="{BB962C8B-B14F-4D97-AF65-F5344CB8AC3E}">
        <p14:creationId xmlns:p14="http://schemas.microsoft.com/office/powerpoint/2010/main" val="1945281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640BB-C1F4-4373-1969-9F0B54D75A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413673-007F-837C-ABEA-B31B31823E3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2793060-E2EC-82B6-0F94-54E1F30A6581}"/>
              </a:ext>
            </a:extLst>
          </p:cNvPr>
          <p:cNvPicPr>
            <a:picLocks noChangeAspect="1"/>
          </p:cNvPicPr>
          <p:nvPr/>
        </p:nvPicPr>
        <p:blipFill>
          <a:blip r:embed="rId2"/>
          <a:stretch>
            <a:fillRect/>
          </a:stretch>
        </p:blipFill>
        <p:spPr>
          <a:xfrm>
            <a:off x="667514" y="1127124"/>
            <a:ext cx="11105322" cy="5153025"/>
          </a:xfrm>
          <a:prstGeom prst="rect">
            <a:avLst/>
          </a:prstGeom>
        </p:spPr>
      </p:pic>
      <p:pic>
        <p:nvPicPr>
          <p:cNvPr id="6" name="Picture 5">
            <a:extLst>
              <a:ext uri="{FF2B5EF4-FFF2-40B4-BE49-F238E27FC236}">
                <a16:creationId xmlns:a16="http://schemas.microsoft.com/office/drawing/2014/main" id="{C92E632D-3F20-86D0-60BF-95BCA850FFE9}"/>
              </a:ext>
            </a:extLst>
          </p:cNvPr>
          <p:cNvPicPr>
            <a:picLocks noChangeAspect="1"/>
          </p:cNvPicPr>
          <p:nvPr/>
        </p:nvPicPr>
        <p:blipFill>
          <a:blip r:embed="rId3"/>
          <a:srcRect b="90921"/>
          <a:stretch/>
        </p:blipFill>
        <p:spPr>
          <a:xfrm>
            <a:off x="297641" y="681037"/>
            <a:ext cx="11392694" cy="477838"/>
          </a:xfrm>
          <a:prstGeom prst="rect">
            <a:avLst/>
          </a:prstGeom>
        </p:spPr>
      </p:pic>
    </p:spTree>
    <p:extLst>
      <p:ext uri="{BB962C8B-B14F-4D97-AF65-F5344CB8AC3E}">
        <p14:creationId xmlns:p14="http://schemas.microsoft.com/office/powerpoint/2010/main" val="2096120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960-5DD4-610D-EDFD-7ED5BDCDE019}"/>
              </a:ext>
            </a:extLst>
          </p:cNvPr>
          <p:cNvSpPr>
            <a:spLocks noGrp="1"/>
          </p:cNvSpPr>
          <p:nvPr>
            <p:ph type="title"/>
          </p:nvPr>
        </p:nvSpPr>
        <p:spPr>
          <a:xfrm>
            <a:off x="3783806" y="2513012"/>
            <a:ext cx="4624388" cy="2011363"/>
          </a:xfrm>
        </p:spPr>
        <p:txBody>
          <a:bodyPr>
            <a:normAutofit fontScale="90000"/>
          </a:bodyPr>
          <a:lstStyle/>
          <a:p>
            <a:pPr algn="ctr"/>
            <a:r>
              <a:rPr lang="en-US" sz="8800" dirty="0"/>
              <a:t>Yet More Slides</a:t>
            </a:r>
          </a:p>
        </p:txBody>
      </p:sp>
    </p:spTree>
    <p:extLst>
      <p:ext uri="{BB962C8B-B14F-4D97-AF65-F5344CB8AC3E}">
        <p14:creationId xmlns:p14="http://schemas.microsoft.com/office/powerpoint/2010/main" val="298072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DEF8-A813-7C5D-4CCA-F9EEC10EFE46}"/>
              </a:ext>
            </a:extLst>
          </p:cNvPr>
          <p:cNvSpPr>
            <a:spLocks noGrp="1"/>
          </p:cNvSpPr>
          <p:nvPr>
            <p:ph type="title"/>
          </p:nvPr>
        </p:nvSpPr>
        <p:spPr>
          <a:xfrm>
            <a:off x="457200" y="125412"/>
            <a:ext cx="5486400" cy="1111249"/>
          </a:xfrm>
        </p:spPr>
        <p:txBody>
          <a:bodyPr/>
          <a:lstStyle/>
          <a:p>
            <a:r>
              <a:rPr lang="en-US" dirty="0"/>
              <a:t>Conflicts of Interest</a:t>
            </a:r>
          </a:p>
        </p:txBody>
      </p:sp>
      <p:sp>
        <p:nvSpPr>
          <p:cNvPr id="3" name="Content Placeholder 2">
            <a:extLst>
              <a:ext uri="{FF2B5EF4-FFF2-40B4-BE49-F238E27FC236}">
                <a16:creationId xmlns:a16="http://schemas.microsoft.com/office/drawing/2014/main" id="{0E7F1307-1A52-3C56-9963-E5AD892363C4}"/>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8F082BC7-2E94-047E-CAAB-97C618FB5237}"/>
              </a:ext>
            </a:extLst>
          </p:cNvPr>
          <p:cNvGraphicFramePr>
            <a:graphicFrameLocks noGrp="1"/>
          </p:cNvGraphicFramePr>
          <p:nvPr/>
        </p:nvGraphicFramePr>
        <p:xfrm>
          <a:off x="257174" y="1322563"/>
          <a:ext cx="11677651" cy="5208412"/>
        </p:xfrm>
        <a:graphic>
          <a:graphicData uri="http://schemas.openxmlformats.org/drawingml/2006/table">
            <a:tbl>
              <a:tblPr firstRow="1" firstCol="1" bandRow="1">
                <a:tableStyleId>{5C22544A-7EE6-4342-B048-85BDC9FD1C3A}</a:tableStyleId>
              </a:tblPr>
              <a:tblGrid>
                <a:gridCol w="1265910">
                  <a:extLst>
                    <a:ext uri="{9D8B030D-6E8A-4147-A177-3AD203B41FA5}">
                      <a16:colId xmlns:a16="http://schemas.microsoft.com/office/drawing/2014/main" val="3611538327"/>
                    </a:ext>
                  </a:extLst>
                </a:gridCol>
                <a:gridCol w="848640">
                  <a:extLst>
                    <a:ext uri="{9D8B030D-6E8A-4147-A177-3AD203B41FA5}">
                      <a16:colId xmlns:a16="http://schemas.microsoft.com/office/drawing/2014/main" val="1691448149"/>
                    </a:ext>
                  </a:extLst>
                </a:gridCol>
                <a:gridCol w="2428875">
                  <a:extLst>
                    <a:ext uri="{9D8B030D-6E8A-4147-A177-3AD203B41FA5}">
                      <a16:colId xmlns:a16="http://schemas.microsoft.com/office/drawing/2014/main" val="1103767930"/>
                    </a:ext>
                  </a:extLst>
                </a:gridCol>
                <a:gridCol w="3638550">
                  <a:extLst>
                    <a:ext uri="{9D8B030D-6E8A-4147-A177-3AD203B41FA5}">
                      <a16:colId xmlns:a16="http://schemas.microsoft.com/office/drawing/2014/main" val="1070017692"/>
                    </a:ext>
                  </a:extLst>
                </a:gridCol>
                <a:gridCol w="3495676">
                  <a:extLst>
                    <a:ext uri="{9D8B030D-6E8A-4147-A177-3AD203B41FA5}">
                      <a16:colId xmlns:a16="http://schemas.microsoft.com/office/drawing/2014/main" val="1694837496"/>
                    </a:ext>
                  </a:extLst>
                </a:gridCol>
              </a:tblGrid>
              <a:tr h="322363">
                <a:tc>
                  <a:txBody>
                    <a:bodyPr/>
                    <a:lstStyle/>
                    <a:p>
                      <a:endParaRPr lang="en-US" sz="1800"/>
                    </a:p>
                  </a:txBody>
                  <a:tcPr/>
                </a:tc>
                <a:tc>
                  <a:txBody>
                    <a:bodyPr/>
                    <a:lstStyle/>
                    <a:p>
                      <a:pPr algn="ctr"/>
                      <a:r>
                        <a:rPr lang="en-US" sz="1800" dirty="0"/>
                        <a:t>Miners</a:t>
                      </a:r>
                    </a:p>
                  </a:txBody>
                  <a:tcPr/>
                </a:tc>
                <a:tc>
                  <a:txBody>
                    <a:bodyPr/>
                    <a:lstStyle/>
                    <a:p>
                      <a:pPr algn="ctr"/>
                      <a:r>
                        <a:rPr lang="en-US" sz="1800" dirty="0"/>
                        <a:t>Investors</a:t>
                      </a:r>
                    </a:p>
                  </a:txBody>
                  <a:tcPr/>
                </a:tc>
                <a:tc>
                  <a:txBody>
                    <a:bodyPr/>
                    <a:lstStyle/>
                    <a:p>
                      <a:pPr algn="ctr"/>
                      <a:r>
                        <a:rPr lang="en-US" sz="1800" dirty="0"/>
                        <a:t>Developers</a:t>
                      </a:r>
                    </a:p>
                  </a:txBody>
                  <a:tcPr/>
                </a:tc>
                <a:tc>
                  <a:txBody>
                    <a:bodyPr/>
                    <a:lstStyle/>
                    <a:p>
                      <a:pPr algn="ctr"/>
                      <a:r>
                        <a:rPr lang="en-US" sz="1800" dirty="0"/>
                        <a:t>Users</a:t>
                      </a:r>
                    </a:p>
                  </a:txBody>
                  <a:tcPr/>
                </a:tc>
                <a:extLst>
                  <a:ext uri="{0D108BD9-81ED-4DB2-BD59-A6C34878D82A}">
                    <a16:rowId xmlns:a16="http://schemas.microsoft.com/office/drawing/2014/main" val="2276147635"/>
                  </a:ext>
                </a:extLst>
              </a:tr>
              <a:tr h="1466601">
                <a:tc>
                  <a:txBody>
                    <a:bodyPr/>
                    <a:lstStyle/>
                    <a:p>
                      <a:r>
                        <a:rPr lang="en-US" sz="1800" dirty="0"/>
                        <a:t>Miners</a:t>
                      </a:r>
                    </a:p>
                  </a:txBody>
                  <a:tcPr/>
                </a:tc>
                <a:tc>
                  <a:txBody>
                    <a:bodyPr/>
                    <a:lstStyle/>
                    <a:p>
                      <a:pPr algn="ctr"/>
                      <a:endParaRPr lang="en-US" sz="1800" dirty="0"/>
                    </a:p>
                  </a:txBody>
                  <a:tcPr/>
                </a:tc>
                <a:tc>
                  <a:txBody>
                    <a:bodyPr/>
                    <a:lstStyle/>
                    <a:p>
                      <a:pPr algn="ctr"/>
                      <a:r>
                        <a:rPr lang="en-US" sz="1800" b="1" dirty="0"/>
                        <a:t>Liquidity-vs-Illiquidity</a:t>
                      </a:r>
                      <a:br>
                        <a:rPr lang="en-US" sz="1800" b="1" dirty="0"/>
                      </a:br>
                      <a:br>
                        <a:rPr lang="en-US" sz="1800" b="1" dirty="0"/>
                      </a:br>
                      <a:r>
                        <a:rPr lang="en-US" sz="1800" b="1" dirty="0"/>
                        <a:t>Hype-vs-Substance</a:t>
                      </a:r>
                      <a:br>
                        <a:rPr lang="en-US" sz="1800" b="1" dirty="0"/>
                      </a:br>
                      <a:br>
                        <a:rPr lang="en-US" sz="1800" b="1" dirty="0"/>
                      </a:br>
                      <a:r>
                        <a:rPr lang="en-US" sz="1800" b="1" dirty="0"/>
                        <a:t>Volatility-vs-Stability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Non-mined L2s (LN, ARK, </a:t>
                      </a:r>
                      <a:r>
                        <a:rPr lang="en-US" sz="1800" b="1" dirty="0" err="1"/>
                        <a:t>BitVM</a:t>
                      </a:r>
                      <a:r>
                        <a:rPr lang="en-US" sz="1800" b="1" dirty="0"/>
                        <a:t>, Liquid) / “middlemen schemes” (taking fees from miners).</a:t>
                      </a:r>
                      <a:br>
                        <a:rPr lang="en-US" sz="1800" b="1" dirty="0"/>
                      </a:br>
                      <a:r>
                        <a:rPr lang="en-US" sz="1800" b="0" dirty="0"/>
                        <a:t>vs</a:t>
                      </a:r>
                      <a:br>
                        <a:rPr lang="en-US" sz="1800" b="1" dirty="0"/>
                      </a:br>
                      <a:r>
                        <a:rPr lang="en-US" sz="1800" b="1" dirty="0"/>
                        <a:t>Merged Mining</a:t>
                      </a:r>
                    </a:p>
                  </a:txBody>
                  <a:tcPr/>
                </a:tc>
                <a:tc>
                  <a:txBody>
                    <a:bodyPr/>
                    <a:lstStyle/>
                    <a:p>
                      <a:pPr algn="ctr"/>
                      <a:r>
                        <a:rPr lang="en-US" sz="1800" b="1" dirty="0"/>
                        <a:t>High Total Fees</a:t>
                      </a:r>
                      <a:br>
                        <a:rPr lang="en-US" sz="1800" b="1" dirty="0"/>
                      </a:br>
                      <a:r>
                        <a:rPr lang="en-US" sz="1800" b="0" dirty="0"/>
                        <a:t>vs</a:t>
                      </a:r>
                      <a:br>
                        <a:rPr lang="en-US" sz="1800" b="1" dirty="0"/>
                      </a:br>
                      <a:r>
                        <a:rPr lang="en-US" sz="1800" b="1" dirty="0"/>
                        <a:t>Low $/txn </a:t>
                      </a:r>
                      <a:r>
                        <a:rPr lang="en-US" sz="1800" b="1" dirty="0" err="1"/>
                        <a:t>feerate</a:t>
                      </a:r>
                      <a:endParaRPr lang="en-US" sz="1800" b="1" dirty="0"/>
                    </a:p>
                  </a:txBody>
                  <a:tcPr/>
                </a:tc>
                <a:extLst>
                  <a:ext uri="{0D108BD9-81ED-4DB2-BD59-A6C34878D82A}">
                    <a16:rowId xmlns:a16="http://schemas.microsoft.com/office/drawing/2014/main" val="3130704117"/>
                  </a:ext>
                </a:extLst>
              </a:tr>
              <a:tr h="1309465">
                <a:tc>
                  <a:txBody>
                    <a:bodyPr/>
                    <a:lstStyle/>
                    <a:p>
                      <a:r>
                        <a:rPr lang="en-US" sz="1800" dirty="0"/>
                        <a:t>Investors</a:t>
                      </a:r>
                    </a:p>
                  </a:txBody>
                  <a:tcPr/>
                </a:tc>
                <a:tc>
                  <a:txBody>
                    <a:bodyPr/>
                    <a:lstStyle/>
                    <a:p>
                      <a:pPr algn="ctr"/>
                      <a:endParaRPr lang="en-US" sz="1800" dirty="0"/>
                    </a:p>
                  </a:txBody>
                  <a:tcPr/>
                </a:tc>
                <a:tc>
                  <a:txBody>
                    <a:bodyPr/>
                    <a:lstStyle/>
                    <a:p>
                      <a:pPr algn="ctr"/>
                      <a:r>
                        <a:rPr lang="en-US" sz="1800"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Developer “Pet Project” Lock-In, Monopolist Guilds,</a:t>
                      </a:r>
                      <a:br>
                        <a:rPr lang="en-US" sz="1800" b="1" dirty="0"/>
                      </a:br>
                      <a:r>
                        <a:rPr lang="en-US" sz="1800" b="0" dirty="0"/>
                        <a:t>vs</a:t>
                      </a:r>
                      <a:br>
                        <a:rPr lang="en-US" sz="1800" b="1" dirty="0"/>
                      </a:br>
                      <a:r>
                        <a:rPr lang="en-US" sz="1800" b="1" dirty="0"/>
                        <a:t>Improving Coin Competitiveness</a:t>
                      </a:r>
                    </a:p>
                  </a:txBody>
                  <a:tcPr/>
                </a:tc>
                <a:tc>
                  <a:txBody>
                    <a:bodyPr/>
                    <a:lstStyle/>
                    <a:p>
                      <a:pPr algn="ctr"/>
                      <a:r>
                        <a:rPr lang="en-US" sz="1800" b="1" dirty="0"/>
                        <a:t>Number Go Up</a:t>
                      </a:r>
                      <a:br>
                        <a:rPr lang="en-US" sz="1800" b="1" dirty="0"/>
                      </a:br>
                      <a:r>
                        <a:rPr lang="en-US" sz="1800" b="0" dirty="0"/>
                        <a:t>vs</a:t>
                      </a:r>
                      <a:br>
                        <a:rPr lang="en-US" sz="1800" b="1" dirty="0"/>
                      </a:br>
                      <a:r>
                        <a:rPr lang="en-US" sz="1800" b="1" dirty="0"/>
                        <a:t>Day to Day Usage</a:t>
                      </a:r>
                    </a:p>
                  </a:txBody>
                  <a:tcPr/>
                </a:tc>
                <a:extLst>
                  <a:ext uri="{0D108BD9-81ED-4DB2-BD59-A6C34878D82A}">
                    <a16:rowId xmlns:a16="http://schemas.microsoft.com/office/drawing/2014/main" val="501459908"/>
                  </a:ext>
                </a:extLst>
              </a:tr>
              <a:tr h="1302816">
                <a:tc>
                  <a:txBody>
                    <a:bodyPr/>
                    <a:lstStyle/>
                    <a:p>
                      <a:r>
                        <a:rPr lang="en-US" sz="1800" dirty="0"/>
                        <a:t>Developers</a:t>
                      </a:r>
                    </a:p>
                  </a:txBody>
                  <a:tcPr/>
                </a:tc>
                <a:tc>
                  <a:txBody>
                    <a:bodyPr/>
                    <a:lstStyle/>
                    <a:p>
                      <a:pPr algn="ctr"/>
                      <a:endParaRPr lang="en-US" sz="1800" dirty="0"/>
                    </a:p>
                  </a:txBody>
                  <a:tcPr/>
                </a:tc>
                <a:tc>
                  <a:txBody>
                    <a:bodyPr/>
                    <a:lstStyle/>
                    <a:p>
                      <a:pPr algn="ctr"/>
                      <a:endParaRPr lang="en-US" sz="1800" b="1" dirty="0"/>
                    </a:p>
                  </a:txBody>
                  <a:tcPr/>
                </a:tc>
                <a:tc>
                  <a:txBody>
                    <a:bodyPr/>
                    <a:lstStyle/>
                    <a:p>
                      <a:pPr algn="ctr"/>
                      <a:r>
                        <a:rPr lang="en-US" sz="1800" b="1" dirty="0"/>
                        <a:t>-</a:t>
                      </a:r>
                    </a:p>
                  </a:txBody>
                  <a:tcPr/>
                </a:tc>
                <a:tc>
                  <a:txBody>
                    <a:bodyPr/>
                    <a:lstStyle/>
                    <a:p>
                      <a:pPr algn="ctr"/>
                      <a:r>
                        <a:rPr lang="en-US" sz="1800" b="1" dirty="0"/>
                        <a:t>Complex Impressive Whitepapers, Backends</a:t>
                      </a:r>
                      <a:br>
                        <a:rPr lang="en-US" sz="1800" b="1" dirty="0"/>
                      </a:br>
                      <a:r>
                        <a:rPr lang="en-US" sz="1800" b="0" dirty="0"/>
                        <a:t>vs</a:t>
                      </a:r>
                      <a:br>
                        <a:rPr lang="en-US" sz="1800" b="1" dirty="0"/>
                      </a:br>
                      <a:r>
                        <a:rPr lang="en-US" sz="1800" b="1" dirty="0"/>
                        <a:t>Great UX, Nice Features, Frontends</a:t>
                      </a:r>
                    </a:p>
                  </a:txBody>
                  <a:tcPr/>
                </a:tc>
                <a:extLst>
                  <a:ext uri="{0D108BD9-81ED-4DB2-BD59-A6C34878D82A}">
                    <a16:rowId xmlns:a16="http://schemas.microsoft.com/office/drawing/2014/main" val="4051276595"/>
                  </a:ext>
                </a:extLst>
              </a:tr>
              <a:tr h="763770">
                <a:tc>
                  <a:txBody>
                    <a:bodyPr/>
                    <a:lstStyle/>
                    <a:p>
                      <a:r>
                        <a:rPr lang="en-US" sz="1800" dirty="0"/>
                        <a:t>Users</a:t>
                      </a:r>
                    </a:p>
                  </a:txBody>
                  <a:tcPr/>
                </a:tc>
                <a:tc>
                  <a:txBody>
                    <a:bodyPr/>
                    <a:lstStyle/>
                    <a:p>
                      <a:pPr algn="ctr"/>
                      <a:endParaRPr lang="en-US" sz="1800" dirty="0"/>
                    </a:p>
                  </a:txBody>
                  <a:tcPr/>
                </a:tc>
                <a:tc>
                  <a:txBody>
                    <a:bodyPr/>
                    <a:lstStyle/>
                    <a:p>
                      <a:pPr algn="ctr"/>
                      <a:endParaRPr lang="en-US" sz="1800" b="1" dirty="0"/>
                    </a:p>
                  </a:txBody>
                  <a:tcPr/>
                </a:tc>
                <a:tc>
                  <a:txBody>
                    <a:bodyPr/>
                    <a:lstStyle/>
                    <a:p>
                      <a:pPr algn="ctr"/>
                      <a:endParaRPr lang="en-US" sz="1800" b="1" dirty="0"/>
                    </a:p>
                  </a:txBody>
                  <a:tcPr/>
                </a:tc>
                <a:tc>
                  <a:txBody>
                    <a:bodyPr/>
                    <a:lstStyle/>
                    <a:p>
                      <a:pPr algn="ctr"/>
                      <a:endParaRPr lang="en-US" sz="1800" b="1" dirty="0"/>
                    </a:p>
                  </a:txBody>
                  <a:tcPr/>
                </a:tc>
                <a:extLst>
                  <a:ext uri="{0D108BD9-81ED-4DB2-BD59-A6C34878D82A}">
                    <a16:rowId xmlns:a16="http://schemas.microsoft.com/office/drawing/2014/main" val="3893862163"/>
                  </a:ext>
                </a:extLst>
              </a:tr>
            </a:tbl>
          </a:graphicData>
        </a:graphic>
      </p:graphicFrame>
      <p:sp>
        <p:nvSpPr>
          <p:cNvPr id="5" name="Title 1">
            <a:extLst>
              <a:ext uri="{FF2B5EF4-FFF2-40B4-BE49-F238E27FC236}">
                <a16:creationId xmlns:a16="http://schemas.microsoft.com/office/drawing/2014/main" id="{38E67566-EADE-1B53-6FB5-E72DBFA7003A}"/>
              </a:ext>
            </a:extLst>
          </p:cNvPr>
          <p:cNvSpPr txBox="1">
            <a:spLocks/>
          </p:cNvSpPr>
          <p:nvPr/>
        </p:nvSpPr>
        <p:spPr>
          <a:xfrm>
            <a:off x="5743575" y="125412"/>
            <a:ext cx="5486400" cy="1111249"/>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People’s reputation, business model riding on various projects, so -- consciously or not, they will be biased in their assessment.</a:t>
            </a:r>
          </a:p>
        </p:txBody>
      </p:sp>
    </p:spTree>
    <p:extLst>
      <p:ext uri="{BB962C8B-B14F-4D97-AF65-F5344CB8AC3E}">
        <p14:creationId xmlns:p14="http://schemas.microsoft.com/office/powerpoint/2010/main" val="16712444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A715-80BD-D999-2F38-33863EBFA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49360-1446-CD2E-8673-2255AC8087C3}"/>
              </a:ext>
            </a:extLst>
          </p:cNvPr>
          <p:cNvSpPr>
            <a:spLocks noGrp="1"/>
          </p:cNvSpPr>
          <p:nvPr>
            <p:ph type="title"/>
          </p:nvPr>
        </p:nvSpPr>
        <p:spPr>
          <a:xfrm>
            <a:off x="295275" y="405706"/>
            <a:ext cx="5353050" cy="2359025"/>
          </a:xfrm>
        </p:spPr>
        <p:txBody>
          <a:bodyPr/>
          <a:lstStyle/>
          <a:p>
            <a:r>
              <a:rPr lang="en-US" dirty="0"/>
              <a:t>“Motivation to Adopt” a Soft Fork</a:t>
            </a:r>
          </a:p>
        </p:txBody>
      </p:sp>
      <p:pic>
        <p:nvPicPr>
          <p:cNvPr id="5" name="Picture 4">
            <a:extLst>
              <a:ext uri="{FF2B5EF4-FFF2-40B4-BE49-F238E27FC236}">
                <a16:creationId xmlns:a16="http://schemas.microsoft.com/office/drawing/2014/main" id="{0C6454FD-3599-0021-DDD5-2F0FB80C61EE}"/>
              </a:ext>
            </a:extLst>
          </p:cNvPr>
          <p:cNvPicPr>
            <a:picLocks noChangeAspect="1"/>
          </p:cNvPicPr>
          <p:nvPr/>
        </p:nvPicPr>
        <p:blipFill>
          <a:blip r:embed="rId2"/>
          <a:stretch>
            <a:fillRect/>
          </a:stretch>
        </p:blipFill>
        <p:spPr>
          <a:xfrm>
            <a:off x="5871084" y="276721"/>
            <a:ext cx="5233054" cy="2627512"/>
          </a:xfrm>
          <a:prstGeom prst="rect">
            <a:avLst/>
          </a:prstGeom>
          <a:ln>
            <a:solidFill>
              <a:schemeClr val="tx1"/>
            </a:solidFill>
          </a:ln>
        </p:spPr>
      </p:pic>
      <p:pic>
        <p:nvPicPr>
          <p:cNvPr id="9" name="Picture 8">
            <a:extLst>
              <a:ext uri="{FF2B5EF4-FFF2-40B4-BE49-F238E27FC236}">
                <a16:creationId xmlns:a16="http://schemas.microsoft.com/office/drawing/2014/main" id="{D4447E0E-1C72-8B00-44F6-DCDD5DE3988A}"/>
              </a:ext>
            </a:extLst>
          </p:cNvPr>
          <p:cNvPicPr>
            <a:picLocks noChangeAspect="1"/>
          </p:cNvPicPr>
          <p:nvPr/>
        </p:nvPicPr>
        <p:blipFill>
          <a:blip r:embed="rId3"/>
          <a:stretch>
            <a:fillRect/>
          </a:stretch>
        </p:blipFill>
        <p:spPr>
          <a:xfrm>
            <a:off x="1835580" y="3429000"/>
            <a:ext cx="9173308" cy="2917825"/>
          </a:xfrm>
          <a:prstGeom prst="rect">
            <a:avLst/>
          </a:prstGeom>
          <a:ln>
            <a:solidFill>
              <a:schemeClr val="tx1"/>
            </a:solidFill>
          </a:ln>
        </p:spPr>
      </p:pic>
    </p:spTree>
    <p:extLst>
      <p:ext uri="{BB962C8B-B14F-4D97-AF65-F5344CB8AC3E}">
        <p14:creationId xmlns:p14="http://schemas.microsoft.com/office/powerpoint/2010/main" val="3798611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FB14-EBCD-D3E7-D3C7-2A4209BCD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612E0-D998-368A-2FF9-F1FD041BF39F}"/>
              </a:ext>
            </a:extLst>
          </p:cNvPr>
          <p:cNvSpPr>
            <a:spLocks noGrp="1"/>
          </p:cNvSpPr>
          <p:nvPr>
            <p:ph type="title"/>
          </p:nvPr>
        </p:nvSpPr>
        <p:spPr>
          <a:xfrm>
            <a:off x="295275" y="405706"/>
            <a:ext cx="5353050" cy="2359025"/>
          </a:xfrm>
        </p:spPr>
        <p:txBody>
          <a:bodyPr/>
          <a:lstStyle/>
          <a:p>
            <a:r>
              <a:rPr lang="en-US" dirty="0"/>
              <a:t>“Motivation to Adopt” a Soft Fork</a:t>
            </a:r>
          </a:p>
        </p:txBody>
      </p:sp>
      <p:pic>
        <p:nvPicPr>
          <p:cNvPr id="5" name="Picture 4">
            <a:extLst>
              <a:ext uri="{FF2B5EF4-FFF2-40B4-BE49-F238E27FC236}">
                <a16:creationId xmlns:a16="http://schemas.microsoft.com/office/drawing/2014/main" id="{9666D052-06A5-9A8E-DF25-4960E9ACF862}"/>
              </a:ext>
            </a:extLst>
          </p:cNvPr>
          <p:cNvPicPr>
            <a:picLocks noChangeAspect="1"/>
          </p:cNvPicPr>
          <p:nvPr/>
        </p:nvPicPr>
        <p:blipFill>
          <a:blip r:embed="rId2"/>
          <a:stretch>
            <a:fillRect/>
          </a:stretch>
        </p:blipFill>
        <p:spPr>
          <a:xfrm>
            <a:off x="5871084" y="276721"/>
            <a:ext cx="5233054" cy="2627512"/>
          </a:xfrm>
          <a:prstGeom prst="rect">
            <a:avLst/>
          </a:prstGeom>
          <a:ln>
            <a:solidFill>
              <a:schemeClr val="tx1"/>
            </a:solidFill>
          </a:ln>
        </p:spPr>
      </p:pic>
      <p:pic>
        <p:nvPicPr>
          <p:cNvPr id="9" name="Picture 8">
            <a:extLst>
              <a:ext uri="{FF2B5EF4-FFF2-40B4-BE49-F238E27FC236}">
                <a16:creationId xmlns:a16="http://schemas.microsoft.com/office/drawing/2014/main" id="{45419BA6-1D12-274A-1843-29D5DBCD57FE}"/>
              </a:ext>
            </a:extLst>
          </p:cNvPr>
          <p:cNvPicPr>
            <a:picLocks noChangeAspect="1"/>
          </p:cNvPicPr>
          <p:nvPr/>
        </p:nvPicPr>
        <p:blipFill>
          <a:blip r:embed="rId3"/>
          <a:stretch>
            <a:fillRect/>
          </a:stretch>
        </p:blipFill>
        <p:spPr>
          <a:xfrm>
            <a:off x="1759380" y="3138687"/>
            <a:ext cx="9173308" cy="2917825"/>
          </a:xfrm>
          <a:prstGeom prst="rect">
            <a:avLst/>
          </a:prstGeom>
          <a:ln>
            <a:solidFill>
              <a:schemeClr val="tx1"/>
            </a:solidFill>
          </a:ln>
        </p:spPr>
      </p:pic>
      <p:sp>
        <p:nvSpPr>
          <p:cNvPr id="3" name="Rectangle 2">
            <a:extLst>
              <a:ext uri="{FF2B5EF4-FFF2-40B4-BE49-F238E27FC236}">
                <a16:creationId xmlns:a16="http://schemas.microsoft.com/office/drawing/2014/main" id="{B9F9033B-1564-7693-CBAC-59CF69166E6D}"/>
              </a:ext>
            </a:extLst>
          </p:cNvPr>
          <p:cNvSpPr/>
          <p:nvPr/>
        </p:nvSpPr>
        <p:spPr>
          <a:xfrm>
            <a:off x="3581401" y="3753249"/>
            <a:ext cx="3714750" cy="25377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Bitcoin Survives</a:t>
            </a:r>
          </a:p>
          <a:p>
            <a:pPr algn="ctr"/>
            <a:br>
              <a:rPr lang="en-US" sz="3200" dirty="0"/>
            </a:br>
            <a:r>
              <a:rPr lang="en-US" sz="3200" dirty="0">
                <a:sym typeface="Wingdings" panose="05000000000000000000" pitchFamily="2" charset="2"/>
              </a:rPr>
              <a:t> 15 M$/coin</a:t>
            </a:r>
          </a:p>
          <a:p>
            <a:pPr marL="457200" indent="-457200" algn="ctr">
              <a:buFont typeface="Wingdings" panose="05000000000000000000" pitchFamily="2" charset="2"/>
              <a:buChar char="à"/>
            </a:pPr>
            <a:r>
              <a:rPr lang="en-US" sz="3200" dirty="0">
                <a:sym typeface="Wingdings" panose="05000000000000000000" pitchFamily="2" charset="2"/>
              </a:rPr>
              <a:t>X00 B $/year fees</a:t>
            </a:r>
            <a:endParaRPr lang="en-US" sz="3200" dirty="0"/>
          </a:p>
        </p:txBody>
      </p:sp>
      <p:sp>
        <p:nvSpPr>
          <p:cNvPr id="4" name="Rectangle 3">
            <a:extLst>
              <a:ext uri="{FF2B5EF4-FFF2-40B4-BE49-F238E27FC236}">
                <a16:creationId xmlns:a16="http://schemas.microsoft.com/office/drawing/2014/main" id="{FDAAF977-E2E8-02E9-5C06-4C1E31C7D8BD}"/>
              </a:ext>
            </a:extLst>
          </p:cNvPr>
          <p:cNvSpPr/>
          <p:nvPr/>
        </p:nvSpPr>
        <p:spPr>
          <a:xfrm>
            <a:off x="7257045" y="3753249"/>
            <a:ext cx="3714750" cy="25377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Bitcoin Dies</a:t>
            </a:r>
          </a:p>
          <a:p>
            <a:pPr algn="ctr"/>
            <a:endParaRPr lang="en-US" sz="3200" dirty="0"/>
          </a:p>
          <a:p>
            <a:pPr algn="ctr"/>
            <a:r>
              <a:rPr lang="en-US" sz="2400" dirty="0"/>
              <a:t>(something else becomes global money)</a:t>
            </a:r>
            <a:br>
              <a:rPr lang="en-US" sz="3200" dirty="0"/>
            </a:br>
            <a:r>
              <a:rPr lang="en-US" sz="3200" dirty="0" err="1"/>
              <a:t>Btc</a:t>
            </a:r>
            <a:r>
              <a:rPr lang="en-US" sz="3200" dirty="0"/>
              <a:t> price &amp; fees </a:t>
            </a:r>
            <a:r>
              <a:rPr lang="en-US" sz="3200" dirty="0">
                <a:sym typeface="Wingdings" panose="05000000000000000000" pitchFamily="2" charset="2"/>
              </a:rPr>
              <a:t> 0</a:t>
            </a:r>
            <a:endParaRPr lang="en-US" sz="3200" dirty="0"/>
          </a:p>
        </p:txBody>
      </p:sp>
      <p:sp>
        <p:nvSpPr>
          <p:cNvPr id="6" name="Rectangle 5">
            <a:extLst>
              <a:ext uri="{FF2B5EF4-FFF2-40B4-BE49-F238E27FC236}">
                <a16:creationId xmlns:a16="http://schemas.microsoft.com/office/drawing/2014/main" id="{4035A636-108B-8C6A-2829-CC0F9A3C762B}"/>
              </a:ext>
            </a:extLst>
          </p:cNvPr>
          <p:cNvSpPr/>
          <p:nvPr/>
        </p:nvSpPr>
        <p:spPr>
          <a:xfrm>
            <a:off x="3907021" y="2375351"/>
            <a:ext cx="3268991" cy="8949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Full Throttle Innovation + Adoption</a:t>
            </a:r>
            <a:endParaRPr lang="en-US" sz="2400" dirty="0"/>
          </a:p>
        </p:txBody>
      </p:sp>
      <p:sp>
        <p:nvSpPr>
          <p:cNvPr id="7" name="Rectangle 6">
            <a:extLst>
              <a:ext uri="{FF2B5EF4-FFF2-40B4-BE49-F238E27FC236}">
                <a16:creationId xmlns:a16="http://schemas.microsoft.com/office/drawing/2014/main" id="{BE4DB057-DD88-9955-9511-2376CC40FD40}"/>
              </a:ext>
            </a:extLst>
          </p:cNvPr>
          <p:cNvSpPr/>
          <p:nvPr/>
        </p:nvSpPr>
        <p:spPr>
          <a:xfrm>
            <a:off x="7663727" y="2383287"/>
            <a:ext cx="2952696" cy="8949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Complacency &amp; Laziness</a:t>
            </a:r>
            <a:endParaRPr lang="en-US" sz="2400" dirty="0"/>
          </a:p>
        </p:txBody>
      </p:sp>
    </p:spTree>
    <p:extLst>
      <p:ext uri="{BB962C8B-B14F-4D97-AF65-F5344CB8AC3E}">
        <p14:creationId xmlns:p14="http://schemas.microsoft.com/office/powerpoint/2010/main" val="3141918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E415E-4B6B-C5F0-1879-56C5C6A3712A}"/>
              </a:ext>
            </a:extLst>
          </p:cNvPr>
          <p:cNvSpPr>
            <a:spLocks noGrp="1"/>
          </p:cNvSpPr>
          <p:nvPr>
            <p:ph type="title"/>
          </p:nvPr>
        </p:nvSpPr>
        <p:spPr>
          <a:xfrm>
            <a:off x="305338" y="129731"/>
            <a:ext cx="3195063" cy="728285"/>
          </a:xfrm>
          <a:solidFill>
            <a:schemeClr val="bg1">
              <a:lumMod val="95000"/>
            </a:schemeClr>
          </a:solidFill>
          <a:ln>
            <a:solidFill>
              <a:schemeClr val="accent1"/>
            </a:solidFill>
          </a:ln>
        </p:spPr>
        <p:txBody>
          <a:bodyPr>
            <a:noAutofit/>
          </a:bodyPr>
          <a:lstStyle/>
          <a:p>
            <a:r>
              <a:rPr lang="en-US" sz="6000" dirty="0"/>
              <a:t>Problem</a:t>
            </a:r>
          </a:p>
        </p:txBody>
      </p:sp>
      <p:sp>
        <p:nvSpPr>
          <p:cNvPr id="4" name="Date Placeholder 3">
            <a:extLst>
              <a:ext uri="{FF2B5EF4-FFF2-40B4-BE49-F238E27FC236}">
                <a16:creationId xmlns:a16="http://schemas.microsoft.com/office/drawing/2014/main" id="{DFEA2647-03CC-A386-90F4-9FF8822AD6EF}"/>
              </a:ext>
            </a:extLst>
          </p:cNvPr>
          <p:cNvSpPr>
            <a:spLocks noGrp="1"/>
          </p:cNvSpPr>
          <p:nvPr>
            <p:ph type="dt" sz="half" idx="10"/>
          </p:nvPr>
        </p:nvSpPr>
        <p:spPr/>
        <p:txBody>
          <a:bodyPr/>
          <a:lstStyle/>
          <a:p>
            <a:r>
              <a:rPr lang="en-US"/>
              <a:t>9/12/2024</a:t>
            </a:r>
          </a:p>
        </p:txBody>
      </p:sp>
      <p:sp>
        <p:nvSpPr>
          <p:cNvPr id="5" name="Footer Placeholder 4">
            <a:extLst>
              <a:ext uri="{FF2B5EF4-FFF2-40B4-BE49-F238E27FC236}">
                <a16:creationId xmlns:a16="http://schemas.microsoft.com/office/drawing/2014/main" id="{E7F0C56E-6289-23BC-C41E-005EBFFA72B4}"/>
              </a:ext>
            </a:extLst>
          </p:cNvPr>
          <p:cNvSpPr>
            <a:spLocks noGrp="1"/>
          </p:cNvSpPr>
          <p:nvPr>
            <p:ph type="ftr" sz="quarter" idx="11"/>
          </p:nvPr>
        </p:nvSpPr>
        <p:spPr/>
        <p:txBody>
          <a:bodyPr/>
          <a:lstStyle/>
          <a:p>
            <a:r>
              <a:rPr lang="en-US"/>
              <a:t>LayerTwoLabs.com</a:t>
            </a:r>
          </a:p>
        </p:txBody>
      </p:sp>
      <p:sp>
        <p:nvSpPr>
          <p:cNvPr id="6" name="Slide Number Placeholder 5">
            <a:extLst>
              <a:ext uri="{FF2B5EF4-FFF2-40B4-BE49-F238E27FC236}">
                <a16:creationId xmlns:a16="http://schemas.microsoft.com/office/drawing/2014/main" id="{A7A75C87-B319-259B-C04C-B593A261506C}"/>
              </a:ext>
            </a:extLst>
          </p:cNvPr>
          <p:cNvSpPr>
            <a:spLocks noGrp="1"/>
          </p:cNvSpPr>
          <p:nvPr>
            <p:ph type="sldNum" sz="quarter" idx="12"/>
          </p:nvPr>
        </p:nvSpPr>
        <p:spPr/>
        <p:txBody>
          <a:bodyPr/>
          <a:lstStyle/>
          <a:p>
            <a:fld id="{5F60AA78-AA0C-4201-8B76-B71E25BF953D}" type="slidenum">
              <a:rPr lang="en-US" smtClean="0"/>
              <a:t>36</a:t>
            </a:fld>
            <a:endParaRPr lang="en-US"/>
          </a:p>
        </p:txBody>
      </p:sp>
      <p:sp>
        <p:nvSpPr>
          <p:cNvPr id="7" name="Content Placeholder 2">
            <a:extLst>
              <a:ext uri="{FF2B5EF4-FFF2-40B4-BE49-F238E27FC236}">
                <a16:creationId xmlns:a16="http://schemas.microsoft.com/office/drawing/2014/main" id="{3635BE69-D2ED-B5DF-7647-7B1EC511298C}"/>
              </a:ext>
            </a:extLst>
          </p:cNvPr>
          <p:cNvSpPr txBox="1">
            <a:spLocks/>
          </p:cNvSpPr>
          <p:nvPr/>
        </p:nvSpPr>
        <p:spPr>
          <a:xfrm>
            <a:off x="178589" y="1449444"/>
            <a:ext cx="8212936" cy="5124091"/>
          </a:xfrm>
          <a:prstGeom prst="rect">
            <a:avLst/>
          </a:prstGeom>
          <a:solidFill>
            <a:schemeClr val="bg1">
              <a:lumMod val="95000"/>
            </a:schemeClr>
          </a:solidFill>
          <a:ln>
            <a:solidFill>
              <a:schemeClr val="accent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nsolas" panose="020B0609020204030204"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nsolas" panose="020B0609020204030204"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nsolas" panose="020B0609020204030204"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u="sng" dirty="0"/>
              <a:t>Innovation</a:t>
            </a:r>
          </a:p>
          <a:p>
            <a:pPr lvl="1"/>
            <a:r>
              <a:rPr lang="en-US" sz="2000" dirty="0"/>
              <a:t>Innovation </a:t>
            </a:r>
            <a:r>
              <a:rPr lang="en-US" sz="2000" i="1" u="sng" dirty="0"/>
              <a:t>created</a:t>
            </a:r>
            <a:r>
              <a:rPr lang="en-US" sz="2000" dirty="0"/>
              <a:t> Bitcoin – so, it could create something better, any day now!</a:t>
            </a:r>
          </a:p>
          <a:p>
            <a:pPr lvl="1"/>
            <a:r>
              <a:rPr lang="en-US" sz="2000" dirty="0"/>
              <a:t>Innovation is </a:t>
            </a:r>
            <a:r>
              <a:rPr lang="en-US" sz="2000" i="1" u="sng" dirty="0"/>
              <a:t>unpredictable</a:t>
            </a:r>
            <a:r>
              <a:rPr lang="en-US" sz="2000" dirty="0"/>
              <a:t> – no one predicted the invention of Bitcoin ...the next great idea will also be a surprise.</a:t>
            </a:r>
          </a:p>
          <a:p>
            <a:pPr lvl="1"/>
            <a:r>
              <a:rPr lang="en-US" sz="2000" dirty="0"/>
              <a:t>... is </a:t>
            </a:r>
            <a:r>
              <a:rPr lang="en-US" sz="2000" i="1" u="sng" dirty="0"/>
              <a:t>hard to assess</a:t>
            </a:r>
            <a:r>
              <a:rPr lang="en-US" sz="2000" dirty="0"/>
              <a:t>. For every genius inventor, there are 500 frauds and cranks.</a:t>
            </a:r>
          </a:p>
          <a:p>
            <a:pPr lvl="1"/>
            <a:r>
              <a:rPr lang="en-US" sz="2000" dirty="0"/>
              <a:t>... is always a </a:t>
            </a:r>
            <a:r>
              <a:rPr lang="en-US" sz="2000" i="1" u="sng" dirty="0"/>
              <a:t>risk</a:t>
            </a:r>
            <a:r>
              <a:rPr lang="en-US" sz="2000" dirty="0"/>
              <a:t>. Every improvement is a </a:t>
            </a:r>
            <a:r>
              <a:rPr lang="en-US" sz="2000" i="1" dirty="0"/>
              <a:t>change</a:t>
            </a:r>
            <a:r>
              <a:rPr lang="en-US" sz="2000" dirty="0"/>
              <a:t> – it could therefore, instead be a mistake, an attack vector, or sabotage.</a:t>
            </a:r>
          </a:p>
          <a:p>
            <a:pPr lvl="1"/>
            <a:r>
              <a:rPr lang="en-US" sz="2000" dirty="0"/>
              <a:t>... is always a </a:t>
            </a:r>
            <a:r>
              <a:rPr lang="en-US" sz="2000" i="1" u="sng" dirty="0"/>
              <a:t>dissent</a:t>
            </a:r>
            <a:r>
              <a:rPr lang="en-US" sz="2000" dirty="0"/>
              <a:t> from a prevailing orthodoxy. Most cypherpunks / Austrians hated Bitcoin at first – all </a:t>
            </a:r>
            <a:r>
              <a:rPr lang="en-US" sz="2000" i="1" dirty="0"/>
              <a:t>good new ideas</a:t>
            </a:r>
            <a:r>
              <a:rPr lang="en-US" sz="2000" dirty="0"/>
              <a:t> will be hated by Bitcoiners at first.</a:t>
            </a:r>
          </a:p>
          <a:p>
            <a:pPr lvl="1"/>
            <a:r>
              <a:rPr lang="en-US" sz="2000" i="1" dirty="0"/>
              <a:t>... </a:t>
            </a:r>
            <a:r>
              <a:rPr lang="en-US" sz="2000" dirty="0"/>
              <a:t>always </a:t>
            </a:r>
            <a:r>
              <a:rPr lang="en-US" sz="2000" i="1" u="sng" dirty="0"/>
              <a:t>reorders status</a:t>
            </a:r>
            <a:r>
              <a:rPr lang="en-US" sz="2000" dirty="0"/>
              <a:t> in a community. Better scaling would put Lightning out of business, better privacy would put </a:t>
            </a:r>
            <a:r>
              <a:rPr lang="en-US" sz="2000" dirty="0" err="1"/>
              <a:t>CoinJoin</a:t>
            </a:r>
            <a:r>
              <a:rPr lang="en-US" sz="2000" dirty="0"/>
              <a:t> out of business, improved self-custody would put </a:t>
            </a:r>
            <a:r>
              <a:rPr lang="en-US" sz="2000" dirty="0" err="1"/>
              <a:t>BitGo</a:t>
            </a:r>
            <a:r>
              <a:rPr lang="en-US" sz="2000" dirty="0"/>
              <a:t> out of business. Better UX puts educators out of business, etc. These are natural </a:t>
            </a:r>
            <a:r>
              <a:rPr lang="en-US" sz="2000" i="1" dirty="0"/>
              <a:t>enemies of innovation</a:t>
            </a:r>
            <a:r>
              <a:rPr lang="en-US" sz="2000" dirty="0"/>
              <a:t>. Innovation </a:t>
            </a:r>
            <a:r>
              <a:rPr lang="en-US" sz="2000" i="1" u="sng" dirty="0"/>
              <a:t>never has consensus</a:t>
            </a:r>
            <a:r>
              <a:rPr lang="en-US" sz="2000" dirty="0"/>
              <a:t>.</a:t>
            </a:r>
          </a:p>
          <a:p>
            <a:pPr lvl="1"/>
            <a:endParaRPr lang="en-US" sz="2000" i="1" u="sng" dirty="0"/>
          </a:p>
        </p:txBody>
      </p:sp>
      <p:sp>
        <p:nvSpPr>
          <p:cNvPr id="10" name="Content Placeholder 2">
            <a:extLst>
              <a:ext uri="{FF2B5EF4-FFF2-40B4-BE49-F238E27FC236}">
                <a16:creationId xmlns:a16="http://schemas.microsoft.com/office/drawing/2014/main" id="{7D0B3C8A-8B87-A1F7-4FC7-F247A11B5D16}"/>
              </a:ext>
            </a:extLst>
          </p:cNvPr>
          <p:cNvSpPr txBox="1">
            <a:spLocks/>
          </p:cNvSpPr>
          <p:nvPr/>
        </p:nvSpPr>
        <p:spPr>
          <a:xfrm>
            <a:off x="395353" y="965392"/>
            <a:ext cx="7779408" cy="376676"/>
          </a:xfrm>
          <a:prstGeom prst="rect">
            <a:avLst/>
          </a:prstGeom>
          <a:solidFill>
            <a:schemeClr val="bg1">
              <a:lumMod val="95000"/>
            </a:schemeClr>
          </a:solidFill>
          <a:ln>
            <a:solidFill>
              <a:schemeClr val="accent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onsolas" panose="020B0609020204030204"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onsolas" panose="020B0609020204030204"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onsolas" panose="020B0609020204030204"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onsolas" panose="020B0609020204030204"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u="sng" dirty="0"/>
              <a:t>Innovation</a:t>
            </a:r>
            <a:r>
              <a:rPr lang="en-US" sz="2400" dirty="0"/>
              <a:t> &amp; </a:t>
            </a:r>
            <a:r>
              <a:rPr lang="en-US" sz="2400" u="sng" dirty="0"/>
              <a:t>adoption</a:t>
            </a:r>
            <a:r>
              <a:rPr lang="en-US" sz="2400" dirty="0"/>
              <a:t> will either make, or break, BTC.</a:t>
            </a:r>
            <a:endParaRPr lang="en-US" sz="1200" dirty="0"/>
          </a:p>
        </p:txBody>
      </p:sp>
      <p:sp>
        <p:nvSpPr>
          <p:cNvPr id="14" name="TextBox 13">
            <a:extLst>
              <a:ext uri="{FF2B5EF4-FFF2-40B4-BE49-F238E27FC236}">
                <a16:creationId xmlns:a16="http://schemas.microsoft.com/office/drawing/2014/main" id="{EC507BF7-1ACB-F911-CED5-231030331F55}"/>
              </a:ext>
            </a:extLst>
          </p:cNvPr>
          <p:cNvSpPr txBox="1"/>
          <p:nvPr/>
        </p:nvSpPr>
        <p:spPr>
          <a:xfrm>
            <a:off x="8503444" y="277763"/>
            <a:ext cx="3509967" cy="6078587"/>
          </a:xfrm>
          <a:prstGeom prst="rect">
            <a:avLst/>
          </a:prstGeom>
          <a:solidFill>
            <a:schemeClr val="bg1">
              <a:lumMod val="95000"/>
            </a:schemeClr>
          </a:solidFill>
          <a:ln>
            <a:solidFill>
              <a:schemeClr val="tx1"/>
            </a:solidFill>
          </a:ln>
        </p:spPr>
        <p:txBody>
          <a:bodyPr wrap="square">
            <a:spAutoFit/>
          </a:bodyPr>
          <a:lstStyle/>
          <a:p>
            <a:r>
              <a:rPr lang="en-US" sz="2900" u="sng" dirty="0"/>
              <a:t>Adoption</a:t>
            </a:r>
          </a:p>
          <a:p>
            <a:r>
              <a:rPr lang="en-US" sz="2000" dirty="0"/>
              <a:t>Blockchain tech is improving fast.</a:t>
            </a:r>
          </a:p>
          <a:p>
            <a:pPr marL="285750" indent="-285750">
              <a:buFont typeface="Arial" panose="020B0604020202020204" pitchFamily="34" charset="0"/>
              <a:buChar char="•"/>
            </a:pPr>
            <a:r>
              <a:rPr lang="en-US" sz="1800" dirty="0"/>
              <a:t>99% of new projects are scams – but this has blinded people to the true pace of progress.</a:t>
            </a:r>
          </a:p>
          <a:p>
            <a:pPr marL="285750" indent="-285750">
              <a:buFont typeface="Arial" panose="020B0604020202020204" pitchFamily="34" charset="0"/>
              <a:buChar char="•"/>
            </a:pPr>
            <a:r>
              <a:rPr lang="en-US" sz="1900" dirty="0"/>
              <a:t>In 3-5 years, it will be possible for </a:t>
            </a:r>
            <a:r>
              <a:rPr lang="en-US" sz="1900" i="1" u="sng" dirty="0"/>
              <a:t>anyone</a:t>
            </a:r>
            <a:r>
              <a:rPr lang="en-US" sz="1900" dirty="0"/>
              <a:t> to launch a new coin that is [1] globally scalable, [2] fully private, [3] capable of replacing fiat payment systems, all on [4] layperson hardware/internet.</a:t>
            </a:r>
          </a:p>
          <a:p>
            <a:pPr marL="285750" indent="-285750">
              <a:buFont typeface="Arial" panose="020B0604020202020204" pitchFamily="34" charset="0"/>
              <a:buChar char="•"/>
            </a:pPr>
            <a:r>
              <a:rPr lang="en-US" sz="1900" dirty="0"/>
              <a:t>After that, only network effects will matter. Whichever coin </a:t>
            </a:r>
            <a:r>
              <a:rPr lang="en-US" sz="1900" i="1" u="sng" dirty="0"/>
              <a:t>innovates most on adoption</a:t>
            </a:r>
            <a:r>
              <a:rPr lang="en-US" sz="1900" i="1" dirty="0"/>
              <a:t> </a:t>
            </a:r>
            <a:r>
              <a:rPr lang="en-US" sz="1900" dirty="0"/>
              <a:t>will then win.</a:t>
            </a:r>
          </a:p>
          <a:p>
            <a:pPr marL="285750" indent="-285750">
              <a:buFont typeface="Arial" panose="020B0604020202020204" pitchFamily="34" charset="0"/>
              <a:buChar char="•"/>
            </a:pPr>
            <a:r>
              <a:rPr lang="en-US" sz="1900" dirty="0"/>
              <a:t>Soon (probably by 2035), only one currency will remain. </a:t>
            </a:r>
            <a:r>
              <a:rPr lang="en-US" sz="1900" b="1" u="sng" dirty="0"/>
              <a:t>BTC will either go to $200T, or $0.</a:t>
            </a:r>
          </a:p>
        </p:txBody>
      </p:sp>
    </p:spTree>
    <p:extLst>
      <p:ext uri="{BB962C8B-B14F-4D97-AF65-F5344CB8AC3E}">
        <p14:creationId xmlns:p14="http://schemas.microsoft.com/office/powerpoint/2010/main" val="4287214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08598-5B7A-808B-2F96-7D8EE74F75C6}"/>
              </a:ext>
            </a:extLst>
          </p:cNvPr>
          <p:cNvSpPr>
            <a:spLocks noGrp="1"/>
          </p:cNvSpPr>
          <p:nvPr>
            <p:ph type="title"/>
          </p:nvPr>
        </p:nvSpPr>
        <p:spPr>
          <a:xfrm>
            <a:off x="258176" y="128590"/>
            <a:ext cx="6504574" cy="752474"/>
          </a:xfrm>
          <a:solidFill>
            <a:schemeClr val="bg1">
              <a:lumMod val="95000"/>
            </a:schemeClr>
          </a:solidFill>
          <a:ln>
            <a:solidFill>
              <a:schemeClr val="tx1"/>
            </a:solidFill>
          </a:ln>
        </p:spPr>
        <p:txBody>
          <a:bodyPr>
            <a:normAutofit/>
          </a:bodyPr>
          <a:lstStyle/>
          <a:p>
            <a:r>
              <a:rPr lang="en-US" dirty="0"/>
              <a:t>The Hubris of Complacency</a:t>
            </a:r>
          </a:p>
        </p:txBody>
      </p:sp>
      <p:sp>
        <p:nvSpPr>
          <p:cNvPr id="3" name="Text Placeholder 2">
            <a:extLst>
              <a:ext uri="{FF2B5EF4-FFF2-40B4-BE49-F238E27FC236}">
                <a16:creationId xmlns:a16="http://schemas.microsoft.com/office/drawing/2014/main" id="{036B0CCC-7AF9-3FC1-541D-A7D5F7E4CA15}"/>
              </a:ext>
            </a:extLst>
          </p:cNvPr>
          <p:cNvSpPr>
            <a:spLocks noGrp="1"/>
          </p:cNvSpPr>
          <p:nvPr>
            <p:ph type="body" idx="1"/>
          </p:nvPr>
        </p:nvSpPr>
        <p:spPr>
          <a:xfrm>
            <a:off x="427719" y="1066801"/>
            <a:ext cx="7278006" cy="5210628"/>
          </a:xfrm>
          <a:solidFill>
            <a:schemeClr val="bg1">
              <a:lumMod val="95000"/>
            </a:schemeClr>
          </a:solidFill>
          <a:ln>
            <a:solidFill>
              <a:schemeClr val="tx1"/>
            </a:solidFill>
          </a:ln>
        </p:spPr>
        <p:txBody>
          <a:bodyPr>
            <a:normAutofit fontScale="92500" lnSpcReduction="10000"/>
          </a:bodyPr>
          <a:lstStyle/>
          <a:p>
            <a:r>
              <a:rPr lang="en-US" sz="2000" dirty="0"/>
              <a:t>“[Easter Islanders] may have arrived on the island as early as the fifth century CE. They developed a complex Stone Age civilization, which suddenly collapsed over a millennium later. By some accounts there was starvation, war and perhaps cannibalism. The population fell to a small fraction of what it had been, and their culture was lost.</a:t>
            </a:r>
            <a:br>
              <a:rPr lang="en-US" sz="2000" dirty="0"/>
            </a:br>
            <a:r>
              <a:rPr lang="en-US" sz="2000" dirty="0"/>
              <a:t>	The prevailing theory is that the Easter Islanders brought disaster upon themselves, in part by chopping down the forest which had originally covered most of the island. They eliminated the most useful species of tree altogether. </a:t>
            </a:r>
            <a:br>
              <a:rPr lang="en-US" sz="2000" dirty="0"/>
            </a:br>
            <a:r>
              <a:rPr lang="en-US" sz="2000" dirty="0"/>
              <a:t>…</a:t>
            </a:r>
            <a:br>
              <a:rPr lang="en-US" sz="2000" dirty="0"/>
            </a:br>
            <a:r>
              <a:rPr lang="en-US" sz="2000" dirty="0"/>
              <a:t>	Of the hundreds of statues on the island, built over the course of several centuries, fewer than half are at their intended destinations. The rest, including the largest, are in various stages of completion, with as many as 10% already in transit on specially built roads. Again there are conflicting explanations, but, according to the prevailing theory, it is because there was a large increase in the rate of statue-building just before it stopped for ever. In other words, as disaster loomed, the islanders diverted ever more effort not into addressing the problem – for they did not know how to do that – but into making ever more and bigger (but very rarely better) monuments to their ancestors. And what were those roads made of? Trees.”</a:t>
            </a:r>
            <a:br>
              <a:rPr lang="en-US" sz="2000" dirty="0"/>
            </a:br>
            <a:r>
              <a:rPr lang="en-US" sz="2000" dirty="0"/>
              <a:t>	-David Deutsch, </a:t>
            </a:r>
            <a:r>
              <a:rPr lang="en-US" sz="2000" i="1" dirty="0"/>
              <a:t>The Beginning of Infinity</a:t>
            </a:r>
          </a:p>
        </p:txBody>
      </p:sp>
      <p:pic>
        <p:nvPicPr>
          <p:cNvPr id="5" name="Picture 4">
            <a:extLst>
              <a:ext uri="{FF2B5EF4-FFF2-40B4-BE49-F238E27FC236}">
                <a16:creationId xmlns:a16="http://schemas.microsoft.com/office/drawing/2014/main" id="{8943BF1A-CD5D-E75F-21A0-FD471A90B9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1204" y="907595"/>
            <a:ext cx="3906750" cy="5210629"/>
          </a:xfrm>
          <a:prstGeom prst="rect">
            <a:avLst/>
          </a:prstGeom>
        </p:spPr>
      </p:pic>
      <p:pic>
        <p:nvPicPr>
          <p:cNvPr id="8" name="Picture 7">
            <a:extLst>
              <a:ext uri="{FF2B5EF4-FFF2-40B4-BE49-F238E27FC236}">
                <a16:creationId xmlns:a16="http://schemas.microsoft.com/office/drawing/2014/main" id="{D8A7D17E-D1C1-93EA-34EB-C6AD1FB61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9078" y="2384880"/>
            <a:ext cx="2210703" cy="1200150"/>
          </a:xfrm>
          <a:prstGeom prst="rect">
            <a:avLst/>
          </a:prstGeom>
        </p:spPr>
      </p:pic>
      <p:pic>
        <p:nvPicPr>
          <p:cNvPr id="7" name="Picture 6">
            <a:extLst>
              <a:ext uri="{FF2B5EF4-FFF2-40B4-BE49-F238E27FC236}">
                <a16:creationId xmlns:a16="http://schemas.microsoft.com/office/drawing/2014/main" id="{4B7C3BF7-5283-FB58-9CFB-42DFB9EA3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8850" y="2384879"/>
            <a:ext cx="2210703" cy="1200150"/>
          </a:xfrm>
          <a:prstGeom prst="rect">
            <a:avLst/>
          </a:prstGeom>
        </p:spPr>
      </p:pic>
      <p:sp>
        <p:nvSpPr>
          <p:cNvPr id="6" name="Text Placeholder 2">
            <a:extLst>
              <a:ext uri="{FF2B5EF4-FFF2-40B4-BE49-F238E27FC236}">
                <a16:creationId xmlns:a16="http://schemas.microsoft.com/office/drawing/2014/main" id="{3968236C-4033-DF68-1DAF-CEEB03E44078}"/>
              </a:ext>
            </a:extLst>
          </p:cNvPr>
          <p:cNvSpPr txBox="1">
            <a:spLocks/>
          </p:cNvSpPr>
          <p:nvPr/>
        </p:nvSpPr>
        <p:spPr>
          <a:xfrm>
            <a:off x="8059704" y="5957547"/>
            <a:ext cx="3829050" cy="639764"/>
          </a:xfrm>
          <a:prstGeom prst="rect">
            <a:avLst/>
          </a:prstGeom>
          <a:solidFill>
            <a:schemeClr val="bg1">
              <a:lumMod val="95000"/>
            </a:schemeClr>
          </a:solidFill>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u="sng" dirty="0">
                <a:sym typeface="Wingdings" panose="05000000000000000000" pitchFamily="2" charset="2"/>
              </a:rPr>
              <a:t> “Wrong Solution” Feedback Loop</a:t>
            </a:r>
            <a:br>
              <a:rPr lang="en-US" sz="2000" u="sng" dirty="0">
                <a:sym typeface="Wingdings" panose="05000000000000000000" pitchFamily="2" charset="2"/>
              </a:rPr>
            </a:br>
            <a:r>
              <a:rPr lang="en-US" sz="2000" dirty="0">
                <a:sym typeface="Wingdings" panose="05000000000000000000" pitchFamily="2" charset="2"/>
              </a:rPr>
              <a:t>More Problems  More Statues</a:t>
            </a:r>
            <a:endParaRPr lang="en-US" sz="2000" dirty="0"/>
          </a:p>
        </p:txBody>
      </p:sp>
    </p:spTree>
    <p:extLst>
      <p:ext uri="{BB962C8B-B14F-4D97-AF65-F5344CB8AC3E}">
        <p14:creationId xmlns:p14="http://schemas.microsoft.com/office/powerpoint/2010/main" val="255567668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4DD8-5FE6-6039-ECD0-7666A46699AA}"/>
              </a:ext>
            </a:extLst>
          </p:cNvPr>
          <p:cNvSpPr>
            <a:spLocks noGrp="1"/>
          </p:cNvSpPr>
          <p:nvPr>
            <p:ph type="title"/>
          </p:nvPr>
        </p:nvSpPr>
        <p:spPr>
          <a:xfrm>
            <a:off x="400050" y="0"/>
            <a:ext cx="6781800" cy="1304925"/>
          </a:xfrm>
        </p:spPr>
        <p:txBody>
          <a:bodyPr/>
          <a:lstStyle/>
          <a:p>
            <a:r>
              <a:rPr lang="en-US" dirty="0"/>
              <a:t>Things Which Are Inevitable</a:t>
            </a:r>
          </a:p>
        </p:txBody>
      </p:sp>
      <p:sp>
        <p:nvSpPr>
          <p:cNvPr id="3" name="Content Placeholder 2">
            <a:extLst>
              <a:ext uri="{FF2B5EF4-FFF2-40B4-BE49-F238E27FC236}">
                <a16:creationId xmlns:a16="http://schemas.microsoft.com/office/drawing/2014/main" id="{33125095-5273-52E4-D90D-09D448B9536E}"/>
              </a:ext>
            </a:extLst>
          </p:cNvPr>
          <p:cNvSpPr>
            <a:spLocks noGrp="1"/>
          </p:cNvSpPr>
          <p:nvPr>
            <p:ph idx="1"/>
          </p:nvPr>
        </p:nvSpPr>
        <p:spPr>
          <a:xfrm>
            <a:off x="838200" y="1304925"/>
            <a:ext cx="10515600" cy="4889500"/>
          </a:xfrm>
        </p:spPr>
        <p:txBody>
          <a:bodyPr/>
          <a:lstStyle/>
          <a:p>
            <a:r>
              <a:rPr lang="en-US" dirty="0"/>
              <a:t>Planetary Scale Tech Stack – one cryptocurrency will be able to process trillion txns/year. This has already happened – theory in 2021 and is happening now in practice.</a:t>
            </a:r>
          </a:p>
          <a:p>
            <a:r>
              <a:rPr lang="en-US" dirty="0"/>
              <a:t>Coins Adopt This Tech Stack – Desperate for market share / selling points, Altcoins will install this tech stack.</a:t>
            </a:r>
          </a:p>
          <a:p>
            <a:r>
              <a:rPr lang="en-US" dirty="0"/>
              <a:t>Pro-Adoption Coin Takes Over – One coin will prioritize adoption, and it will slowly gain network effect. Will hit various “critical mass” points and achieve super-exponential growth.</a:t>
            </a:r>
          </a:p>
          <a:p>
            <a:r>
              <a:rPr lang="en-US" dirty="0"/>
              <a:t>That coin will process all the world’s txns – x trillion, $0.10 /txn, their miners will collect X00 B per year, growing 6% per year.</a:t>
            </a:r>
          </a:p>
          <a:p>
            <a:r>
              <a:rPr lang="en-US" dirty="0"/>
              <a:t>Probably, all other coins will die off at that point.</a:t>
            </a:r>
          </a:p>
        </p:txBody>
      </p:sp>
    </p:spTree>
    <p:extLst>
      <p:ext uri="{BB962C8B-B14F-4D97-AF65-F5344CB8AC3E}">
        <p14:creationId xmlns:p14="http://schemas.microsoft.com/office/powerpoint/2010/main" val="3067042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B300-23BD-3D11-3532-5D067945A22F}"/>
              </a:ext>
            </a:extLst>
          </p:cNvPr>
          <p:cNvSpPr>
            <a:spLocks noGrp="1"/>
          </p:cNvSpPr>
          <p:nvPr>
            <p:ph type="title"/>
          </p:nvPr>
        </p:nvSpPr>
        <p:spPr/>
        <p:txBody>
          <a:bodyPr/>
          <a:lstStyle/>
          <a:p>
            <a:r>
              <a:rPr lang="en-US" dirty="0"/>
              <a:t>Mistaken Beliefs About Soft Forks</a:t>
            </a:r>
          </a:p>
        </p:txBody>
      </p:sp>
      <p:graphicFrame>
        <p:nvGraphicFramePr>
          <p:cNvPr id="4" name="Content Placeholder 3">
            <a:extLst>
              <a:ext uri="{FF2B5EF4-FFF2-40B4-BE49-F238E27FC236}">
                <a16:creationId xmlns:a16="http://schemas.microsoft.com/office/drawing/2014/main" id="{35E95CA7-3F67-B112-3875-B8DBE9DDB26F}"/>
              </a:ext>
            </a:extLst>
          </p:cNvPr>
          <p:cNvGraphicFramePr>
            <a:graphicFrameLocks noGrp="1"/>
          </p:cNvGraphicFramePr>
          <p:nvPr>
            <p:ph idx="1"/>
          </p:nvPr>
        </p:nvGraphicFramePr>
        <p:xfrm>
          <a:off x="838200" y="1825625"/>
          <a:ext cx="10515600" cy="4394200"/>
        </p:xfrm>
        <a:graphic>
          <a:graphicData uri="http://schemas.openxmlformats.org/drawingml/2006/table">
            <a:tbl>
              <a:tblPr firstRow="1" bandRow="1">
                <a:tableStyleId>{5C22544A-7EE6-4342-B048-85BDC9FD1C3A}</a:tableStyleId>
              </a:tblPr>
              <a:tblGrid>
                <a:gridCol w="4333875">
                  <a:extLst>
                    <a:ext uri="{9D8B030D-6E8A-4147-A177-3AD203B41FA5}">
                      <a16:colId xmlns:a16="http://schemas.microsoft.com/office/drawing/2014/main" val="3389827889"/>
                    </a:ext>
                  </a:extLst>
                </a:gridCol>
                <a:gridCol w="6181725">
                  <a:extLst>
                    <a:ext uri="{9D8B030D-6E8A-4147-A177-3AD203B41FA5}">
                      <a16:colId xmlns:a16="http://schemas.microsoft.com/office/drawing/2014/main" val="2524455175"/>
                    </a:ext>
                  </a:extLst>
                </a:gridCol>
              </a:tblGrid>
              <a:tr h="370840">
                <a:tc>
                  <a:txBody>
                    <a:bodyPr/>
                    <a:lstStyle/>
                    <a:p>
                      <a:r>
                        <a:rPr lang="en-US" dirty="0"/>
                        <a:t>Wrong</a:t>
                      </a:r>
                    </a:p>
                  </a:txBody>
                  <a:tcPr/>
                </a:tc>
                <a:tc>
                  <a:txBody>
                    <a:bodyPr/>
                    <a:lstStyle/>
                    <a:p>
                      <a:r>
                        <a:rPr lang="en-US" dirty="0"/>
                        <a:t>Truth</a:t>
                      </a:r>
                    </a:p>
                  </a:txBody>
                  <a:tcPr/>
                </a:tc>
                <a:extLst>
                  <a:ext uri="{0D108BD9-81ED-4DB2-BD59-A6C34878D82A}">
                    <a16:rowId xmlns:a16="http://schemas.microsoft.com/office/drawing/2014/main" val="552482177"/>
                  </a:ext>
                </a:extLst>
              </a:tr>
              <a:tr h="370840">
                <a:tc>
                  <a:txBody>
                    <a:bodyPr/>
                    <a:lstStyle/>
                    <a:p>
                      <a:r>
                        <a:rPr lang="en-US" dirty="0"/>
                        <a:t>Soft forks are a change,</a:t>
                      </a:r>
                      <a:br>
                        <a:rPr lang="en-US" dirty="0"/>
                      </a:br>
                      <a:r>
                        <a:rPr lang="en-US" dirty="0"/>
                        <a:t>and every change is a risk</a:t>
                      </a:r>
                    </a:p>
                  </a:txBody>
                  <a:tcPr/>
                </a:tc>
                <a:tc>
                  <a:txBody>
                    <a:bodyPr/>
                    <a:lstStyle/>
                    <a:p>
                      <a:r>
                        <a:rPr lang="en-US" dirty="0"/>
                        <a:t>Soft forks are NOT a change (the old protocol survives),</a:t>
                      </a:r>
                    </a:p>
                    <a:p>
                      <a:r>
                        <a:rPr lang="en-US" dirty="0"/>
                        <a:t>Soft forks can always be undone later, with a 2</a:t>
                      </a:r>
                      <a:r>
                        <a:rPr lang="en-US" baseline="30000" dirty="0"/>
                        <a:t>nd</a:t>
                      </a:r>
                      <a:r>
                        <a:rPr lang="en-US" dirty="0"/>
                        <a:t> soft fork</a:t>
                      </a:r>
                    </a:p>
                  </a:txBody>
                  <a:tcPr/>
                </a:tc>
                <a:extLst>
                  <a:ext uri="{0D108BD9-81ED-4DB2-BD59-A6C34878D82A}">
                    <a16:rowId xmlns:a16="http://schemas.microsoft.com/office/drawing/2014/main" val="4038400707"/>
                  </a:ext>
                </a:extLst>
              </a:tr>
              <a:tr h="370840">
                <a:tc>
                  <a:txBody>
                    <a:bodyPr/>
                    <a:lstStyle/>
                    <a:p>
                      <a:r>
                        <a:rPr lang="en-US" dirty="0"/>
                        <a:t>We need to limit what people can do with Bitcoin, to protect it, as we protected the Blocksize limit.</a:t>
                      </a:r>
                    </a:p>
                  </a:txBody>
                  <a:tcPr/>
                </a:tc>
                <a:tc>
                  <a:txBody>
                    <a:bodyPr/>
                    <a:lstStyle/>
                    <a:p>
                      <a:r>
                        <a:rPr lang="en-US" dirty="0"/>
                        <a:t>Adoption and innovation will make or break BTC. If adoption is too slow, BTC will go to zero.</a:t>
                      </a:r>
                    </a:p>
                    <a:p>
                      <a:r>
                        <a:rPr lang="en-US" dirty="0"/>
                        <a:t>To protect Bitcoin, we need to limit </a:t>
                      </a:r>
                      <a:r>
                        <a:rPr lang="en-US" i="1" u="sng" dirty="0"/>
                        <a:t>hard forks</a:t>
                      </a:r>
                      <a:r>
                        <a:rPr lang="en-US" i="0" u="none" dirty="0"/>
                        <a:t>. Not soft forks.</a:t>
                      </a:r>
                      <a:endParaRPr lang="en-US" i="1" u="sng" dirty="0"/>
                    </a:p>
                  </a:txBody>
                  <a:tcPr/>
                </a:tc>
                <a:extLst>
                  <a:ext uri="{0D108BD9-81ED-4DB2-BD59-A6C34878D82A}">
                    <a16:rowId xmlns:a16="http://schemas.microsoft.com/office/drawing/2014/main" val="2213661755"/>
                  </a:ext>
                </a:extLst>
              </a:tr>
              <a:tr h="370840">
                <a:tc>
                  <a:txBody>
                    <a:bodyPr/>
                    <a:lstStyle/>
                    <a:p>
                      <a:r>
                        <a:rPr lang="en-US" dirty="0"/>
                        <a:t>Miners should not get involved in technical matters.</a:t>
                      </a:r>
                    </a:p>
                  </a:txBody>
                  <a:tcPr/>
                </a:tc>
                <a:tc>
                  <a:txBody>
                    <a:bodyPr/>
                    <a:lstStyle/>
                    <a:p>
                      <a:r>
                        <a:rPr lang="en-US" dirty="0"/>
                        <a:t>Miners have the most $ at stake, and have the most illiquid position. Miners stand to gain/lose the most from Bitcoin’s success. Miners are like </a:t>
                      </a:r>
                      <a:r>
                        <a:rPr lang="en-US" i="1" u="sng" dirty="0"/>
                        <a:t>the parent</a:t>
                      </a:r>
                      <a:r>
                        <a:rPr lang="en-US" dirty="0"/>
                        <a:t> , of a child – </a:t>
                      </a:r>
                      <a:r>
                        <a:rPr lang="en-US" dirty="0" err="1"/>
                        <a:t>devs</a:t>
                      </a:r>
                      <a:r>
                        <a:rPr lang="en-US" dirty="0"/>
                        <a:t> are like the child’s friends or teachers – possibly good, possibly sinister.</a:t>
                      </a:r>
                    </a:p>
                  </a:txBody>
                  <a:tcPr/>
                </a:tc>
                <a:extLst>
                  <a:ext uri="{0D108BD9-81ED-4DB2-BD59-A6C34878D82A}">
                    <a16:rowId xmlns:a16="http://schemas.microsoft.com/office/drawing/2014/main" val="160997887"/>
                  </a:ext>
                </a:extLst>
              </a:tr>
              <a:tr h="370840">
                <a:tc>
                  <a:txBody>
                    <a:bodyPr/>
                    <a:lstStyle/>
                    <a:p>
                      <a:r>
                        <a:rPr lang="en-US" dirty="0"/>
                        <a:t>Miners screwed up </a:t>
                      </a:r>
                    </a:p>
                  </a:txBody>
                  <a:tcPr/>
                </a:tc>
                <a:tc>
                  <a:txBody>
                    <a:bodyPr/>
                    <a:lstStyle/>
                    <a:p>
                      <a:r>
                        <a:rPr lang="en-US" dirty="0"/>
                        <a:t>Miner’s neglect has already caused enormous damage to Bitcoin, which unfortunately continues to this day.</a:t>
                      </a:r>
                    </a:p>
                  </a:txBody>
                  <a:tcPr/>
                </a:tc>
                <a:extLst>
                  <a:ext uri="{0D108BD9-81ED-4DB2-BD59-A6C34878D82A}">
                    <a16:rowId xmlns:a16="http://schemas.microsoft.com/office/drawing/2014/main" val="303622885"/>
                  </a:ext>
                </a:extLst>
              </a:tr>
              <a:tr h="370840">
                <a:tc>
                  <a:txBody>
                    <a:bodyPr/>
                    <a:lstStyle/>
                    <a:p>
                      <a:endParaRPr lang="en-US"/>
                    </a:p>
                  </a:txBody>
                  <a:tcPr/>
                </a:tc>
                <a:tc>
                  <a:txBody>
                    <a:bodyPr/>
                    <a:lstStyle/>
                    <a:p>
                      <a:r>
                        <a:rPr lang="en-US" dirty="0"/>
                        <a:t>Miners stand to gain billions or even trillions of dollars if Bitcoin is a success. </a:t>
                      </a:r>
                    </a:p>
                  </a:txBody>
                  <a:tcPr/>
                </a:tc>
                <a:extLst>
                  <a:ext uri="{0D108BD9-81ED-4DB2-BD59-A6C34878D82A}">
                    <a16:rowId xmlns:a16="http://schemas.microsoft.com/office/drawing/2014/main" val="433053001"/>
                  </a:ext>
                </a:extLst>
              </a:tr>
            </a:tbl>
          </a:graphicData>
        </a:graphic>
      </p:graphicFrame>
    </p:spTree>
    <p:extLst>
      <p:ext uri="{BB962C8B-B14F-4D97-AF65-F5344CB8AC3E}">
        <p14:creationId xmlns:p14="http://schemas.microsoft.com/office/powerpoint/2010/main" val="83533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2199B-5FBC-68B6-D44E-3E30BD1D7CB9}"/>
              </a:ext>
            </a:extLst>
          </p:cNvPr>
          <p:cNvSpPr>
            <a:spLocks noGrp="1"/>
          </p:cNvSpPr>
          <p:nvPr>
            <p:ph type="title"/>
          </p:nvPr>
        </p:nvSpPr>
        <p:spPr>
          <a:xfrm>
            <a:off x="838200" y="381167"/>
            <a:ext cx="10515600" cy="5185443"/>
          </a:xfrm>
        </p:spPr>
        <p:txBody>
          <a:bodyPr>
            <a:normAutofit/>
          </a:bodyPr>
          <a:lstStyle/>
          <a:p>
            <a:pPr algn="ctr"/>
            <a:r>
              <a:rPr lang="en-US" sz="11500" dirty="0"/>
              <a:t>Soft Forks</a:t>
            </a:r>
            <a:br>
              <a:rPr lang="en-US" sz="11500" dirty="0"/>
            </a:br>
            <a:r>
              <a:rPr lang="en-US" sz="11500" dirty="0"/>
              <a:t>Basics/History</a:t>
            </a:r>
          </a:p>
        </p:txBody>
      </p:sp>
      <p:sp>
        <p:nvSpPr>
          <p:cNvPr id="4" name="Title 1">
            <a:extLst>
              <a:ext uri="{FF2B5EF4-FFF2-40B4-BE49-F238E27FC236}">
                <a16:creationId xmlns:a16="http://schemas.microsoft.com/office/drawing/2014/main" id="{2251DDA2-F95A-CCB5-41F9-50009302B830}"/>
              </a:ext>
            </a:extLst>
          </p:cNvPr>
          <p:cNvSpPr txBox="1">
            <a:spLocks/>
          </p:cNvSpPr>
          <p:nvPr/>
        </p:nvSpPr>
        <p:spPr>
          <a:xfrm>
            <a:off x="3840079" y="4504776"/>
            <a:ext cx="4511842" cy="1668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t>Part 1 of 4</a:t>
            </a:r>
          </a:p>
        </p:txBody>
      </p:sp>
    </p:spTree>
    <p:extLst>
      <p:ext uri="{BB962C8B-B14F-4D97-AF65-F5344CB8AC3E}">
        <p14:creationId xmlns:p14="http://schemas.microsoft.com/office/powerpoint/2010/main" val="17408154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FD286-682C-9E3A-26D5-4ABFE12EEEA4}"/>
              </a:ext>
            </a:extLst>
          </p:cNvPr>
          <p:cNvSpPr>
            <a:spLocks noGrp="1"/>
          </p:cNvSpPr>
          <p:nvPr>
            <p:ph type="title"/>
          </p:nvPr>
        </p:nvSpPr>
        <p:spPr>
          <a:xfrm>
            <a:off x="401320" y="117157"/>
            <a:ext cx="10515600" cy="1325563"/>
          </a:xfrm>
        </p:spPr>
        <p:txBody>
          <a:bodyPr/>
          <a:lstStyle/>
          <a:p>
            <a:r>
              <a:rPr lang="en-US" dirty="0"/>
              <a:t>Soft Forks –</a:t>
            </a:r>
            <a:r>
              <a:rPr lang="en-US" baseline="0" dirty="0"/>
              <a:t> The Basics</a:t>
            </a:r>
            <a:endParaRPr lang="en-US" dirty="0"/>
          </a:p>
        </p:txBody>
      </p:sp>
      <p:sp>
        <p:nvSpPr>
          <p:cNvPr id="3" name="Content Placeholder 2">
            <a:extLst>
              <a:ext uri="{FF2B5EF4-FFF2-40B4-BE49-F238E27FC236}">
                <a16:creationId xmlns:a16="http://schemas.microsoft.com/office/drawing/2014/main" id="{C9C10928-BE1A-60C9-78EE-6096F5D80F1C}"/>
              </a:ext>
            </a:extLst>
          </p:cNvPr>
          <p:cNvSpPr>
            <a:spLocks noGrp="1"/>
          </p:cNvSpPr>
          <p:nvPr>
            <p:ph idx="1"/>
          </p:nvPr>
        </p:nvSpPr>
        <p:spPr>
          <a:xfrm>
            <a:off x="838200" y="1252584"/>
            <a:ext cx="10515600" cy="5547360"/>
          </a:xfrm>
        </p:spPr>
        <p:txBody>
          <a:bodyPr/>
          <a:lstStyle/>
          <a:p>
            <a:r>
              <a:rPr lang="en-US" dirty="0"/>
              <a:t>Soft</a:t>
            </a:r>
            <a:r>
              <a:rPr lang="en-US" baseline="0" dirty="0"/>
              <a:t> vs Hard</a:t>
            </a:r>
          </a:p>
          <a:p>
            <a:pPr lvl="1"/>
            <a:r>
              <a:rPr lang="en-US" dirty="0"/>
              <a:t>“Tighten Rules” vs “Loosen Rules”</a:t>
            </a:r>
          </a:p>
          <a:p>
            <a:pPr lvl="1"/>
            <a:r>
              <a:rPr lang="en-US" dirty="0"/>
              <a:t>Optional Discretionary Upgrade vs Immediate Mandatory Upgrade</a:t>
            </a:r>
            <a:endParaRPr lang="en-US" baseline="0" dirty="0"/>
          </a:p>
          <a:p>
            <a:r>
              <a:rPr lang="en-US" baseline="0" dirty="0"/>
              <a:t>Notable Soft Forks</a:t>
            </a:r>
          </a:p>
          <a:p>
            <a:pPr lvl="1"/>
            <a:r>
              <a:rPr lang="en-US" baseline="0" dirty="0"/>
              <a:t>Aug</a:t>
            </a:r>
            <a:r>
              <a:rPr lang="en-US" dirty="0"/>
              <a:t> 2010 – </a:t>
            </a:r>
            <a:r>
              <a:rPr lang="en-US" baseline="0" dirty="0"/>
              <a:t>Disable a bunch of opcodes</a:t>
            </a:r>
          </a:p>
          <a:p>
            <a:pPr lvl="1"/>
            <a:r>
              <a:rPr lang="en-US" dirty="0"/>
              <a:t>Sep 2010 – </a:t>
            </a:r>
            <a:r>
              <a:rPr lang="en-US" baseline="0" dirty="0"/>
              <a:t>Limit </a:t>
            </a:r>
            <a:r>
              <a:rPr lang="en-US" baseline="0" dirty="0" err="1"/>
              <a:t>blocksize</a:t>
            </a:r>
            <a:r>
              <a:rPr lang="en-US" baseline="0" dirty="0"/>
              <a:t> to 1 MB</a:t>
            </a:r>
          </a:p>
          <a:p>
            <a:pPr lvl="1"/>
            <a:r>
              <a:rPr lang="en-US" dirty="0"/>
              <a:t>Apr 2012 – Add P2SH</a:t>
            </a:r>
          </a:p>
          <a:p>
            <a:pPr lvl="1"/>
            <a:r>
              <a:rPr lang="en-US" baseline="0" dirty="0"/>
              <a:t>Dec</a:t>
            </a:r>
            <a:r>
              <a:rPr lang="en-US" dirty="0"/>
              <a:t> 2015 – </a:t>
            </a:r>
            <a:r>
              <a:rPr lang="en-US" baseline="0" dirty="0"/>
              <a:t>Add CLTV</a:t>
            </a:r>
            <a:endParaRPr lang="en-US" dirty="0"/>
          </a:p>
          <a:p>
            <a:pPr lvl="1"/>
            <a:r>
              <a:rPr lang="en-US" dirty="0"/>
              <a:t>Aug 2017 – Add </a:t>
            </a:r>
            <a:r>
              <a:rPr lang="en-US" dirty="0" err="1"/>
              <a:t>SegWit</a:t>
            </a:r>
            <a:endParaRPr lang="en-US" baseline="0" dirty="0"/>
          </a:p>
          <a:p>
            <a:r>
              <a:rPr lang="en-US" baseline="0" dirty="0"/>
              <a:t>Infamous Attempted Hard Forks</a:t>
            </a:r>
          </a:p>
          <a:p>
            <a:pPr lvl="1"/>
            <a:r>
              <a:rPr lang="en-US" dirty="0"/>
              <a:t>2015 – Raise the Blocksize Limit (</a:t>
            </a:r>
            <a:r>
              <a:rPr lang="en-US" dirty="0" err="1"/>
              <a:t>BitcoinXT</a:t>
            </a:r>
            <a:r>
              <a:rPr lang="en-US" dirty="0"/>
              <a:t> / Bitcoin Classic / </a:t>
            </a:r>
            <a:r>
              <a:rPr lang="en-US" dirty="0" err="1"/>
              <a:t>etc</a:t>
            </a:r>
            <a:r>
              <a:rPr lang="en-US" dirty="0"/>
              <a:t>)</a:t>
            </a:r>
          </a:p>
          <a:p>
            <a:pPr lvl="1"/>
            <a:r>
              <a:rPr lang="en-US" dirty="0"/>
              <a:t>2017 – SegWit2x</a:t>
            </a:r>
          </a:p>
          <a:p>
            <a:pPr lvl="1"/>
            <a:r>
              <a:rPr lang="en-US" dirty="0"/>
              <a:t>2017 – BCH (which became its own community)</a:t>
            </a:r>
          </a:p>
        </p:txBody>
      </p:sp>
    </p:spTree>
    <p:extLst>
      <p:ext uri="{BB962C8B-B14F-4D97-AF65-F5344CB8AC3E}">
        <p14:creationId xmlns:p14="http://schemas.microsoft.com/office/powerpoint/2010/main" val="2154809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E961-0F7A-8CCF-B754-D365BD33A4F5}"/>
              </a:ext>
            </a:extLst>
          </p:cNvPr>
          <p:cNvSpPr>
            <a:spLocks noGrp="1"/>
          </p:cNvSpPr>
          <p:nvPr>
            <p:ph type="title"/>
          </p:nvPr>
        </p:nvSpPr>
        <p:spPr>
          <a:xfrm>
            <a:off x="339436" y="365125"/>
            <a:ext cx="10515600" cy="1325563"/>
          </a:xfrm>
        </p:spPr>
        <p:txBody>
          <a:bodyPr>
            <a:normAutofit/>
          </a:bodyPr>
          <a:lstStyle/>
          <a:p>
            <a:r>
              <a:rPr lang="en-US" sz="5400" dirty="0"/>
              <a:t>Some History – Not Widely Known</a:t>
            </a:r>
          </a:p>
        </p:txBody>
      </p:sp>
      <p:sp>
        <p:nvSpPr>
          <p:cNvPr id="3" name="Content Placeholder 2">
            <a:extLst>
              <a:ext uri="{FF2B5EF4-FFF2-40B4-BE49-F238E27FC236}">
                <a16:creationId xmlns:a16="http://schemas.microsoft.com/office/drawing/2014/main" id="{5DF82F12-1C23-E975-3120-1FB14B984A60}"/>
              </a:ext>
            </a:extLst>
          </p:cNvPr>
          <p:cNvSpPr>
            <a:spLocks noGrp="1"/>
          </p:cNvSpPr>
          <p:nvPr>
            <p:ph idx="1"/>
          </p:nvPr>
        </p:nvSpPr>
        <p:spPr>
          <a:xfrm>
            <a:off x="838200" y="1911927"/>
            <a:ext cx="10515600" cy="4280326"/>
          </a:xfrm>
        </p:spPr>
        <p:txBody>
          <a:bodyPr>
            <a:normAutofit/>
          </a:bodyPr>
          <a:lstStyle/>
          <a:p>
            <a:pPr marL="514350" lvl="0" indent="-514350">
              <a:buFont typeface="+mj-lt"/>
              <a:buAutoNum type="arabicPeriod"/>
            </a:pPr>
            <a:r>
              <a:rPr lang="en-US" sz="3600" dirty="0"/>
              <a:t>Gavin</a:t>
            </a:r>
            <a:r>
              <a:rPr lang="en-US" sz="3600" baseline="0" dirty="0"/>
              <a:t> Called Them “Soft </a:t>
            </a:r>
            <a:r>
              <a:rPr lang="en-US" sz="3600" b="1" i="1" u="sng" baseline="0" dirty="0"/>
              <a:t>Changes</a:t>
            </a:r>
            <a:r>
              <a:rPr lang="en-US" sz="3600" baseline="0" dirty="0"/>
              <a:t>” (June 2012)</a:t>
            </a:r>
          </a:p>
          <a:p>
            <a:pPr marL="514350" indent="-514350">
              <a:buFont typeface="+mj-lt"/>
              <a:buAutoNum type="arabicPeriod"/>
            </a:pPr>
            <a:r>
              <a:rPr lang="en-US" sz="3600" baseline="0" dirty="0"/>
              <a:t>“Changes” is a better</a:t>
            </a:r>
            <a:r>
              <a:rPr lang="en-US" sz="3600" dirty="0"/>
              <a:t> term – “</a:t>
            </a:r>
            <a:r>
              <a:rPr lang="en-US" sz="3600" baseline="0" dirty="0"/>
              <a:t>Fork” is a bad term.</a:t>
            </a:r>
          </a:p>
          <a:p>
            <a:pPr marL="514350" indent="-514350">
              <a:buFont typeface="+mj-lt"/>
              <a:buAutoNum type="arabicPeriod"/>
            </a:pPr>
            <a:r>
              <a:rPr lang="en-US" sz="3600" dirty="0"/>
              <a:t>How the “Soft Fork” Term created (Nov 2012)</a:t>
            </a:r>
          </a:p>
          <a:p>
            <a:pPr marL="971550" lvl="1" indent="-514350">
              <a:buFont typeface="+mj-lt"/>
              <a:buAutoNum type="arabicPeriod"/>
            </a:pPr>
            <a:r>
              <a:rPr lang="en-US" sz="3200" dirty="0"/>
              <a:t>And why it’s actually good.</a:t>
            </a:r>
          </a:p>
          <a:p>
            <a:pPr marL="514350" indent="-514350">
              <a:buFont typeface="+mj-lt"/>
              <a:buAutoNum type="arabicPeriod"/>
            </a:pPr>
            <a:r>
              <a:rPr lang="en-US" sz="3600" dirty="0"/>
              <a:t>The Logic Behind It</a:t>
            </a:r>
            <a:r>
              <a:rPr lang="en-US" sz="3600" baseline="0" dirty="0"/>
              <a:t> All</a:t>
            </a:r>
            <a:endParaRPr lang="en-US" sz="3600" dirty="0"/>
          </a:p>
        </p:txBody>
      </p:sp>
    </p:spTree>
    <p:extLst>
      <p:ext uri="{BB962C8B-B14F-4D97-AF65-F5344CB8AC3E}">
        <p14:creationId xmlns:p14="http://schemas.microsoft.com/office/powerpoint/2010/main" val="2714590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5E85B7-F764-653C-66DF-8B2EB4FD55C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29B57AB-5F82-E3D8-184C-5FDBFF4F36FC}"/>
              </a:ext>
            </a:extLst>
          </p:cNvPr>
          <p:cNvPicPr>
            <a:picLocks noChangeAspect="1"/>
          </p:cNvPicPr>
          <p:nvPr/>
        </p:nvPicPr>
        <p:blipFill>
          <a:blip r:embed="rId2"/>
          <a:stretch>
            <a:fillRect/>
          </a:stretch>
        </p:blipFill>
        <p:spPr>
          <a:xfrm>
            <a:off x="179109" y="935037"/>
            <a:ext cx="11833781" cy="5667487"/>
          </a:xfrm>
          <a:prstGeom prst="rect">
            <a:avLst/>
          </a:prstGeom>
        </p:spPr>
      </p:pic>
      <p:sp>
        <p:nvSpPr>
          <p:cNvPr id="2" name="Title 1">
            <a:extLst>
              <a:ext uri="{FF2B5EF4-FFF2-40B4-BE49-F238E27FC236}">
                <a16:creationId xmlns:a16="http://schemas.microsoft.com/office/drawing/2014/main" id="{2282F62E-3B3C-6DA0-6F99-D329D9F2B9FD}"/>
              </a:ext>
            </a:extLst>
          </p:cNvPr>
          <p:cNvSpPr>
            <a:spLocks noGrp="1"/>
          </p:cNvSpPr>
          <p:nvPr>
            <p:ph type="title"/>
          </p:nvPr>
        </p:nvSpPr>
        <p:spPr>
          <a:xfrm>
            <a:off x="838200" y="161925"/>
            <a:ext cx="10515600" cy="854075"/>
          </a:xfrm>
          <a:solidFill>
            <a:schemeClr val="bg1">
              <a:lumMod val="85000"/>
            </a:schemeClr>
          </a:solidFill>
          <a:ln>
            <a:solidFill>
              <a:schemeClr val="tx1"/>
            </a:solidFill>
          </a:ln>
        </p:spPr>
        <p:txBody>
          <a:bodyPr/>
          <a:lstStyle/>
          <a:p>
            <a:r>
              <a:rPr lang="en-US" dirty="0"/>
              <a:t>Gavin Called them “Soft Changes”</a:t>
            </a:r>
          </a:p>
        </p:txBody>
      </p:sp>
    </p:spTree>
    <p:extLst>
      <p:ext uri="{BB962C8B-B14F-4D97-AF65-F5344CB8AC3E}">
        <p14:creationId xmlns:p14="http://schemas.microsoft.com/office/powerpoint/2010/main" val="2157634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5E85B7-F764-653C-66DF-8B2EB4FD55C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29B57AB-5F82-E3D8-184C-5FDBFF4F36FC}"/>
              </a:ext>
            </a:extLst>
          </p:cNvPr>
          <p:cNvPicPr>
            <a:picLocks noChangeAspect="1"/>
          </p:cNvPicPr>
          <p:nvPr/>
        </p:nvPicPr>
        <p:blipFill>
          <a:blip r:embed="rId2"/>
          <a:stretch>
            <a:fillRect/>
          </a:stretch>
        </p:blipFill>
        <p:spPr>
          <a:xfrm>
            <a:off x="179109" y="935037"/>
            <a:ext cx="11833781" cy="5667487"/>
          </a:xfrm>
          <a:prstGeom prst="rect">
            <a:avLst/>
          </a:prstGeom>
        </p:spPr>
      </p:pic>
      <p:sp>
        <p:nvSpPr>
          <p:cNvPr id="2" name="Title 1">
            <a:extLst>
              <a:ext uri="{FF2B5EF4-FFF2-40B4-BE49-F238E27FC236}">
                <a16:creationId xmlns:a16="http://schemas.microsoft.com/office/drawing/2014/main" id="{2282F62E-3B3C-6DA0-6F99-D329D9F2B9FD}"/>
              </a:ext>
            </a:extLst>
          </p:cNvPr>
          <p:cNvSpPr>
            <a:spLocks noGrp="1"/>
          </p:cNvSpPr>
          <p:nvPr>
            <p:ph type="title"/>
          </p:nvPr>
        </p:nvSpPr>
        <p:spPr>
          <a:xfrm>
            <a:off x="838200" y="161925"/>
            <a:ext cx="10515600" cy="854075"/>
          </a:xfrm>
          <a:solidFill>
            <a:schemeClr val="bg1">
              <a:lumMod val="85000"/>
            </a:schemeClr>
          </a:solidFill>
          <a:ln>
            <a:solidFill>
              <a:schemeClr val="tx1"/>
            </a:solidFill>
          </a:ln>
        </p:spPr>
        <p:txBody>
          <a:bodyPr/>
          <a:lstStyle/>
          <a:p>
            <a:r>
              <a:rPr lang="en-US" dirty="0"/>
              <a:t>Gavin Called them “Soft Changes”</a:t>
            </a:r>
          </a:p>
        </p:txBody>
      </p:sp>
      <p:sp>
        <p:nvSpPr>
          <p:cNvPr id="4" name="Rectangle: Rounded Corners 3">
            <a:extLst>
              <a:ext uri="{FF2B5EF4-FFF2-40B4-BE49-F238E27FC236}">
                <a16:creationId xmlns:a16="http://schemas.microsoft.com/office/drawing/2014/main" id="{6A505E69-36DF-389D-6B42-1442ACA84A44}"/>
              </a:ext>
            </a:extLst>
          </p:cNvPr>
          <p:cNvSpPr/>
          <p:nvPr/>
        </p:nvSpPr>
        <p:spPr>
          <a:xfrm>
            <a:off x="9611360" y="5059680"/>
            <a:ext cx="1016000" cy="264160"/>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CECBE9C-DA41-DAF5-D3FC-730B099D2CB7}"/>
              </a:ext>
            </a:extLst>
          </p:cNvPr>
          <p:cNvSpPr/>
          <p:nvPr/>
        </p:nvSpPr>
        <p:spPr>
          <a:xfrm>
            <a:off x="5405120" y="2661920"/>
            <a:ext cx="995680" cy="375920"/>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FDD3AFE-0D11-7359-57DC-BAA016D61B26}"/>
              </a:ext>
            </a:extLst>
          </p:cNvPr>
          <p:cNvCxnSpPr/>
          <p:nvPr/>
        </p:nvCxnSpPr>
        <p:spPr>
          <a:xfrm>
            <a:off x="6543040" y="3037840"/>
            <a:ext cx="3352800" cy="187960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33A207FD-9897-3CE0-9947-C072C589A38B}"/>
              </a:ext>
            </a:extLst>
          </p:cNvPr>
          <p:cNvSpPr/>
          <p:nvPr/>
        </p:nvSpPr>
        <p:spPr>
          <a:xfrm>
            <a:off x="6055360" y="5252561"/>
            <a:ext cx="2580640" cy="264160"/>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9DEE2453-90AF-BEC8-54EC-8373FE719A48}"/>
              </a:ext>
            </a:extLst>
          </p:cNvPr>
          <p:cNvSpPr txBox="1">
            <a:spLocks/>
          </p:cNvSpPr>
          <p:nvPr/>
        </p:nvSpPr>
        <p:spPr>
          <a:xfrm>
            <a:off x="447040" y="5228907"/>
            <a:ext cx="3596640" cy="854076"/>
          </a:xfrm>
          <a:prstGeom prst="rect">
            <a:avLst/>
          </a:prstGeom>
          <a:solidFill>
            <a:srgbClr val="FFFF00"/>
          </a:solidFill>
          <a:ln>
            <a:solidFill>
              <a:schemeClr val="tx1"/>
            </a:solid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t>Forbidden, on grounds of impracticality</a:t>
            </a:r>
          </a:p>
        </p:txBody>
      </p:sp>
    </p:spTree>
    <p:extLst>
      <p:ext uri="{BB962C8B-B14F-4D97-AF65-F5344CB8AC3E}">
        <p14:creationId xmlns:p14="http://schemas.microsoft.com/office/powerpoint/2010/main" val="96242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CC14-5F1B-AF49-BBCA-327671F8E7B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66425E8-FA94-5BB9-9C3D-78793A7129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4183" y="72982"/>
            <a:ext cx="9503633" cy="6785018"/>
          </a:xfrm>
        </p:spPr>
      </p:pic>
    </p:spTree>
    <p:extLst>
      <p:ext uri="{BB962C8B-B14F-4D97-AF65-F5344CB8AC3E}">
        <p14:creationId xmlns:p14="http://schemas.microsoft.com/office/powerpoint/2010/main" val="4014499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CD9D8-B556-7719-CFE8-754E6374B5AD}"/>
              </a:ext>
            </a:extLst>
          </p:cNvPr>
          <p:cNvSpPr>
            <a:spLocks noGrp="1"/>
          </p:cNvSpPr>
          <p:nvPr>
            <p:ph type="title"/>
          </p:nvPr>
        </p:nvSpPr>
        <p:spPr/>
        <p:txBody>
          <a:bodyPr/>
          <a:lstStyle/>
          <a:p>
            <a:r>
              <a:rPr lang="en-US" dirty="0"/>
              <a:t>Nov</a:t>
            </a:r>
            <a:r>
              <a:rPr lang="en-US" baseline="0" dirty="0"/>
              <a:t> 2012 Definitions</a:t>
            </a:r>
            <a:endParaRPr lang="en-US" dirty="0"/>
          </a:p>
        </p:txBody>
      </p:sp>
      <p:sp>
        <p:nvSpPr>
          <p:cNvPr id="3" name="Content Placeholder 2">
            <a:extLst>
              <a:ext uri="{FF2B5EF4-FFF2-40B4-BE49-F238E27FC236}">
                <a16:creationId xmlns:a16="http://schemas.microsoft.com/office/drawing/2014/main" id="{60193714-4154-21CC-4627-165289C894C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712A90D-0846-534A-6B00-6273A9FA9069}"/>
              </a:ext>
            </a:extLst>
          </p:cNvPr>
          <p:cNvPicPr>
            <a:picLocks noChangeAspect="1"/>
          </p:cNvPicPr>
          <p:nvPr/>
        </p:nvPicPr>
        <p:blipFill>
          <a:blip r:embed="rId2"/>
          <a:stretch>
            <a:fillRect/>
          </a:stretch>
        </p:blipFill>
        <p:spPr>
          <a:xfrm>
            <a:off x="257175" y="252412"/>
            <a:ext cx="11677650" cy="6353175"/>
          </a:xfrm>
          <a:prstGeom prst="rect">
            <a:avLst/>
          </a:prstGeom>
        </p:spPr>
      </p:pic>
      <p:sp>
        <p:nvSpPr>
          <p:cNvPr id="6" name="Title 1">
            <a:extLst>
              <a:ext uri="{FF2B5EF4-FFF2-40B4-BE49-F238E27FC236}">
                <a16:creationId xmlns:a16="http://schemas.microsoft.com/office/drawing/2014/main" id="{31767A40-6450-0670-331A-DE2F1E477CFF}"/>
              </a:ext>
            </a:extLst>
          </p:cNvPr>
          <p:cNvSpPr txBox="1">
            <a:spLocks/>
          </p:cNvSpPr>
          <p:nvPr/>
        </p:nvSpPr>
        <p:spPr>
          <a:xfrm>
            <a:off x="4836160" y="365125"/>
            <a:ext cx="6517640" cy="1325563"/>
          </a:xfrm>
          <a:prstGeom prst="rect">
            <a:avLst/>
          </a:prstGeom>
          <a:solidFill>
            <a:schemeClr val="bg1">
              <a:lumMod val="85000"/>
            </a:schemeClr>
          </a:solidFill>
          <a:ln w="5715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Nov 2012 – Definitions</a:t>
            </a:r>
          </a:p>
        </p:txBody>
      </p:sp>
    </p:spTree>
    <p:extLst>
      <p:ext uri="{BB962C8B-B14F-4D97-AF65-F5344CB8AC3E}">
        <p14:creationId xmlns:p14="http://schemas.microsoft.com/office/powerpoint/2010/main" val="17639740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3DF18-715D-ADF7-81F5-F26FC3B13FF1}"/>
              </a:ext>
            </a:extLst>
          </p:cNvPr>
          <p:cNvSpPr>
            <a:spLocks noGrp="1"/>
          </p:cNvSpPr>
          <p:nvPr>
            <p:ph type="title"/>
          </p:nvPr>
        </p:nvSpPr>
        <p:spPr>
          <a:xfrm>
            <a:off x="4836160" y="365125"/>
            <a:ext cx="6517640" cy="1325563"/>
          </a:xfrm>
          <a:solidFill>
            <a:schemeClr val="bg1">
              <a:lumMod val="85000"/>
            </a:schemeClr>
          </a:solidFill>
          <a:ln>
            <a:solidFill>
              <a:schemeClr val="tx1"/>
            </a:solidFill>
          </a:ln>
        </p:spPr>
        <p:txBody>
          <a:bodyPr/>
          <a:lstStyle/>
          <a:p>
            <a:pPr algn="ctr"/>
            <a:r>
              <a:rPr lang="en-US" b="1" dirty="0"/>
              <a:t>Nov 2012 – Definitions</a:t>
            </a:r>
          </a:p>
        </p:txBody>
      </p:sp>
      <p:pic>
        <p:nvPicPr>
          <p:cNvPr id="7" name="Content Placeholder 6">
            <a:extLst>
              <a:ext uri="{FF2B5EF4-FFF2-40B4-BE49-F238E27FC236}">
                <a16:creationId xmlns:a16="http://schemas.microsoft.com/office/drawing/2014/main" id="{B94F3FF5-34AC-265A-800A-A3A8F24F495F}"/>
              </a:ext>
            </a:extLst>
          </p:cNvPr>
          <p:cNvPicPr>
            <a:picLocks noGrp="1" noChangeAspect="1"/>
          </p:cNvPicPr>
          <p:nvPr>
            <p:ph idx="1"/>
          </p:nvPr>
        </p:nvPicPr>
        <p:blipFill>
          <a:blip r:embed="rId2"/>
          <a:stretch>
            <a:fillRect/>
          </a:stretch>
        </p:blipFill>
        <p:spPr>
          <a:xfrm>
            <a:off x="111760" y="772023"/>
            <a:ext cx="4276725" cy="1419225"/>
          </a:xfrm>
          <a:ln>
            <a:solidFill>
              <a:schemeClr val="tx1"/>
            </a:solidFill>
          </a:ln>
        </p:spPr>
      </p:pic>
      <p:pic>
        <p:nvPicPr>
          <p:cNvPr id="5" name="Picture 4">
            <a:extLst>
              <a:ext uri="{FF2B5EF4-FFF2-40B4-BE49-F238E27FC236}">
                <a16:creationId xmlns:a16="http://schemas.microsoft.com/office/drawing/2014/main" id="{26699654-07ED-96D5-5CEE-1763E36E84EE}"/>
              </a:ext>
            </a:extLst>
          </p:cNvPr>
          <p:cNvPicPr>
            <a:picLocks noChangeAspect="1"/>
          </p:cNvPicPr>
          <p:nvPr/>
        </p:nvPicPr>
        <p:blipFill rotWithShape="1">
          <a:blip r:embed="rId3"/>
          <a:srcRect l="1917" r="1583"/>
          <a:stretch/>
        </p:blipFill>
        <p:spPr>
          <a:xfrm>
            <a:off x="111760" y="3469328"/>
            <a:ext cx="11765280" cy="1850793"/>
          </a:xfrm>
          <a:prstGeom prst="rect">
            <a:avLst/>
          </a:prstGeom>
          <a:ln>
            <a:solidFill>
              <a:schemeClr val="tx1"/>
            </a:solidFill>
          </a:ln>
        </p:spPr>
      </p:pic>
      <p:pic>
        <p:nvPicPr>
          <p:cNvPr id="9" name="Picture 8">
            <a:extLst>
              <a:ext uri="{FF2B5EF4-FFF2-40B4-BE49-F238E27FC236}">
                <a16:creationId xmlns:a16="http://schemas.microsoft.com/office/drawing/2014/main" id="{BDA9EE97-5B99-7EE0-64FA-A208745E7AA2}"/>
              </a:ext>
            </a:extLst>
          </p:cNvPr>
          <p:cNvPicPr>
            <a:picLocks noChangeAspect="1"/>
          </p:cNvPicPr>
          <p:nvPr/>
        </p:nvPicPr>
        <p:blipFill>
          <a:blip r:embed="rId4"/>
          <a:stretch>
            <a:fillRect/>
          </a:stretch>
        </p:blipFill>
        <p:spPr>
          <a:xfrm>
            <a:off x="111760" y="5504041"/>
            <a:ext cx="11816080" cy="1095148"/>
          </a:xfrm>
          <a:prstGeom prst="rect">
            <a:avLst/>
          </a:prstGeom>
          <a:ln>
            <a:solidFill>
              <a:schemeClr val="tx1"/>
            </a:solidFill>
          </a:ln>
        </p:spPr>
      </p:pic>
      <p:pic>
        <p:nvPicPr>
          <p:cNvPr id="11" name="Picture 10">
            <a:extLst>
              <a:ext uri="{FF2B5EF4-FFF2-40B4-BE49-F238E27FC236}">
                <a16:creationId xmlns:a16="http://schemas.microsoft.com/office/drawing/2014/main" id="{E5DCF61F-4D6F-BEAA-5F47-C8AFF152DFE1}"/>
              </a:ext>
            </a:extLst>
          </p:cNvPr>
          <p:cNvPicPr>
            <a:picLocks noChangeAspect="1"/>
          </p:cNvPicPr>
          <p:nvPr/>
        </p:nvPicPr>
        <p:blipFill>
          <a:blip r:embed="rId5"/>
          <a:stretch>
            <a:fillRect/>
          </a:stretch>
        </p:blipFill>
        <p:spPr>
          <a:xfrm>
            <a:off x="111760" y="2335535"/>
            <a:ext cx="11765280" cy="1002862"/>
          </a:xfrm>
          <a:prstGeom prst="rect">
            <a:avLst/>
          </a:prstGeom>
          <a:ln>
            <a:solidFill>
              <a:schemeClr val="tx1"/>
            </a:solidFill>
          </a:ln>
        </p:spPr>
      </p:pic>
    </p:spTree>
    <p:extLst>
      <p:ext uri="{BB962C8B-B14F-4D97-AF65-F5344CB8AC3E}">
        <p14:creationId xmlns:p14="http://schemas.microsoft.com/office/powerpoint/2010/main" val="19637191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9DBB2-A3A4-4343-3425-E6781AE87DEE}"/>
              </a:ext>
            </a:extLst>
          </p:cNvPr>
          <p:cNvSpPr>
            <a:spLocks noGrp="1"/>
          </p:cNvSpPr>
          <p:nvPr>
            <p:ph type="title"/>
          </p:nvPr>
        </p:nvSpPr>
        <p:spPr>
          <a:xfrm>
            <a:off x="460513" y="1040986"/>
            <a:ext cx="3567545" cy="4008092"/>
          </a:xfrm>
        </p:spPr>
        <p:txBody>
          <a:bodyPr>
            <a:normAutofit/>
          </a:bodyPr>
          <a:lstStyle/>
          <a:p>
            <a:r>
              <a:rPr lang="en-US" dirty="0"/>
              <a:t>Even Adam Back and Luke </a:t>
            </a:r>
            <a:r>
              <a:rPr lang="en-US" dirty="0" err="1"/>
              <a:t>Dashjr</a:t>
            </a:r>
            <a:r>
              <a:rPr lang="en-US" dirty="0"/>
              <a:t> Disagree</a:t>
            </a:r>
          </a:p>
        </p:txBody>
      </p:sp>
      <p:pic>
        <p:nvPicPr>
          <p:cNvPr id="5" name="Content Placeholder 4">
            <a:extLst>
              <a:ext uri="{FF2B5EF4-FFF2-40B4-BE49-F238E27FC236}">
                <a16:creationId xmlns:a16="http://schemas.microsoft.com/office/drawing/2014/main" id="{39FD98AC-F6D0-A81F-C8B4-751EF5B424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9262" y="188995"/>
            <a:ext cx="6948055" cy="6480010"/>
          </a:xfrm>
        </p:spPr>
      </p:pic>
    </p:spTree>
    <p:extLst>
      <p:ext uri="{BB962C8B-B14F-4D97-AF65-F5344CB8AC3E}">
        <p14:creationId xmlns:p14="http://schemas.microsoft.com/office/powerpoint/2010/main" val="326876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3DF18-715D-ADF7-81F5-F26FC3B13FF1}"/>
              </a:ext>
            </a:extLst>
          </p:cNvPr>
          <p:cNvSpPr>
            <a:spLocks noGrp="1"/>
          </p:cNvSpPr>
          <p:nvPr>
            <p:ph type="title"/>
          </p:nvPr>
        </p:nvSpPr>
        <p:spPr>
          <a:xfrm>
            <a:off x="4836160" y="365125"/>
            <a:ext cx="6517640" cy="1325563"/>
          </a:xfrm>
          <a:solidFill>
            <a:schemeClr val="bg1">
              <a:lumMod val="85000"/>
            </a:schemeClr>
          </a:solidFill>
          <a:ln>
            <a:solidFill>
              <a:schemeClr val="tx1"/>
            </a:solidFill>
          </a:ln>
        </p:spPr>
        <p:txBody>
          <a:bodyPr/>
          <a:lstStyle/>
          <a:p>
            <a:pPr algn="ctr"/>
            <a:r>
              <a:rPr lang="en-US" b="1" dirty="0"/>
              <a:t>Nov 2012 – Definitions</a:t>
            </a:r>
          </a:p>
        </p:txBody>
      </p:sp>
      <p:pic>
        <p:nvPicPr>
          <p:cNvPr id="7" name="Content Placeholder 6">
            <a:extLst>
              <a:ext uri="{FF2B5EF4-FFF2-40B4-BE49-F238E27FC236}">
                <a16:creationId xmlns:a16="http://schemas.microsoft.com/office/drawing/2014/main" id="{B94F3FF5-34AC-265A-800A-A3A8F24F495F}"/>
              </a:ext>
            </a:extLst>
          </p:cNvPr>
          <p:cNvPicPr>
            <a:picLocks noGrp="1" noChangeAspect="1"/>
          </p:cNvPicPr>
          <p:nvPr>
            <p:ph idx="1"/>
          </p:nvPr>
        </p:nvPicPr>
        <p:blipFill>
          <a:blip r:embed="rId2"/>
          <a:stretch>
            <a:fillRect/>
          </a:stretch>
        </p:blipFill>
        <p:spPr>
          <a:xfrm>
            <a:off x="111760" y="772023"/>
            <a:ext cx="4276725" cy="1419225"/>
          </a:xfrm>
          <a:ln>
            <a:solidFill>
              <a:schemeClr val="tx1"/>
            </a:solidFill>
          </a:ln>
        </p:spPr>
      </p:pic>
      <p:pic>
        <p:nvPicPr>
          <p:cNvPr id="5" name="Picture 4">
            <a:extLst>
              <a:ext uri="{FF2B5EF4-FFF2-40B4-BE49-F238E27FC236}">
                <a16:creationId xmlns:a16="http://schemas.microsoft.com/office/drawing/2014/main" id="{26699654-07ED-96D5-5CEE-1763E36E84EE}"/>
              </a:ext>
            </a:extLst>
          </p:cNvPr>
          <p:cNvPicPr>
            <a:picLocks noChangeAspect="1"/>
          </p:cNvPicPr>
          <p:nvPr/>
        </p:nvPicPr>
        <p:blipFill rotWithShape="1">
          <a:blip r:embed="rId3"/>
          <a:srcRect l="1917" r="1583"/>
          <a:stretch/>
        </p:blipFill>
        <p:spPr>
          <a:xfrm>
            <a:off x="111760" y="3469328"/>
            <a:ext cx="11765280" cy="1850793"/>
          </a:xfrm>
          <a:prstGeom prst="rect">
            <a:avLst/>
          </a:prstGeom>
          <a:ln>
            <a:solidFill>
              <a:schemeClr val="tx1"/>
            </a:solidFill>
          </a:ln>
        </p:spPr>
      </p:pic>
      <p:pic>
        <p:nvPicPr>
          <p:cNvPr id="9" name="Picture 8">
            <a:extLst>
              <a:ext uri="{FF2B5EF4-FFF2-40B4-BE49-F238E27FC236}">
                <a16:creationId xmlns:a16="http://schemas.microsoft.com/office/drawing/2014/main" id="{BDA9EE97-5B99-7EE0-64FA-A208745E7AA2}"/>
              </a:ext>
            </a:extLst>
          </p:cNvPr>
          <p:cNvPicPr>
            <a:picLocks noChangeAspect="1"/>
          </p:cNvPicPr>
          <p:nvPr/>
        </p:nvPicPr>
        <p:blipFill>
          <a:blip r:embed="rId4"/>
          <a:stretch>
            <a:fillRect/>
          </a:stretch>
        </p:blipFill>
        <p:spPr>
          <a:xfrm>
            <a:off x="111760" y="5504041"/>
            <a:ext cx="11816080" cy="1095148"/>
          </a:xfrm>
          <a:prstGeom prst="rect">
            <a:avLst/>
          </a:prstGeom>
          <a:ln>
            <a:solidFill>
              <a:schemeClr val="tx1"/>
            </a:solidFill>
          </a:ln>
        </p:spPr>
      </p:pic>
      <p:pic>
        <p:nvPicPr>
          <p:cNvPr id="11" name="Picture 10">
            <a:extLst>
              <a:ext uri="{FF2B5EF4-FFF2-40B4-BE49-F238E27FC236}">
                <a16:creationId xmlns:a16="http://schemas.microsoft.com/office/drawing/2014/main" id="{E5DCF61F-4D6F-BEAA-5F47-C8AFF152DFE1}"/>
              </a:ext>
            </a:extLst>
          </p:cNvPr>
          <p:cNvPicPr>
            <a:picLocks noChangeAspect="1"/>
          </p:cNvPicPr>
          <p:nvPr/>
        </p:nvPicPr>
        <p:blipFill>
          <a:blip r:embed="rId5"/>
          <a:stretch>
            <a:fillRect/>
          </a:stretch>
        </p:blipFill>
        <p:spPr>
          <a:xfrm>
            <a:off x="111760" y="2335535"/>
            <a:ext cx="11765280" cy="1002862"/>
          </a:xfrm>
          <a:prstGeom prst="rect">
            <a:avLst/>
          </a:prstGeom>
          <a:ln>
            <a:solidFill>
              <a:schemeClr val="tx1"/>
            </a:solidFill>
          </a:ln>
        </p:spPr>
      </p:pic>
    </p:spTree>
    <p:extLst>
      <p:ext uri="{BB962C8B-B14F-4D97-AF65-F5344CB8AC3E}">
        <p14:creationId xmlns:p14="http://schemas.microsoft.com/office/powerpoint/2010/main" val="3015496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5264-A406-A679-7337-FCC1F0DCCD8C}"/>
              </a:ext>
            </a:extLst>
          </p:cNvPr>
          <p:cNvSpPr>
            <a:spLocks noGrp="1"/>
          </p:cNvSpPr>
          <p:nvPr>
            <p:ph type="title"/>
          </p:nvPr>
        </p:nvSpPr>
        <p:spPr/>
        <p:txBody>
          <a:bodyPr>
            <a:normAutofit/>
          </a:bodyPr>
          <a:lstStyle/>
          <a:p>
            <a:r>
              <a:rPr lang="en-US" sz="5400" dirty="0"/>
              <a:t>The Logic (historic)</a:t>
            </a:r>
          </a:p>
        </p:txBody>
      </p:sp>
      <p:sp>
        <p:nvSpPr>
          <p:cNvPr id="3" name="Content Placeholder 2">
            <a:extLst>
              <a:ext uri="{FF2B5EF4-FFF2-40B4-BE49-F238E27FC236}">
                <a16:creationId xmlns:a16="http://schemas.microsoft.com/office/drawing/2014/main" id="{08425B00-C788-2B3C-A15A-6A499C93915F}"/>
              </a:ext>
            </a:extLst>
          </p:cNvPr>
          <p:cNvSpPr>
            <a:spLocks noGrp="1"/>
          </p:cNvSpPr>
          <p:nvPr>
            <p:ph idx="1"/>
          </p:nvPr>
        </p:nvSpPr>
        <p:spPr>
          <a:xfrm>
            <a:off x="838200" y="1690687"/>
            <a:ext cx="10515600" cy="4630599"/>
          </a:xfrm>
        </p:spPr>
        <p:txBody>
          <a:bodyPr/>
          <a:lstStyle/>
          <a:p>
            <a:r>
              <a:rPr lang="en-US" dirty="0"/>
              <a:t>A soft fork “will resolve itself”.</a:t>
            </a:r>
          </a:p>
          <a:p>
            <a:pPr lvl="1"/>
            <a:r>
              <a:rPr lang="en-US" dirty="0"/>
              <a:t>It will either collapse in the “use the new feature” direction, or...</a:t>
            </a:r>
          </a:p>
          <a:p>
            <a:pPr lvl="1"/>
            <a:r>
              <a:rPr lang="en-US" dirty="0"/>
              <a:t>... it will collapse in the “new feature is broken” direction.</a:t>
            </a:r>
          </a:p>
          <a:p>
            <a:r>
              <a:rPr lang="en-US" dirty="0"/>
              <a:t>If &gt;50% hashrate upgrades to support a feature, then the fork will </a:t>
            </a:r>
            <a:r>
              <a:rPr lang="en-US" i="1" u="sng" dirty="0"/>
              <a:t>always</a:t>
            </a:r>
            <a:r>
              <a:rPr lang="en-US" dirty="0"/>
              <a:t> resolve in the direction that </a:t>
            </a:r>
            <a:r>
              <a:rPr lang="en-US" i="1" u="sng" dirty="0"/>
              <a:t>supports</a:t>
            </a:r>
            <a:r>
              <a:rPr lang="en-US" dirty="0"/>
              <a:t> the feature.</a:t>
            </a:r>
          </a:p>
          <a:p>
            <a:pPr lvl="1"/>
            <a:r>
              <a:rPr lang="en-US" dirty="0"/>
              <a:t>Rebel-blocks are always orphaned (it is as if they arrived too late).</a:t>
            </a:r>
          </a:p>
          <a:p>
            <a:pPr lvl="1"/>
            <a:r>
              <a:rPr lang="en-US" dirty="0"/>
              <a:t>Thus, a feature goes from being 0% safe, to 100% safe, on a defined date.</a:t>
            </a:r>
          </a:p>
          <a:p>
            <a:pPr lvl="1"/>
            <a:r>
              <a:rPr lang="en-US" dirty="0"/>
              <a:t>With hashrate-signaling, everyone can learn the exact date that the feature activates.</a:t>
            </a:r>
          </a:p>
          <a:p>
            <a:r>
              <a:rPr lang="en-US" dirty="0"/>
              <a:t>Very useful!</a:t>
            </a:r>
          </a:p>
          <a:p>
            <a:pPr lvl="1"/>
            <a:r>
              <a:rPr lang="en-US" dirty="0"/>
              <a:t>…paired with “blank” anyone-can-spend OP NOP</a:t>
            </a:r>
          </a:p>
        </p:txBody>
      </p:sp>
    </p:spTree>
    <p:extLst>
      <p:ext uri="{BB962C8B-B14F-4D97-AF65-F5344CB8AC3E}">
        <p14:creationId xmlns:p14="http://schemas.microsoft.com/office/powerpoint/2010/main" val="584665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5578-575B-B69A-EA1A-573206BC4150}"/>
              </a:ext>
            </a:extLst>
          </p:cNvPr>
          <p:cNvSpPr>
            <a:spLocks noGrp="1"/>
          </p:cNvSpPr>
          <p:nvPr>
            <p:ph type="title"/>
          </p:nvPr>
        </p:nvSpPr>
        <p:spPr>
          <a:xfrm>
            <a:off x="811696" y="325370"/>
            <a:ext cx="10515600" cy="483014"/>
          </a:xfrm>
        </p:spPr>
        <p:txBody>
          <a:bodyPr>
            <a:normAutofit fontScale="90000"/>
          </a:bodyPr>
          <a:lstStyle/>
          <a:p>
            <a:r>
              <a:rPr lang="en-US" dirty="0"/>
              <a:t>A concise soft fork</a:t>
            </a:r>
          </a:p>
        </p:txBody>
      </p:sp>
      <p:sp>
        <p:nvSpPr>
          <p:cNvPr id="3" name="Content Placeholder 2">
            <a:extLst>
              <a:ext uri="{FF2B5EF4-FFF2-40B4-BE49-F238E27FC236}">
                <a16:creationId xmlns:a16="http://schemas.microsoft.com/office/drawing/2014/main" id="{40B5C675-CA5C-D9A9-469C-AB38602249E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B4BEACA-F417-C28C-184F-9C94849AE4DA}"/>
              </a:ext>
            </a:extLst>
          </p:cNvPr>
          <p:cNvPicPr>
            <a:picLocks noChangeAspect="1"/>
          </p:cNvPicPr>
          <p:nvPr/>
        </p:nvPicPr>
        <p:blipFill>
          <a:blip r:embed="rId2"/>
          <a:stretch>
            <a:fillRect/>
          </a:stretch>
        </p:blipFill>
        <p:spPr>
          <a:xfrm>
            <a:off x="497506" y="855629"/>
            <a:ext cx="11064468" cy="5624858"/>
          </a:xfrm>
          <a:prstGeom prst="rect">
            <a:avLst/>
          </a:prstGeom>
        </p:spPr>
      </p:pic>
      <p:sp>
        <p:nvSpPr>
          <p:cNvPr id="6" name="Content Placeholder 2">
            <a:extLst>
              <a:ext uri="{FF2B5EF4-FFF2-40B4-BE49-F238E27FC236}">
                <a16:creationId xmlns:a16="http://schemas.microsoft.com/office/drawing/2014/main" id="{4278DA21-7B47-775D-1BF6-AED690C40D2C}"/>
              </a:ext>
            </a:extLst>
          </p:cNvPr>
          <p:cNvSpPr txBox="1">
            <a:spLocks/>
          </p:cNvSpPr>
          <p:nvPr/>
        </p:nvSpPr>
        <p:spPr>
          <a:xfrm>
            <a:off x="7486650" y="6343651"/>
            <a:ext cx="4591050" cy="436494"/>
          </a:xfrm>
          <a:prstGeom prst="rect">
            <a:avLst/>
          </a:prstGeom>
          <a:solidFill>
            <a:schemeClr val="accent1">
              <a:lumMod val="20000"/>
              <a:lumOff val="80000"/>
            </a:schemeClr>
          </a:solidFill>
          <a:ln>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dirty="0"/>
              <a:t>Default behavior = </a:t>
            </a:r>
            <a:r>
              <a:rPr lang="en-US" i="1" u="sng" dirty="0"/>
              <a:t>allow the txn</a:t>
            </a:r>
          </a:p>
        </p:txBody>
      </p:sp>
    </p:spTree>
    <p:extLst>
      <p:ext uri="{BB962C8B-B14F-4D97-AF65-F5344CB8AC3E}">
        <p14:creationId xmlns:p14="http://schemas.microsoft.com/office/powerpoint/2010/main" val="2652003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2199B-5FBC-68B6-D44E-3E30BD1D7CB9}"/>
              </a:ext>
            </a:extLst>
          </p:cNvPr>
          <p:cNvSpPr>
            <a:spLocks noGrp="1"/>
          </p:cNvSpPr>
          <p:nvPr>
            <p:ph type="title"/>
          </p:nvPr>
        </p:nvSpPr>
        <p:spPr>
          <a:xfrm>
            <a:off x="838200" y="381167"/>
            <a:ext cx="10515600" cy="5185443"/>
          </a:xfrm>
        </p:spPr>
        <p:txBody>
          <a:bodyPr>
            <a:normAutofit/>
          </a:bodyPr>
          <a:lstStyle/>
          <a:p>
            <a:pPr algn="ctr"/>
            <a:r>
              <a:rPr lang="en-US" sz="9600" dirty="0"/>
              <a:t>Soft Forks and Protocol Governance</a:t>
            </a:r>
          </a:p>
        </p:txBody>
      </p:sp>
      <p:sp>
        <p:nvSpPr>
          <p:cNvPr id="3" name="Title 1">
            <a:extLst>
              <a:ext uri="{FF2B5EF4-FFF2-40B4-BE49-F238E27FC236}">
                <a16:creationId xmlns:a16="http://schemas.microsoft.com/office/drawing/2014/main" id="{4FD2E6EC-BD34-78CE-DD1A-19FF322F3F8B}"/>
              </a:ext>
            </a:extLst>
          </p:cNvPr>
          <p:cNvSpPr txBox="1">
            <a:spLocks/>
          </p:cNvSpPr>
          <p:nvPr/>
        </p:nvSpPr>
        <p:spPr>
          <a:xfrm>
            <a:off x="3840079" y="4461232"/>
            <a:ext cx="4511842" cy="1668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t>Part 2 of 4</a:t>
            </a:r>
          </a:p>
        </p:txBody>
      </p:sp>
    </p:spTree>
    <p:extLst>
      <p:ext uri="{BB962C8B-B14F-4D97-AF65-F5344CB8AC3E}">
        <p14:creationId xmlns:p14="http://schemas.microsoft.com/office/powerpoint/2010/main" val="35443933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50F8-1914-97B9-3B73-7FC22E88C0E6}"/>
              </a:ext>
            </a:extLst>
          </p:cNvPr>
          <p:cNvSpPr>
            <a:spLocks noGrp="1"/>
          </p:cNvSpPr>
          <p:nvPr>
            <p:ph type="title"/>
          </p:nvPr>
        </p:nvSpPr>
        <p:spPr>
          <a:xfrm>
            <a:off x="173182" y="246973"/>
            <a:ext cx="10515600" cy="1325563"/>
          </a:xfrm>
        </p:spPr>
        <p:txBody>
          <a:bodyPr/>
          <a:lstStyle/>
          <a:p>
            <a:r>
              <a:rPr lang="en-US" dirty="0"/>
              <a:t>Governance – Definition </a:t>
            </a:r>
          </a:p>
        </p:txBody>
      </p:sp>
      <p:pic>
        <p:nvPicPr>
          <p:cNvPr id="5" name="Picture 4">
            <a:extLst>
              <a:ext uri="{FF2B5EF4-FFF2-40B4-BE49-F238E27FC236}">
                <a16:creationId xmlns:a16="http://schemas.microsoft.com/office/drawing/2014/main" id="{E0CEA46F-568B-8995-353B-5B071BDC5A5B}"/>
              </a:ext>
            </a:extLst>
          </p:cNvPr>
          <p:cNvPicPr>
            <a:picLocks noChangeAspect="1"/>
          </p:cNvPicPr>
          <p:nvPr/>
        </p:nvPicPr>
        <p:blipFill>
          <a:blip r:embed="rId2"/>
          <a:stretch>
            <a:fillRect/>
          </a:stretch>
        </p:blipFill>
        <p:spPr>
          <a:xfrm>
            <a:off x="347165" y="1406279"/>
            <a:ext cx="11497670" cy="3913865"/>
          </a:xfrm>
          <a:prstGeom prst="rect">
            <a:avLst/>
          </a:prstGeom>
          <a:ln>
            <a:solidFill>
              <a:schemeClr val="tx1"/>
            </a:solidFill>
          </a:ln>
        </p:spPr>
      </p:pic>
      <p:sp>
        <p:nvSpPr>
          <p:cNvPr id="7" name="Content Placeholder 6">
            <a:extLst>
              <a:ext uri="{FF2B5EF4-FFF2-40B4-BE49-F238E27FC236}">
                <a16:creationId xmlns:a16="http://schemas.microsoft.com/office/drawing/2014/main" id="{E3CFD8FA-530D-F83A-EB9A-65009143092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68932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50F8-1914-97B9-3B73-7FC22E88C0E6}"/>
              </a:ext>
            </a:extLst>
          </p:cNvPr>
          <p:cNvSpPr>
            <a:spLocks noGrp="1"/>
          </p:cNvSpPr>
          <p:nvPr>
            <p:ph type="title"/>
          </p:nvPr>
        </p:nvSpPr>
        <p:spPr>
          <a:xfrm>
            <a:off x="173182" y="246973"/>
            <a:ext cx="10515600" cy="1325563"/>
          </a:xfrm>
        </p:spPr>
        <p:txBody>
          <a:bodyPr/>
          <a:lstStyle/>
          <a:p>
            <a:r>
              <a:rPr lang="en-US" dirty="0"/>
              <a:t>Governance – Definition </a:t>
            </a:r>
          </a:p>
        </p:txBody>
      </p:sp>
      <p:sp>
        <p:nvSpPr>
          <p:cNvPr id="3" name="Content Placeholder 2">
            <a:extLst>
              <a:ext uri="{FF2B5EF4-FFF2-40B4-BE49-F238E27FC236}">
                <a16:creationId xmlns:a16="http://schemas.microsoft.com/office/drawing/2014/main" id="{3292A249-1316-D5E4-7702-E0E9B9EF82FC}"/>
              </a:ext>
            </a:extLst>
          </p:cNvPr>
          <p:cNvSpPr>
            <a:spLocks noGrp="1"/>
          </p:cNvSpPr>
          <p:nvPr>
            <p:ph idx="1"/>
          </p:nvPr>
        </p:nvSpPr>
        <p:spPr>
          <a:xfrm>
            <a:off x="538399" y="5474912"/>
            <a:ext cx="9436873" cy="1207756"/>
          </a:xfrm>
        </p:spPr>
        <p:txBody>
          <a:bodyPr>
            <a:normAutofit/>
          </a:bodyPr>
          <a:lstStyle/>
          <a:p>
            <a:r>
              <a:rPr lang="en-US" dirty="0"/>
              <a:t>Rejects P2P</a:t>
            </a:r>
          </a:p>
          <a:p>
            <a:endParaRPr lang="en-US" dirty="0"/>
          </a:p>
        </p:txBody>
      </p:sp>
      <p:pic>
        <p:nvPicPr>
          <p:cNvPr id="5" name="Picture 4">
            <a:extLst>
              <a:ext uri="{FF2B5EF4-FFF2-40B4-BE49-F238E27FC236}">
                <a16:creationId xmlns:a16="http://schemas.microsoft.com/office/drawing/2014/main" id="{E0CEA46F-568B-8995-353B-5B071BDC5A5B}"/>
              </a:ext>
            </a:extLst>
          </p:cNvPr>
          <p:cNvPicPr>
            <a:picLocks noChangeAspect="1"/>
          </p:cNvPicPr>
          <p:nvPr/>
        </p:nvPicPr>
        <p:blipFill>
          <a:blip r:embed="rId2"/>
          <a:stretch>
            <a:fillRect/>
          </a:stretch>
        </p:blipFill>
        <p:spPr>
          <a:xfrm>
            <a:off x="347165" y="1406279"/>
            <a:ext cx="11497670" cy="3913865"/>
          </a:xfrm>
          <a:prstGeom prst="rect">
            <a:avLst/>
          </a:prstGeom>
          <a:ln>
            <a:solidFill>
              <a:schemeClr val="tx1"/>
            </a:solidFill>
          </a:ln>
        </p:spPr>
      </p:pic>
    </p:spTree>
    <p:extLst>
      <p:ext uri="{BB962C8B-B14F-4D97-AF65-F5344CB8AC3E}">
        <p14:creationId xmlns:p14="http://schemas.microsoft.com/office/powerpoint/2010/main" val="40316365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50F8-1914-97B9-3B73-7FC22E88C0E6}"/>
              </a:ext>
            </a:extLst>
          </p:cNvPr>
          <p:cNvSpPr>
            <a:spLocks noGrp="1"/>
          </p:cNvSpPr>
          <p:nvPr>
            <p:ph type="title"/>
          </p:nvPr>
        </p:nvSpPr>
        <p:spPr>
          <a:xfrm>
            <a:off x="173182" y="246973"/>
            <a:ext cx="10515600" cy="1325563"/>
          </a:xfrm>
        </p:spPr>
        <p:txBody>
          <a:bodyPr/>
          <a:lstStyle/>
          <a:p>
            <a:r>
              <a:rPr lang="en-US" dirty="0"/>
              <a:t>Governance – Definition </a:t>
            </a:r>
          </a:p>
        </p:txBody>
      </p:sp>
      <p:sp>
        <p:nvSpPr>
          <p:cNvPr id="3" name="Content Placeholder 2">
            <a:extLst>
              <a:ext uri="{FF2B5EF4-FFF2-40B4-BE49-F238E27FC236}">
                <a16:creationId xmlns:a16="http://schemas.microsoft.com/office/drawing/2014/main" id="{3292A249-1316-D5E4-7702-E0E9B9EF82FC}"/>
              </a:ext>
            </a:extLst>
          </p:cNvPr>
          <p:cNvSpPr>
            <a:spLocks noGrp="1"/>
          </p:cNvSpPr>
          <p:nvPr>
            <p:ph idx="1"/>
          </p:nvPr>
        </p:nvSpPr>
        <p:spPr>
          <a:xfrm>
            <a:off x="538399" y="5474912"/>
            <a:ext cx="9436873" cy="1207756"/>
          </a:xfrm>
        </p:spPr>
        <p:txBody>
          <a:bodyPr>
            <a:normAutofit fontScale="92500"/>
          </a:bodyPr>
          <a:lstStyle/>
          <a:p>
            <a:r>
              <a:rPr lang="en-US" dirty="0"/>
              <a:t>Rejects P2P</a:t>
            </a:r>
          </a:p>
          <a:p>
            <a:r>
              <a:rPr lang="en-US" dirty="0"/>
              <a:t>Too vague!! (There is no success criterion, no objective function.)</a:t>
            </a:r>
          </a:p>
          <a:p>
            <a:endParaRPr lang="en-US" dirty="0"/>
          </a:p>
        </p:txBody>
      </p:sp>
      <p:pic>
        <p:nvPicPr>
          <p:cNvPr id="5" name="Picture 4">
            <a:extLst>
              <a:ext uri="{FF2B5EF4-FFF2-40B4-BE49-F238E27FC236}">
                <a16:creationId xmlns:a16="http://schemas.microsoft.com/office/drawing/2014/main" id="{E0CEA46F-568B-8995-353B-5B071BDC5A5B}"/>
              </a:ext>
            </a:extLst>
          </p:cNvPr>
          <p:cNvPicPr>
            <a:picLocks noChangeAspect="1"/>
          </p:cNvPicPr>
          <p:nvPr/>
        </p:nvPicPr>
        <p:blipFill>
          <a:blip r:embed="rId2"/>
          <a:stretch>
            <a:fillRect/>
          </a:stretch>
        </p:blipFill>
        <p:spPr>
          <a:xfrm>
            <a:off x="347165" y="1406279"/>
            <a:ext cx="11497670" cy="3913865"/>
          </a:xfrm>
          <a:prstGeom prst="rect">
            <a:avLst/>
          </a:prstGeom>
          <a:ln>
            <a:solidFill>
              <a:schemeClr val="tx1"/>
            </a:solidFill>
          </a:ln>
        </p:spPr>
      </p:pic>
    </p:spTree>
    <p:extLst>
      <p:ext uri="{BB962C8B-B14F-4D97-AF65-F5344CB8AC3E}">
        <p14:creationId xmlns:p14="http://schemas.microsoft.com/office/powerpoint/2010/main" val="38800967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119D4-DEF6-386E-A5BF-0747E47863B6}"/>
              </a:ext>
            </a:extLst>
          </p:cNvPr>
          <p:cNvSpPr>
            <a:spLocks noGrp="1"/>
          </p:cNvSpPr>
          <p:nvPr>
            <p:ph type="title"/>
          </p:nvPr>
        </p:nvSpPr>
        <p:spPr>
          <a:xfrm>
            <a:off x="145473" y="118113"/>
            <a:ext cx="10515600" cy="1175490"/>
          </a:xfrm>
        </p:spPr>
        <p:txBody>
          <a:bodyPr/>
          <a:lstStyle/>
          <a:p>
            <a:r>
              <a:rPr lang="en-US" dirty="0"/>
              <a:t>Governance = Finding today’s node software</a:t>
            </a:r>
          </a:p>
        </p:txBody>
      </p:sp>
      <p:sp>
        <p:nvSpPr>
          <p:cNvPr id="3" name="Content Placeholder 2">
            <a:extLst>
              <a:ext uri="{FF2B5EF4-FFF2-40B4-BE49-F238E27FC236}">
                <a16:creationId xmlns:a16="http://schemas.microsoft.com/office/drawing/2014/main" id="{017BEE05-940F-72A0-A833-BE4A2A06D208}"/>
              </a:ext>
            </a:extLst>
          </p:cNvPr>
          <p:cNvSpPr>
            <a:spLocks noGrp="1"/>
          </p:cNvSpPr>
          <p:nvPr>
            <p:ph idx="1"/>
          </p:nvPr>
        </p:nvSpPr>
        <p:spPr>
          <a:xfrm>
            <a:off x="263237" y="1122218"/>
            <a:ext cx="11845635" cy="5555323"/>
          </a:xfrm>
        </p:spPr>
        <p:txBody>
          <a:bodyPr>
            <a:normAutofit fontScale="85000" lnSpcReduction="20000"/>
          </a:bodyPr>
          <a:lstStyle/>
          <a:p>
            <a:r>
              <a:rPr lang="en-US" sz="3200" dirty="0"/>
              <a:t>Governance = where does the node software come from? What process?</a:t>
            </a:r>
          </a:p>
          <a:p>
            <a:r>
              <a:rPr lang="en-US" sz="3200" dirty="0"/>
              <a:t>In that sense, it is more like an </a:t>
            </a:r>
            <a:r>
              <a:rPr lang="en-US" sz="3200" i="1" u="sng" dirty="0"/>
              <a:t>industrial process</a:t>
            </a:r>
            <a:r>
              <a:rPr lang="en-US" sz="3200" dirty="0"/>
              <a:t>, or </a:t>
            </a:r>
            <a:r>
              <a:rPr lang="en-US" sz="3200" i="1" u="sng" dirty="0"/>
              <a:t>recipe</a:t>
            </a:r>
            <a:r>
              <a:rPr lang="en-US" sz="3200" i="1" dirty="0"/>
              <a:t>.</a:t>
            </a:r>
            <a:br>
              <a:rPr lang="en-US" sz="3200" dirty="0"/>
            </a:br>
            <a:r>
              <a:rPr lang="en-US" sz="3200" dirty="0"/>
              <a:t>(</a:t>
            </a:r>
            <a:r>
              <a:rPr lang="en-US" sz="3200" dirty="0" err="1"/>
              <a:t>Eg</a:t>
            </a:r>
            <a:r>
              <a:rPr lang="en-US" sz="3200" dirty="0"/>
              <a:t>, how do we build a bridge? How do we build the node software?)</a:t>
            </a:r>
          </a:p>
          <a:p>
            <a:pPr lvl="1"/>
            <a:r>
              <a:rPr lang="en-US" sz="2800" dirty="0"/>
              <a:t>Which code is </a:t>
            </a:r>
            <a:r>
              <a:rPr lang="en-US" sz="2800" dirty="0" err="1"/>
              <a:t>fullnode</a:t>
            </a:r>
            <a:r>
              <a:rPr lang="en-US" sz="2800" dirty="0"/>
              <a:t>-code?</a:t>
            </a:r>
          </a:p>
          <a:p>
            <a:pPr lvl="1"/>
            <a:r>
              <a:rPr lang="en-US" sz="2800" dirty="0"/>
              <a:t>How do we tell </a:t>
            </a:r>
            <a:r>
              <a:rPr lang="en-US" sz="2800" i="1" u="sng" dirty="0"/>
              <a:t>Bitcoin Nodes</a:t>
            </a:r>
            <a:r>
              <a:rPr lang="en-US" sz="2800" dirty="0"/>
              <a:t> from non-nodes?</a:t>
            </a:r>
          </a:p>
          <a:p>
            <a:pPr lvl="1"/>
            <a:r>
              <a:rPr lang="en-US" sz="2800" dirty="0"/>
              <a:t>If there is a dispute, then </a:t>
            </a:r>
            <a:r>
              <a:rPr lang="en-US" sz="2800" i="1" u="sng" dirty="0"/>
              <a:t>who</a:t>
            </a:r>
            <a:r>
              <a:rPr lang="en-US" sz="2800" dirty="0"/>
              <a:t> is correct (and who is wrong)? </a:t>
            </a:r>
            <a:r>
              <a:rPr lang="en-US" sz="2800" i="1" u="sng" dirty="0"/>
              <a:t>Why?</a:t>
            </a:r>
            <a:endParaRPr lang="en-US" sz="3200" dirty="0"/>
          </a:p>
          <a:p>
            <a:r>
              <a:rPr lang="en-US" sz="3200" dirty="0"/>
              <a:t>In other words, Governance is:</a:t>
            </a:r>
          </a:p>
          <a:p>
            <a:pPr lvl="1"/>
            <a:r>
              <a:rPr lang="en-US" sz="2800" dirty="0"/>
              <a:t>The problem of </a:t>
            </a:r>
            <a:r>
              <a:rPr lang="en-US" sz="2800" i="1" u="sng" dirty="0"/>
              <a:t>meta-consensus</a:t>
            </a:r>
            <a:r>
              <a:rPr lang="en-US" sz="2800" dirty="0"/>
              <a:t> ; consensus </a:t>
            </a:r>
            <a:r>
              <a:rPr lang="en-US" sz="2800" i="1" u="sng" dirty="0"/>
              <a:t>about</a:t>
            </a:r>
            <a:r>
              <a:rPr lang="en-US" sz="2800" dirty="0"/>
              <a:t> consensus.</a:t>
            </a:r>
            <a:br>
              <a:rPr lang="en-US" sz="2800" dirty="0"/>
            </a:br>
            <a:r>
              <a:rPr lang="en-US" sz="2800" dirty="0"/>
              <a:t>(A full node does consensus, but only after you find the node software and run it!)</a:t>
            </a:r>
          </a:p>
          <a:p>
            <a:pPr lvl="1"/>
            <a:r>
              <a:rPr lang="en-US" sz="2800" dirty="0"/>
              <a:t>Or, call it “pre-consensus”. How do find the consensus software.</a:t>
            </a:r>
          </a:p>
          <a:p>
            <a:pPr lvl="1"/>
            <a:r>
              <a:rPr lang="en-US" sz="2800" dirty="0"/>
              <a:t>If you didn’t have a node, </a:t>
            </a:r>
            <a:r>
              <a:rPr lang="en-US" sz="2800" i="1" u="sng" dirty="0"/>
              <a:t>how would you get one?</a:t>
            </a:r>
          </a:p>
          <a:p>
            <a:pPr lvl="1"/>
            <a:endParaRPr lang="en-US" sz="2800" i="1" u="sng" dirty="0"/>
          </a:p>
          <a:p>
            <a:pPr lvl="1"/>
            <a:endParaRPr lang="en-US" sz="2800" dirty="0"/>
          </a:p>
          <a:p>
            <a:pPr lvl="1"/>
            <a:endParaRPr lang="en-US" sz="2800" dirty="0"/>
          </a:p>
          <a:p>
            <a:endParaRPr lang="en-US" sz="3200" dirty="0"/>
          </a:p>
          <a:p>
            <a:r>
              <a:rPr lang="en-US" sz="3200" dirty="0"/>
              <a:t>I will call this: “Node Constructor-Theory”</a:t>
            </a:r>
          </a:p>
        </p:txBody>
      </p:sp>
      <p:sp>
        <p:nvSpPr>
          <p:cNvPr id="5" name="TextBox 4">
            <a:extLst>
              <a:ext uri="{FF2B5EF4-FFF2-40B4-BE49-F238E27FC236}">
                <a16:creationId xmlns:a16="http://schemas.microsoft.com/office/drawing/2014/main" id="{D5114B8A-0E4F-82A1-10F6-1F0BF9492914}"/>
              </a:ext>
            </a:extLst>
          </p:cNvPr>
          <p:cNvSpPr txBox="1"/>
          <p:nvPr/>
        </p:nvSpPr>
        <p:spPr>
          <a:xfrm>
            <a:off x="263237" y="5253609"/>
            <a:ext cx="11928763" cy="630942"/>
          </a:xfrm>
          <a:prstGeom prst="rect">
            <a:avLst/>
          </a:prstGeom>
          <a:noFill/>
          <a:ln>
            <a:noFill/>
          </a:ln>
        </p:spPr>
        <p:txBody>
          <a:bodyPr wrap="square">
            <a:spAutoFit/>
          </a:bodyPr>
          <a:lstStyle/>
          <a:p>
            <a:r>
              <a:rPr lang="en-US" sz="2400" dirty="0"/>
              <a:t>Problem: </a:t>
            </a:r>
            <a:r>
              <a:rPr lang="en-US" sz="3500" dirty="0"/>
              <a:t>What is today’s node software ? </a:t>
            </a:r>
            <a:r>
              <a:rPr lang="en-US" sz="3500" dirty="0">
                <a:sym typeface="Wingdings" panose="05000000000000000000" pitchFamily="2" charset="2"/>
              </a:rPr>
              <a:t>  I know how to find it!</a:t>
            </a:r>
            <a:endParaRPr lang="en-US" sz="3500" dirty="0"/>
          </a:p>
        </p:txBody>
      </p:sp>
      <p:sp>
        <p:nvSpPr>
          <p:cNvPr id="6" name="Title 1">
            <a:extLst>
              <a:ext uri="{FF2B5EF4-FFF2-40B4-BE49-F238E27FC236}">
                <a16:creationId xmlns:a16="http://schemas.microsoft.com/office/drawing/2014/main" id="{F8E890D2-3C6A-07A1-CABD-628D5881444D}"/>
              </a:ext>
            </a:extLst>
          </p:cNvPr>
          <p:cNvSpPr txBox="1">
            <a:spLocks/>
          </p:cNvSpPr>
          <p:nvPr/>
        </p:nvSpPr>
        <p:spPr>
          <a:xfrm>
            <a:off x="6619006" y="4586981"/>
            <a:ext cx="2029691" cy="11472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dirty="0"/>
              <a:t>Governance</a:t>
            </a:r>
          </a:p>
        </p:txBody>
      </p:sp>
      <p:sp>
        <p:nvSpPr>
          <p:cNvPr id="7" name="Rectangle 6">
            <a:extLst>
              <a:ext uri="{FF2B5EF4-FFF2-40B4-BE49-F238E27FC236}">
                <a16:creationId xmlns:a16="http://schemas.microsoft.com/office/drawing/2014/main" id="{89CC8009-5685-3311-4C98-78FFF39D75F3}"/>
              </a:ext>
            </a:extLst>
          </p:cNvPr>
          <p:cNvSpPr/>
          <p:nvPr/>
        </p:nvSpPr>
        <p:spPr>
          <a:xfrm>
            <a:off x="83127" y="4966855"/>
            <a:ext cx="11928763" cy="997527"/>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78243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61F5-1133-FCAE-02E9-C07EA2E96DED}"/>
              </a:ext>
            </a:extLst>
          </p:cNvPr>
          <p:cNvSpPr>
            <a:spLocks noGrp="1"/>
          </p:cNvSpPr>
          <p:nvPr>
            <p:ph type="title"/>
          </p:nvPr>
        </p:nvSpPr>
        <p:spPr>
          <a:xfrm>
            <a:off x="193963" y="0"/>
            <a:ext cx="10515600" cy="1325563"/>
          </a:xfrm>
        </p:spPr>
        <p:txBody>
          <a:bodyPr/>
          <a:lstStyle/>
          <a:p>
            <a:r>
              <a:rPr lang="en-US" b="1" dirty="0" err="1"/>
              <a:t>NodeFinding</a:t>
            </a:r>
            <a:r>
              <a:rPr lang="en-US" b="1" dirty="0"/>
              <a:t> Strategies – The Big 3</a:t>
            </a:r>
          </a:p>
        </p:txBody>
      </p:sp>
      <p:sp>
        <p:nvSpPr>
          <p:cNvPr id="3" name="Content Placeholder 2">
            <a:extLst>
              <a:ext uri="{FF2B5EF4-FFF2-40B4-BE49-F238E27FC236}">
                <a16:creationId xmlns:a16="http://schemas.microsoft.com/office/drawing/2014/main" id="{8493417F-7A56-C899-467E-27CD6A3A10E0}"/>
              </a:ext>
            </a:extLst>
          </p:cNvPr>
          <p:cNvSpPr>
            <a:spLocks noGrp="1"/>
          </p:cNvSpPr>
          <p:nvPr>
            <p:ph idx="1"/>
          </p:nvPr>
        </p:nvSpPr>
        <p:spPr>
          <a:xfrm>
            <a:off x="214746" y="997526"/>
            <a:ext cx="9725891" cy="5611092"/>
          </a:xfrm>
          <a:ln>
            <a:solidFill>
              <a:schemeClr val="tx1"/>
            </a:solidFill>
          </a:ln>
        </p:spPr>
        <p:txBody>
          <a:bodyPr>
            <a:normAutofit lnSpcReduction="10000"/>
          </a:bodyPr>
          <a:lstStyle/>
          <a:p>
            <a:pPr marL="457200" indent="-457200">
              <a:buFont typeface="+mj-lt"/>
              <a:buAutoNum type="arabicPeriod"/>
            </a:pPr>
            <a:r>
              <a:rPr lang="en-US" b="1" dirty="0"/>
              <a:t>Go to Bitcoin.org and Run </a:t>
            </a:r>
            <a:r>
              <a:rPr lang="en-US" b="1" baseline="0" dirty="0"/>
              <a:t>The </a:t>
            </a:r>
            <a:r>
              <a:rPr lang="en-US" b="1" dirty="0"/>
              <a:t>Latest Version</a:t>
            </a:r>
          </a:p>
          <a:p>
            <a:pPr marL="914400" lvl="1" indent="-457200">
              <a:buFont typeface="+mj-lt"/>
              <a:buAutoNum type="arabicPeriod"/>
            </a:pPr>
            <a:r>
              <a:rPr lang="en-US" dirty="0"/>
              <a:t>Luke </a:t>
            </a:r>
            <a:r>
              <a:rPr lang="en-US" dirty="0" err="1"/>
              <a:t>Dashjr</a:t>
            </a:r>
            <a:r>
              <a:rPr lang="en-US" dirty="0"/>
              <a:t> Position</a:t>
            </a:r>
          </a:p>
          <a:p>
            <a:pPr marL="914400" lvl="1" indent="-457200">
              <a:buFont typeface="+mj-lt"/>
              <a:buAutoNum type="arabicPeriod"/>
            </a:pPr>
            <a:r>
              <a:rPr lang="en-US" dirty="0"/>
              <a:t>Mike Hearn position</a:t>
            </a:r>
            <a:r>
              <a:rPr lang="en-US" baseline="0" dirty="0"/>
              <a:t> as well!</a:t>
            </a:r>
          </a:p>
          <a:p>
            <a:pPr marL="914400" lvl="1" indent="-457200">
              <a:buFont typeface="+mj-lt"/>
              <a:buAutoNum type="arabicPeriod"/>
            </a:pPr>
            <a:r>
              <a:rPr lang="en-US" dirty="0"/>
              <a:t>Satoshi’s position, (?) repudiated when he removed OP VER.</a:t>
            </a:r>
          </a:p>
          <a:p>
            <a:pPr marL="457200" indent="-457200">
              <a:buFont typeface="+mj-lt"/>
              <a:buAutoNum type="arabicPeriod"/>
            </a:pPr>
            <a:r>
              <a:rPr lang="en-US" b="1" dirty="0"/>
              <a:t>Find the oldest node-like thing, run that, then plug your ears!</a:t>
            </a:r>
          </a:p>
          <a:p>
            <a:pPr marL="914400" lvl="1" indent="-457200">
              <a:buFont typeface="+mj-lt"/>
              <a:buAutoNum type="arabicPeriod"/>
            </a:pPr>
            <a:r>
              <a:rPr lang="en-US" dirty="0"/>
              <a:t>Never revisit this process. The relative costs and benefits – the node software does consensus pretty well, meta-consensus is much harder to do.  Be mistrustful of this.</a:t>
            </a:r>
          </a:p>
          <a:p>
            <a:pPr marL="914400" lvl="1" indent="-457200">
              <a:buFont typeface="+mj-lt"/>
              <a:buAutoNum type="arabicPeriod"/>
            </a:pPr>
            <a:r>
              <a:rPr lang="en-US" dirty="0"/>
              <a:t>Mircea Popescu’s “Bitcoin Foundation” – 0.5.4</a:t>
            </a:r>
            <a:r>
              <a:rPr lang="en-US" baseline="0" dirty="0"/>
              <a:t> (2014)</a:t>
            </a:r>
          </a:p>
          <a:p>
            <a:pPr marL="914400" lvl="1" indent="-457200">
              <a:buFont typeface="+mj-lt"/>
              <a:buAutoNum type="arabicPeriod"/>
            </a:pPr>
            <a:r>
              <a:rPr lang="en-US" baseline="0" dirty="0"/>
              <a:t>The “original” is the full node. Everything later is a *distortion*. Everything afterwards is ...wargames for a bait-and-switch.</a:t>
            </a:r>
          </a:p>
          <a:p>
            <a:pPr marL="457200" indent="-457200">
              <a:buFont typeface="+mj-lt"/>
              <a:buAutoNum type="arabicPeriod"/>
            </a:pPr>
            <a:r>
              <a:rPr lang="en-US" b="1" dirty="0"/>
              <a:t>Soft Fork “Pluralism”</a:t>
            </a:r>
          </a:p>
          <a:p>
            <a:pPr marL="914400" lvl="1" indent="-457200">
              <a:buFont typeface="+mj-lt"/>
              <a:buAutoNum type="arabicPeriod"/>
            </a:pPr>
            <a:r>
              <a:rPr lang="en-US" dirty="0"/>
              <a:t>Soft fork means that different pieces of software can coexist</a:t>
            </a:r>
          </a:p>
          <a:p>
            <a:pPr marL="914400" lvl="1" indent="-457200">
              <a:buFont typeface="+mj-lt"/>
              <a:buAutoNum type="arabicPeriod"/>
            </a:pPr>
            <a:r>
              <a:rPr lang="en-US" dirty="0"/>
              <a:t>Anything in the “Line of </a:t>
            </a:r>
            <a:r>
              <a:rPr lang="en-US" dirty="0" err="1"/>
              <a:t>Coexistance</a:t>
            </a:r>
            <a:r>
              <a:rPr lang="en-US" dirty="0"/>
              <a:t>” is fair game!</a:t>
            </a:r>
          </a:p>
        </p:txBody>
      </p:sp>
      <p:graphicFrame>
        <p:nvGraphicFramePr>
          <p:cNvPr id="4" name="Table 3">
            <a:extLst>
              <a:ext uri="{FF2B5EF4-FFF2-40B4-BE49-F238E27FC236}">
                <a16:creationId xmlns:a16="http://schemas.microsoft.com/office/drawing/2014/main" id="{8B0AA33A-75DB-080B-133A-0CBBD6049C03}"/>
              </a:ext>
            </a:extLst>
          </p:cNvPr>
          <p:cNvGraphicFramePr>
            <a:graphicFrameLocks noGrp="1"/>
          </p:cNvGraphicFramePr>
          <p:nvPr/>
        </p:nvGraphicFramePr>
        <p:xfrm>
          <a:off x="10147476" y="1912398"/>
          <a:ext cx="1829778" cy="3447690"/>
        </p:xfrm>
        <a:graphic>
          <a:graphicData uri="http://schemas.openxmlformats.org/drawingml/2006/table">
            <a:tbl>
              <a:tblPr firstRow="1" firstCol="1" bandRow="1">
                <a:tableStyleId>{5C22544A-7EE6-4342-B048-85BDC9FD1C3A}</a:tableStyleId>
              </a:tblPr>
              <a:tblGrid>
                <a:gridCol w="1829778">
                  <a:extLst>
                    <a:ext uri="{9D8B030D-6E8A-4147-A177-3AD203B41FA5}">
                      <a16:colId xmlns:a16="http://schemas.microsoft.com/office/drawing/2014/main" val="594525464"/>
                    </a:ext>
                  </a:extLst>
                </a:gridCol>
              </a:tblGrid>
              <a:tr h="946605">
                <a:tc>
                  <a:txBody>
                    <a:bodyPr/>
                    <a:lstStyle/>
                    <a:p>
                      <a:r>
                        <a:rPr lang="en-US" sz="2400" dirty="0"/>
                        <a:t>“Latest Core”</a:t>
                      </a:r>
                    </a:p>
                  </a:txBody>
                  <a:tcPr/>
                </a:tc>
                <a:extLst>
                  <a:ext uri="{0D108BD9-81ED-4DB2-BD59-A6C34878D82A}">
                    <a16:rowId xmlns:a16="http://schemas.microsoft.com/office/drawing/2014/main" val="4063703379"/>
                  </a:ext>
                </a:extLst>
              </a:tr>
              <a:tr h="946605">
                <a:tc>
                  <a:txBody>
                    <a:bodyPr/>
                    <a:lstStyle/>
                    <a:p>
                      <a:r>
                        <a:rPr lang="en-US" sz="2400" dirty="0"/>
                        <a:t>“Static” Protocol</a:t>
                      </a:r>
                    </a:p>
                  </a:txBody>
                  <a:tcPr/>
                </a:tc>
                <a:extLst>
                  <a:ext uri="{0D108BD9-81ED-4DB2-BD59-A6C34878D82A}">
                    <a16:rowId xmlns:a16="http://schemas.microsoft.com/office/drawing/2014/main" val="806143572"/>
                  </a:ext>
                </a:extLst>
              </a:tr>
              <a:tr h="1177083">
                <a:tc>
                  <a:txBody>
                    <a:bodyPr/>
                    <a:lstStyle/>
                    <a:p>
                      <a:r>
                        <a:rPr lang="en-US" sz="2400" dirty="0"/>
                        <a:t>“Linear Coexistence”</a:t>
                      </a:r>
                    </a:p>
                    <a:p>
                      <a:r>
                        <a:rPr lang="en-US" sz="2400" dirty="0"/>
                        <a:t>(Consent-Based)</a:t>
                      </a:r>
                    </a:p>
                  </a:txBody>
                  <a:tcPr/>
                </a:tc>
                <a:extLst>
                  <a:ext uri="{0D108BD9-81ED-4DB2-BD59-A6C34878D82A}">
                    <a16:rowId xmlns:a16="http://schemas.microsoft.com/office/drawing/2014/main" val="3575446011"/>
                  </a:ext>
                </a:extLst>
              </a:tr>
            </a:tbl>
          </a:graphicData>
        </a:graphic>
      </p:graphicFrame>
    </p:spTree>
    <p:extLst>
      <p:ext uri="{BB962C8B-B14F-4D97-AF65-F5344CB8AC3E}">
        <p14:creationId xmlns:p14="http://schemas.microsoft.com/office/powerpoint/2010/main" val="1459633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94FBC1-E0AB-C6C1-809D-91789EC95BCC}"/>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27210B01-9929-0C4D-6D4E-BD785EFDE677}"/>
              </a:ext>
            </a:extLst>
          </p:cNvPr>
          <p:cNvSpPr txBox="1"/>
          <p:nvPr/>
        </p:nvSpPr>
        <p:spPr>
          <a:xfrm>
            <a:off x="1266892" y="6208724"/>
            <a:ext cx="3791954" cy="584775"/>
          </a:xfrm>
          <a:prstGeom prst="rect">
            <a:avLst/>
          </a:prstGeom>
          <a:noFill/>
        </p:spPr>
        <p:txBody>
          <a:bodyPr wrap="square">
            <a:spAutoFit/>
          </a:bodyPr>
          <a:lstStyle/>
          <a:p>
            <a:r>
              <a:rPr lang="en-US" sz="1600" dirty="0"/>
              <a:t>https://medium.com/@octskyward/on-consensus-and-forks-c6a050c792e7</a:t>
            </a:r>
          </a:p>
        </p:txBody>
      </p:sp>
      <p:pic>
        <p:nvPicPr>
          <p:cNvPr id="7" name="Picture 6">
            <a:extLst>
              <a:ext uri="{FF2B5EF4-FFF2-40B4-BE49-F238E27FC236}">
                <a16:creationId xmlns:a16="http://schemas.microsoft.com/office/drawing/2014/main" id="{876AF75C-3304-998E-4DC9-1DB89CFB2B91}"/>
              </a:ext>
            </a:extLst>
          </p:cNvPr>
          <p:cNvPicPr>
            <a:picLocks noChangeAspect="1"/>
          </p:cNvPicPr>
          <p:nvPr/>
        </p:nvPicPr>
        <p:blipFill>
          <a:blip r:embed="rId2"/>
          <a:stretch>
            <a:fillRect/>
          </a:stretch>
        </p:blipFill>
        <p:spPr>
          <a:xfrm>
            <a:off x="229738" y="1211544"/>
            <a:ext cx="5866262" cy="4879558"/>
          </a:xfrm>
          <a:prstGeom prst="rect">
            <a:avLst/>
          </a:prstGeom>
          <a:ln>
            <a:solidFill>
              <a:schemeClr val="tx1"/>
            </a:solidFill>
          </a:ln>
        </p:spPr>
      </p:pic>
      <p:sp>
        <p:nvSpPr>
          <p:cNvPr id="8" name="TextBox 7">
            <a:extLst>
              <a:ext uri="{FF2B5EF4-FFF2-40B4-BE49-F238E27FC236}">
                <a16:creationId xmlns:a16="http://schemas.microsoft.com/office/drawing/2014/main" id="{47A7ED9C-698F-454F-E99A-FF17137BD443}"/>
              </a:ext>
            </a:extLst>
          </p:cNvPr>
          <p:cNvSpPr txBox="1"/>
          <p:nvPr/>
        </p:nvSpPr>
        <p:spPr>
          <a:xfrm>
            <a:off x="1971170" y="388649"/>
            <a:ext cx="2392281" cy="584775"/>
          </a:xfrm>
          <a:prstGeom prst="rect">
            <a:avLst/>
          </a:prstGeom>
          <a:noFill/>
        </p:spPr>
        <p:txBody>
          <a:bodyPr wrap="square">
            <a:spAutoFit/>
          </a:bodyPr>
          <a:lstStyle/>
          <a:p>
            <a:r>
              <a:rPr lang="en-US" sz="3200" dirty="0"/>
              <a:t>Mike Hearn</a:t>
            </a:r>
          </a:p>
        </p:txBody>
      </p:sp>
      <p:pic>
        <p:nvPicPr>
          <p:cNvPr id="10" name="Picture 9">
            <a:extLst>
              <a:ext uri="{FF2B5EF4-FFF2-40B4-BE49-F238E27FC236}">
                <a16:creationId xmlns:a16="http://schemas.microsoft.com/office/drawing/2014/main" id="{A779F6AC-920A-7450-C449-ED9D21F92A9A}"/>
              </a:ext>
            </a:extLst>
          </p:cNvPr>
          <p:cNvPicPr>
            <a:picLocks noChangeAspect="1"/>
          </p:cNvPicPr>
          <p:nvPr/>
        </p:nvPicPr>
        <p:blipFill>
          <a:blip r:embed="rId3"/>
          <a:stretch>
            <a:fillRect/>
          </a:stretch>
        </p:blipFill>
        <p:spPr>
          <a:xfrm>
            <a:off x="6238683" y="1196891"/>
            <a:ext cx="5681470" cy="4879558"/>
          </a:xfrm>
          <a:prstGeom prst="rect">
            <a:avLst/>
          </a:prstGeom>
          <a:ln>
            <a:solidFill>
              <a:schemeClr val="tx1"/>
            </a:solidFill>
          </a:ln>
        </p:spPr>
      </p:pic>
      <p:sp>
        <p:nvSpPr>
          <p:cNvPr id="11" name="TextBox 10">
            <a:extLst>
              <a:ext uri="{FF2B5EF4-FFF2-40B4-BE49-F238E27FC236}">
                <a16:creationId xmlns:a16="http://schemas.microsoft.com/office/drawing/2014/main" id="{65903496-BF3C-60F1-61DE-2785487836BF}"/>
              </a:ext>
            </a:extLst>
          </p:cNvPr>
          <p:cNvSpPr txBox="1"/>
          <p:nvPr/>
        </p:nvSpPr>
        <p:spPr>
          <a:xfrm>
            <a:off x="7828551" y="388648"/>
            <a:ext cx="3252535" cy="584775"/>
          </a:xfrm>
          <a:prstGeom prst="rect">
            <a:avLst/>
          </a:prstGeom>
          <a:noFill/>
        </p:spPr>
        <p:txBody>
          <a:bodyPr wrap="square">
            <a:spAutoFit/>
          </a:bodyPr>
          <a:lstStyle/>
          <a:p>
            <a:r>
              <a:rPr lang="en-US" sz="3200" dirty="0"/>
              <a:t>Satoshi – OP VER </a:t>
            </a:r>
          </a:p>
        </p:txBody>
      </p:sp>
      <p:sp>
        <p:nvSpPr>
          <p:cNvPr id="13" name="TextBox 12">
            <a:extLst>
              <a:ext uri="{FF2B5EF4-FFF2-40B4-BE49-F238E27FC236}">
                <a16:creationId xmlns:a16="http://schemas.microsoft.com/office/drawing/2014/main" id="{CA967437-9DC0-7DBB-89D9-9FF4E8C7724F}"/>
              </a:ext>
            </a:extLst>
          </p:cNvPr>
          <p:cNvSpPr txBox="1"/>
          <p:nvPr/>
        </p:nvSpPr>
        <p:spPr>
          <a:xfrm>
            <a:off x="6416842" y="6216408"/>
            <a:ext cx="5503311" cy="523220"/>
          </a:xfrm>
          <a:prstGeom prst="rect">
            <a:avLst/>
          </a:prstGeom>
          <a:noFill/>
        </p:spPr>
        <p:txBody>
          <a:bodyPr wrap="square">
            <a:spAutoFit/>
          </a:bodyPr>
          <a:lstStyle/>
          <a:p>
            <a:r>
              <a:rPr lang="en-US" sz="1400" dirty="0"/>
              <a:t>https://bitcoin.stackexchange.com/questions/97258/given-op-ver-was-never-used-is-disabled-and-not-considered-useful-can-its-meani</a:t>
            </a:r>
          </a:p>
        </p:txBody>
      </p:sp>
    </p:spTree>
    <p:extLst>
      <p:ext uri="{BB962C8B-B14F-4D97-AF65-F5344CB8AC3E}">
        <p14:creationId xmlns:p14="http://schemas.microsoft.com/office/powerpoint/2010/main" val="3863034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61F5-1133-FCAE-02E9-C07EA2E96DED}"/>
              </a:ext>
            </a:extLst>
          </p:cNvPr>
          <p:cNvSpPr>
            <a:spLocks noGrp="1"/>
          </p:cNvSpPr>
          <p:nvPr>
            <p:ph type="title"/>
          </p:nvPr>
        </p:nvSpPr>
        <p:spPr>
          <a:xfrm>
            <a:off x="193963" y="0"/>
            <a:ext cx="10515600" cy="1325563"/>
          </a:xfrm>
        </p:spPr>
        <p:txBody>
          <a:bodyPr/>
          <a:lstStyle/>
          <a:p>
            <a:r>
              <a:rPr lang="en-US" b="1" dirty="0" err="1"/>
              <a:t>NodeFinding</a:t>
            </a:r>
            <a:r>
              <a:rPr lang="en-US" b="1" dirty="0"/>
              <a:t> Strategies – The Big 3</a:t>
            </a:r>
          </a:p>
        </p:txBody>
      </p:sp>
      <p:sp>
        <p:nvSpPr>
          <p:cNvPr id="3" name="Content Placeholder 2">
            <a:extLst>
              <a:ext uri="{FF2B5EF4-FFF2-40B4-BE49-F238E27FC236}">
                <a16:creationId xmlns:a16="http://schemas.microsoft.com/office/drawing/2014/main" id="{8493417F-7A56-C899-467E-27CD6A3A10E0}"/>
              </a:ext>
            </a:extLst>
          </p:cNvPr>
          <p:cNvSpPr>
            <a:spLocks noGrp="1"/>
          </p:cNvSpPr>
          <p:nvPr>
            <p:ph idx="1"/>
          </p:nvPr>
        </p:nvSpPr>
        <p:spPr>
          <a:xfrm>
            <a:off x="214746" y="997526"/>
            <a:ext cx="9725891" cy="5611092"/>
          </a:xfrm>
          <a:ln>
            <a:solidFill>
              <a:schemeClr val="tx1"/>
            </a:solidFill>
          </a:ln>
        </p:spPr>
        <p:txBody>
          <a:bodyPr>
            <a:normAutofit lnSpcReduction="10000"/>
          </a:bodyPr>
          <a:lstStyle/>
          <a:p>
            <a:pPr marL="457200" indent="-457200">
              <a:buFont typeface="+mj-lt"/>
              <a:buAutoNum type="arabicPeriod"/>
            </a:pPr>
            <a:r>
              <a:rPr lang="en-US" b="1" dirty="0"/>
              <a:t>Go to Bitcoin.org and Run </a:t>
            </a:r>
            <a:r>
              <a:rPr lang="en-US" b="1" baseline="0" dirty="0"/>
              <a:t>The </a:t>
            </a:r>
            <a:r>
              <a:rPr lang="en-US" b="1" dirty="0"/>
              <a:t>Latest Version</a:t>
            </a:r>
          </a:p>
          <a:p>
            <a:pPr marL="914400" lvl="1" indent="-457200">
              <a:buFont typeface="+mj-lt"/>
              <a:buAutoNum type="arabicPeriod"/>
            </a:pPr>
            <a:r>
              <a:rPr lang="en-US" dirty="0"/>
              <a:t>Luke </a:t>
            </a:r>
            <a:r>
              <a:rPr lang="en-US" dirty="0" err="1"/>
              <a:t>Dashjr</a:t>
            </a:r>
            <a:r>
              <a:rPr lang="en-US" dirty="0"/>
              <a:t> Position</a:t>
            </a:r>
          </a:p>
          <a:p>
            <a:pPr marL="914400" lvl="1" indent="-457200">
              <a:buFont typeface="+mj-lt"/>
              <a:buAutoNum type="arabicPeriod"/>
            </a:pPr>
            <a:r>
              <a:rPr lang="en-US" dirty="0"/>
              <a:t>Mike Hearn position</a:t>
            </a:r>
            <a:r>
              <a:rPr lang="en-US" baseline="0" dirty="0"/>
              <a:t> as well!</a:t>
            </a:r>
          </a:p>
          <a:p>
            <a:pPr marL="914400" lvl="1" indent="-457200">
              <a:buFont typeface="+mj-lt"/>
              <a:buAutoNum type="arabicPeriod"/>
            </a:pPr>
            <a:r>
              <a:rPr lang="en-US" dirty="0"/>
              <a:t>Satoshi’s position, (?) repudiated when he removed OP VER.</a:t>
            </a:r>
          </a:p>
          <a:p>
            <a:pPr marL="457200" indent="-457200">
              <a:buFont typeface="+mj-lt"/>
              <a:buAutoNum type="arabicPeriod"/>
            </a:pPr>
            <a:r>
              <a:rPr lang="en-US" b="1" dirty="0"/>
              <a:t>Find the oldest node-like thing, run that, then plug your ears!</a:t>
            </a:r>
          </a:p>
          <a:p>
            <a:pPr marL="914400" lvl="1" indent="-457200">
              <a:buFont typeface="+mj-lt"/>
              <a:buAutoNum type="arabicPeriod"/>
            </a:pPr>
            <a:r>
              <a:rPr lang="en-US" dirty="0"/>
              <a:t>Never revisit this process. The relative costs and benefits – the node software does consensus pretty well, meta-consensus is much harder to do.  Be mistrustful of this.</a:t>
            </a:r>
          </a:p>
          <a:p>
            <a:pPr marL="914400" lvl="1" indent="-457200">
              <a:buFont typeface="+mj-lt"/>
              <a:buAutoNum type="arabicPeriod"/>
            </a:pPr>
            <a:r>
              <a:rPr lang="en-US" dirty="0"/>
              <a:t>Mircea Popescu’s “Bitcoin Foundation” – 0.5.4</a:t>
            </a:r>
            <a:r>
              <a:rPr lang="en-US" baseline="0" dirty="0"/>
              <a:t> (2014)</a:t>
            </a:r>
          </a:p>
          <a:p>
            <a:pPr marL="914400" lvl="1" indent="-457200">
              <a:buFont typeface="+mj-lt"/>
              <a:buAutoNum type="arabicPeriod"/>
            </a:pPr>
            <a:r>
              <a:rPr lang="en-US" baseline="0" dirty="0"/>
              <a:t>The “original” is the full node. Everything later is a *distortion*. Everything afterwards is ...wargames for a bait-and-switch.</a:t>
            </a:r>
          </a:p>
          <a:p>
            <a:pPr marL="457200" indent="-457200">
              <a:buFont typeface="+mj-lt"/>
              <a:buAutoNum type="arabicPeriod"/>
            </a:pPr>
            <a:r>
              <a:rPr lang="en-US" b="1" dirty="0"/>
              <a:t>Soft Fork “Pluralism”</a:t>
            </a:r>
          </a:p>
          <a:p>
            <a:pPr marL="914400" lvl="1" indent="-457200">
              <a:buFont typeface="+mj-lt"/>
              <a:buAutoNum type="arabicPeriod"/>
            </a:pPr>
            <a:r>
              <a:rPr lang="en-US" dirty="0"/>
              <a:t>Soft fork means that different pieces of software can coexist</a:t>
            </a:r>
          </a:p>
          <a:p>
            <a:pPr marL="914400" lvl="1" indent="-457200">
              <a:buFont typeface="+mj-lt"/>
              <a:buAutoNum type="arabicPeriod"/>
            </a:pPr>
            <a:r>
              <a:rPr lang="en-US" dirty="0"/>
              <a:t>Anything in the “Line of </a:t>
            </a:r>
            <a:r>
              <a:rPr lang="en-US" dirty="0" err="1"/>
              <a:t>Coexistance</a:t>
            </a:r>
            <a:r>
              <a:rPr lang="en-US" dirty="0"/>
              <a:t>” is fair game!</a:t>
            </a:r>
          </a:p>
        </p:txBody>
      </p:sp>
      <p:graphicFrame>
        <p:nvGraphicFramePr>
          <p:cNvPr id="4" name="Table 3">
            <a:extLst>
              <a:ext uri="{FF2B5EF4-FFF2-40B4-BE49-F238E27FC236}">
                <a16:creationId xmlns:a16="http://schemas.microsoft.com/office/drawing/2014/main" id="{8B0AA33A-75DB-080B-133A-0CBBD6049C03}"/>
              </a:ext>
            </a:extLst>
          </p:cNvPr>
          <p:cNvGraphicFramePr>
            <a:graphicFrameLocks noGrp="1"/>
          </p:cNvGraphicFramePr>
          <p:nvPr/>
        </p:nvGraphicFramePr>
        <p:xfrm>
          <a:off x="10147476" y="1912398"/>
          <a:ext cx="1829778" cy="3447690"/>
        </p:xfrm>
        <a:graphic>
          <a:graphicData uri="http://schemas.openxmlformats.org/drawingml/2006/table">
            <a:tbl>
              <a:tblPr firstRow="1" firstCol="1" bandRow="1">
                <a:tableStyleId>{5C22544A-7EE6-4342-B048-85BDC9FD1C3A}</a:tableStyleId>
              </a:tblPr>
              <a:tblGrid>
                <a:gridCol w="1829778">
                  <a:extLst>
                    <a:ext uri="{9D8B030D-6E8A-4147-A177-3AD203B41FA5}">
                      <a16:colId xmlns:a16="http://schemas.microsoft.com/office/drawing/2014/main" val="594525464"/>
                    </a:ext>
                  </a:extLst>
                </a:gridCol>
              </a:tblGrid>
              <a:tr h="946605">
                <a:tc>
                  <a:txBody>
                    <a:bodyPr/>
                    <a:lstStyle/>
                    <a:p>
                      <a:r>
                        <a:rPr lang="en-US" sz="2400" dirty="0"/>
                        <a:t>“Latest Core”</a:t>
                      </a:r>
                    </a:p>
                  </a:txBody>
                  <a:tcPr/>
                </a:tc>
                <a:extLst>
                  <a:ext uri="{0D108BD9-81ED-4DB2-BD59-A6C34878D82A}">
                    <a16:rowId xmlns:a16="http://schemas.microsoft.com/office/drawing/2014/main" val="4063703379"/>
                  </a:ext>
                </a:extLst>
              </a:tr>
              <a:tr h="946605">
                <a:tc>
                  <a:txBody>
                    <a:bodyPr/>
                    <a:lstStyle/>
                    <a:p>
                      <a:r>
                        <a:rPr lang="en-US" sz="2400" dirty="0"/>
                        <a:t>“Static” Protocol</a:t>
                      </a:r>
                    </a:p>
                  </a:txBody>
                  <a:tcPr/>
                </a:tc>
                <a:extLst>
                  <a:ext uri="{0D108BD9-81ED-4DB2-BD59-A6C34878D82A}">
                    <a16:rowId xmlns:a16="http://schemas.microsoft.com/office/drawing/2014/main" val="806143572"/>
                  </a:ext>
                </a:extLst>
              </a:tr>
              <a:tr h="1177083">
                <a:tc>
                  <a:txBody>
                    <a:bodyPr/>
                    <a:lstStyle/>
                    <a:p>
                      <a:r>
                        <a:rPr lang="en-US" sz="2400" dirty="0"/>
                        <a:t>“Linear Coexistence”</a:t>
                      </a:r>
                    </a:p>
                    <a:p>
                      <a:r>
                        <a:rPr lang="en-US" sz="2400" dirty="0"/>
                        <a:t>(Consent-Based)</a:t>
                      </a:r>
                    </a:p>
                  </a:txBody>
                  <a:tcPr/>
                </a:tc>
                <a:extLst>
                  <a:ext uri="{0D108BD9-81ED-4DB2-BD59-A6C34878D82A}">
                    <a16:rowId xmlns:a16="http://schemas.microsoft.com/office/drawing/2014/main" val="3575446011"/>
                  </a:ext>
                </a:extLst>
              </a:tr>
            </a:tbl>
          </a:graphicData>
        </a:graphic>
      </p:graphicFrame>
    </p:spTree>
    <p:extLst>
      <p:ext uri="{BB962C8B-B14F-4D97-AF65-F5344CB8AC3E}">
        <p14:creationId xmlns:p14="http://schemas.microsoft.com/office/powerpoint/2010/main" val="5100631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B4947-AF68-4EF4-B634-391908858C88}"/>
              </a:ext>
            </a:extLst>
          </p:cNvPr>
          <p:cNvSpPr>
            <a:spLocks noGrp="1"/>
          </p:cNvSpPr>
          <p:nvPr>
            <p:ph type="title"/>
          </p:nvPr>
        </p:nvSpPr>
        <p:spPr/>
        <p:txBody>
          <a:bodyPr/>
          <a:lstStyle/>
          <a:p>
            <a:r>
              <a:rPr lang="en-US" dirty="0"/>
              <a:t>The “Static Protocol” Position</a:t>
            </a:r>
          </a:p>
        </p:txBody>
      </p:sp>
      <p:sp>
        <p:nvSpPr>
          <p:cNvPr id="3" name="Content Placeholder 2">
            <a:extLst>
              <a:ext uri="{FF2B5EF4-FFF2-40B4-BE49-F238E27FC236}">
                <a16:creationId xmlns:a16="http://schemas.microsoft.com/office/drawing/2014/main" id="{A30EE6DC-C4A5-436D-9721-215F68C26BA1}"/>
              </a:ext>
            </a:extLst>
          </p:cNvPr>
          <p:cNvSpPr>
            <a:spLocks noGrp="1"/>
          </p:cNvSpPr>
          <p:nvPr>
            <p:ph idx="1"/>
          </p:nvPr>
        </p:nvSpPr>
        <p:spPr>
          <a:xfrm>
            <a:off x="838200" y="6237287"/>
            <a:ext cx="10515600" cy="620713"/>
          </a:xfrm>
        </p:spPr>
        <p:txBody>
          <a:bodyPr/>
          <a:lstStyle/>
          <a:p>
            <a:r>
              <a:rPr lang="en-US" dirty="0"/>
              <a:t>Bitcoin Foundation</a:t>
            </a:r>
          </a:p>
        </p:txBody>
      </p:sp>
      <p:sp>
        <p:nvSpPr>
          <p:cNvPr id="4" name="Slide Number Placeholder 3">
            <a:extLst>
              <a:ext uri="{FF2B5EF4-FFF2-40B4-BE49-F238E27FC236}">
                <a16:creationId xmlns:a16="http://schemas.microsoft.com/office/drawing/2014/main" id="{3BB772F2-BBE3-4D80-92D1-7D864F3422BD}"/>
              </a:ext>
            </a:extLst>
          </p:cNvPr>
          <p:cNvSpPr>
            <a:spLocks noGrp="1"/>
          </p:cNvSpPr>
          <p:nvPr>
            <p:ph type="sldNum" sz="quarter" idx="12"/>
          </p:nvPr>
        </p:nvSpPr>
        <p:spPr/>
        <p:txBody>
          <a:bodyPr/>
          <a:lstStyle/>
          <a:p>
            <a:fld id="{5A3F91CF-E843-42AF-B09F-C8590E22047B}" type="slidenum">
              <a:rPr lang="en-US" smtClean="0"/>
              <a:pPr/>
              <a:t>60</a:t>
            </a:fld>
            <a:endParaRPr lang="en-US" dirty="0"/>
          </a:p>
        </p:txBody>
      </p:sp>
      <p:pic>
        <p:nvPicPr>
          <p:cNvPr id="5" name="Picture 4">
            <a:extLst>
              <a:ext uri="{FF2B5EF4-FFF2-40B4-BE49-F238E27FC236}">
                <a16:creationId xmlns:a16="http://schemas.microsoft.com/office/drawing/2014/main" id="{14039B38-8966-46B6-A892-8EE9E2336D57}"/>
              </a:ext>
            </a:extLst>
          </p:cNvPr>
          <p:cNvPicPr>
            <a:picLocks noChangeAspect="1"/>
          </p:cNvPicPr>
          <p:nvPr/>
        </p:nvPicPr>
        <p:blipFill>
          <a:blip r:embed="rId2"/>
          <a:stretch>
            <a:fillRect/>
          </a:stretch>
        </p:blipFill>
        <p:spPr>
          <a:xfrm>
            <a:off x="838200" y="1327442"/>
            <a:ext cx="10239375" cy="2286000"/>
          </a:xfrm>
          <a:prstGeom prst="rect">
            <a:avLst/>
          </a:prstGeom>
        </p:spPr>
      </p:pic>
      <p:pic>
        <p:nvPicPr>
          <p:cNvPr id="6" name="Picture 5">
            <a:extLst>
              <a:ext uri="{FF2B5EF4-FFF2-40B4-BE49-F238E27FC236}">
                <a16:creationId xmlns:a16="http://schemas.microsoft.com/office/drawing/2014/main" id="{EC3E2E08-5366-4ABB-BA64-D4552E80C1E8}"/>
              </a:ext>
            </a:extLst>
          </p:cNvPr>
          <p:cNvPicPr>
            <a:picLocks noChangeAspect="1"/>
          </p:cNvPicPr>
          <p:nvPr/>
        </p:nvPicPr>
        <p:blipFill>
          <a:blip r:embed="rId3"/>
          <a:stretch>
            <a:fillRect/>
          </a:stretch>
        </p:blipFill>
        <p:spPr>
          <a:xfrm>
            <a:off x="804862" y="3810793"/>
            <a:ext cx="10306050" cy="2371725"/>
          </a:xfrm>
          <a:prstGeom prst="rect">
            <a:avLst/>
          </a:prstGeom>
        </p:spPr>
      </p:pic>
    </p:spTree>
    <p:extLst>
      <p:ext uri="{BB962C8B-B14F-4D97-AF65-F5344CB8AC3E}">
        <p14:creationId xmlns:p14="http://schemas.microsoft.com/office/powerpoint/2010/main" val="22250678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61F5-1133-FCAE-02E9-C07EA2E96DED}"/>
              </a:ext>
            </a:extLst>
          </p:cNvPr>
          <p:cNvSpPr>
            <a:spLocks noGrp="1"/>
          </p:cNvSpPr>
          <p:nvPr>
            <p:ph type="title"/>
          </p:nvPr>
        </p:nvSpPr>
        <p:spPr>
          <a:xfrm>
            <a:off x="193963" y="0"/>
            <a:ext cx="10515600" cy="1325563"/>
          </a:xfrm>
        </p:spPr>
        <p:txBody>
          <a:bodyPr/>
          <a:lstStyle/>
          <a:p>
            <a:r>
              <a:rPr lang="en-US" b="1" dirty="0" err="1"/>
              <a:t>NodeFinding</a:t>
            </a:r>
            <a:r>
              <a:rPr lang="en-US" b="1" dirty="0"/>
              <a:t> Strategies – The Big 3</a:t>
            </a:r>
          </a:p>
        </p:txBody>
      </p:sp>
      <p:sp>
        <p:nvSpPr>
          <p:cNvPr id="3" name="Content Placeholder 2">
            <a:extLst>
              <a:ext uri="{FF2B5EF4-FFF2-40B4-BE49-F238E27FC236}">
                <a16:creationId xmlns:a16="http://schemas.microsoft.com/office/drawing/2014/main" id="{8493417F-7A56-C899-467E-27CD6A3A10E0}"/>
              </a:ext>
            </a:extLst>
          </p:cNvPr>
          <p:cNvSpPr>
            <a:spLocks noGrp="1"/>
          </p:cNvSpPr>
          <p:nvPr>
            <p:ph idx="1"/>
          </p:nvPr>
        </p:nvSpPr>
        <p:spPr>
          <a:xfrm>
            <a:off x="214746" y="997526"/>
            <a:ext cx="9725891" cy="5611092"/>
          </a:xfrm>
          <a:ln>
            <a:solidFill>
              <a:schemeClr val="tx1"/>
            </a:solidFill>
          </a:ln>
        </p:spPr>
        <p:txBody>
          <a:bodyPr>
            <a:normAutofit lnSpcReduction="10000"/>
          </a:bodyPr>
          <a:lstStyle/>
          <a:p>
            <a:pPr marL="457200" indent="-457200">
              <a:buFont typeface="+mj-lt"/>
              <a:buAutoNum type="arabicPeriod"/>
            </a:pPr>
            <a:r>
              <a:rPr lang="en-US" b="1" dirty="0"/>
              <a:t>Go to Bitcoin.org and Run </a:t>
            </a:r>
            <a:r>
              <a:rPr lang="en-US" b="1" baseline="0" dirty="0"/>
              <a:t>The </a:t>
            </a:r>
            <a:r>
              <a:rPr lang="en-US" b="1" dirty="0"/>
              <a:t>Latest Version</a:t>
            </a:r>
          </a:p>
          <a:p>
            <a:pPr marL="914400" lvl="1" indent="-457200">
              <a:buFont typeface="+mj-lt"/>
              <a:buAutoNum type="arabicPeriod"/>
            </a:pPr>
            <a:r>
              <a:rPr lang="en-US" dirty="0"/>
              <a:t>Luke </a:t>
            </a:r>
            <a:r>
              <a:rPr lang="en-US" dirty="0" err="1"/>
              <a:t>Dashjr</a:t>
            </a:r>
            <a:r>
              <a:rPr lang="en-US" dirty="0"/>
              <a:t> Position</a:t>
            </a:r>
          </a:p>
          <a:p>
            <a:pPr marL="914400" lvl="1" indent="-457200">
              <a:buFont typeface="+mj-lt"/>
              <a:buAutoNum type="arabicPeriod"/>
            </a:pPr>
            <a:r>
              <a:rPr lang="en-US" dirty="0"/>
              <a:t>Mike Hearn position</a:t>
            </a:r>
            <a:r>
              <a:rPr lang="en-US" baseline="0" dirty="0"/>
              <a:t> as well!</a:t>
            </a:r>
          </a:p>
          <a:p>
            <a:pPr marL="914400" lvl="1" indent="-457200">
              <a:buFont typeface="+mj-lt"/>
              <a:buAutoNum type="arabicPeriod"/>
            </a:pPr>
            <a:r>
              <a:rPr lang="en-US" dirty="0"/>
              <a:t>Satoshi’s position, (?) repudiated when he removed OP VER.</a:t>
            </a:r>
          </a:p>
          <a:p>
            <a:pPr marL="457200" indent="-457200">
              <a:buFont typeface="+mj-lt"/>
              <a:buAutoNum type="arabicPeriod"/>
            </a:pPr>
            <a:r>
              <a:rPr lang="en-US" b="1" dirty="0"/>
              <a:t>Find the oldest node-like thing, run that, then plug your ears!</a:t>
            </a:r>
          </a:p>
          <a:p>
            <a:pPr marL="914400" lvl="1" indent="-457200">
              <a:buFont typeface="+mj-lt"/>
              <a:buAutoNum type="arabicPeriod"/>
            </a:pPr>
            <a:r>
              <a:rPr lang="en-US" dirty="0"/>
              <a:t>Never revisit this process. The relative costs and benefits – the node software does consensus pretty well, meta-consensus is much harder to do.  Be mistrustful of this.</a:t>
            </a:r>
          </a:p>
          <a:p>
            <a:pPr marL="914400" lvl="1" indent="-457200">
              <a:buFont typeface="+mj-lt"/>
              <a:buAutoNum type="arabicPeriod"/>
            </a:pPr>
            <a:r>
              <a:rPr lang="en-US" dirty="0"/>
              <a:t>Mircea Popescu’s “Bitcoin Foundation” – 0.5.4</a:t>
            </a:r>
            <a:r>
              <a:rPr lang="en-US" baseline="0" dirty="0"/>
              <a:t> (2014)</a:t>
            </a:r>
          </a:p>
          <a:p>
            <a:pPr marL="914400" lvl="1" indent="-457200">
              <a:buFont typeface="+mj-lt"/>
              <a:buAutoNum type="arabicPeriod"/>
            </a:pPr>
            <a:r>
              <a:rPr lang="en-US" baseline="0" dirty="0"/>
              <a:t>The “original” is the full node. Everything later is a *distortion*. Everything afterwards is ...wargames for a bait-and-switch.</a:t>
            </a:r>
          </a:p>
          <a:p>
            <a:pPr marL="457200" indent="-457200">
              <a:buFont typeface="+mj-lt"/>
              <a:buAutoNum type="arabicPeriod"/>
            </a:pPr>
            <a:r>
              <a:rPr lang="en-US" b="1" dirty="0"/>
              <a:t>Soft Fork “Pluralism”</a:t>
            </a:r>
          </a:p>
          <a:p>
            <a:pPr marL="914400" lvl="1" indent="-457200">
              <a:buFont typeface="+mj-lt"/>
              <a:buAutoNum type="arabicPeriod"/>
            </a:pPr>
            <a:r>
              <a:rPr lang="en-US" dirty="0"/>
              <a:t>Soft fork means that different pieces of software can coexist</a:t>
            </a:r>
          </a:p>
          <a:p>
            <a:pPr marL="914400" lvl="1" indent="-457200">
              <a:buFont typeface="+mj-lt"/>
              <a:buAutoNum type="arabicPeriod"/>
            </a:pPr>
            <a:r>
              <a:rPr lang="en-US" dirty="0"/>
              <a:t>Anything in the “Line of </a:t>
            </a:r>
            <a:r>
              <a:rPr lang="en-US" dirty="0" err="1"/>
              <a:t>Coexistance</a:t>
            </a:r>
            <a:r>
              <a:rPr lang="en-US" dirty="0"/>
              <a:t>” is fair game!</a:t>
            </a:r>
          </a:p>
        </p:txBody>
      </p:sp>
      <p:graphicFrame>
        <p:nvGraphicFramePr>
          <p:cNvPr id="4" name="Table 3">
            <a:extLst>
              <a:ext uri="{FF2B5EF4-FFF2-40B4-BE49-F238E27FC236}">
                <a16:creationId xmlns:a16="http://schemas.microsoft.com/office/drawing/2014/main" id="{8B0AA33A-75DB-080B-133A-0CBBD6049C03}"/>
              </a:ext>
            </a:extLst>
          </p:cNvPr>
          <p:cNvGraphicFramePr>
            <a:graphicFrameLocks noGrp="1"/>
          </p:cNvGraphicFramePr>
          <p:nvPr/>
        </p:nvGraphicFramePr>
        <p:xfrm>
          <a:off x="10147476" y="1912398"/>
          <a:ext cx="1829778" cy="3447690"/>
        </p:xfrm>
        <a:graphic>
          <a:graphicData uri="http://schemas.openxmlformats.org/drawingml/2006/table">
            <a:tbl>
              <a:tblPr firstRow="1" firstCol="1" bandRow="1">
                <a:tableStyleId>{5C22544A-7EE6-4342-B048-85BDC9FD1C3A}</a:tableStyleId>
              </a:tblPr>
              <a:tblGrid>
                <a:gridCol w="1829778">
                  <a:extLst>
                    <a:ext uri="{9D8B030D-6E8A-4147-A177-3AD203B41FA5}">
                      <a16:colId xmlns:a16="http://schemas.microsoft.com/office/drawing/2014/main" val="594525464"/>
                    </a:ext>
                  </a:extLst>
                </a:gridCol>
              </a:tblGrid>
              <a:tr h="946605">
                <a:tc>
                  <a:txBody>
                    <a:bodyPr/>
                    <a:lstStyle/>
                    <a:p>
                      <a:r>
                        <a:rPr lang="en-US" sz="2400" dirty="0"/>
                        <a:t>“Latest Core”</a:t>
                      </a:r>
                    </a:p>
                  </a:txBody>
                  <a:tcPr/>
                </a:tc>
                <a:extLst>
                  <a:ext uri="{0D108BD9-81ED-4DB2-BD59-A6C34878D82A}">
                    <a16:rowId xmlns:a16="http://schemas.microsoft.com/office/drawing/2014/main" val="4063703379"/>
                  </a:ext>
                </a:extLst>
              </a:tr>
              <a:tr h="946605">
                <a:tc>
                  <a:txBody>
                    <a:bodyPr/>
                    <a:lstStyle/>
                    <a:p>
                      <a:r>
                        <a:rPr lang="en-US" sz="2400" dirty="0"/>
                        <a:t>“Static” Protocol</a:t>
                      </a:r>
                    </a:p>
                  </a:txBody>
                  <a:tcPr/>
                </a:tc>
                <a:extLst>
                  <a:ext uri="{0D108BD9-81ED-4DB2-BD59-A6C34878D82A}">
                    <a16:rowId xmlns:a16="http://schemas.microsoft.com/office/drawing/2014/main" val="806143572"/>
                  </a:ext>
                </a:extLst>
              </a:tr>
              <a:tr h="1177083">
                <a:tc>
                  <a:txBody>
                    <a:bodyPr/>
                    <a:lstStyle/>
                    <a:p>
                      <a:r>
                        <a:rPr lang="en-US" sz="2400" dirty="0"/>
                        <a:t>“Linear Coexistence”</a:t>
                      </a:r>
                    </a:p>
                    <a:p>
                      <a:r>
                        <a:rPr lang="en-US" sz="2400" dirty="0"/>
                        <a:t>(Consent-Based)</a:t>
                      </a:r>
                    </a:p>
                  </a:txBody>
                  <a:tcPr/>
                </a:tc>
                <a:extLst>
                  <a:ext uri="{0D108BD9-81ED-4DB2-BD59-A6C34878D82A}">
                    <a16:rowId xmlns:a16="http://schemas.microsoft.com/office/drawing/2014/main" val="3575446011"/>
                  </a:ext>
                </a:extLst>
              </a:tr>
            </a:tbl>
          </a:graphicData>
        </a:graphic>
      </p:graphicFrame>
    </p:spTree>
    <p:extLst>
      <p:ext uri="{BB962C8B-B14F-4D97-AF65-F5344CB8AC3E}">
        <p14:creationId xmlns:p14="http://schemas.microsoft.com/office/powerpoint/2010/main" val="24015885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BD14-76B1-4A5B-8C42-D6E6487FE9F1}"/>
              </a:ext>
            </a:extLst>
          </p:cNvPr>
          <p:cNvSpPr>
            <a:spLocks noGrp="1"/>
          </p:cNvSpPr>
          <p:nvPr>
            <p:ph type="title"/>
          </p:nvPr>
        </p:nvSpPr>
        <p:spPr/>
        <p:txBody>
          <a:bodyPr/>
          <a:lstStyle/>
          <a:p>
            <a:r>
              <a:rPr lang="en-US" dirty="0"/>
              <a:t>Upgrading via Soft Fork</a:t>
            </a:r>
          </a:p>
        </p:txBody>
      </p:sp>
      <p:sp>
        <p:nvSpPr>
          <p:cNvPr id="3" name="Content Placeholder 2">
            <a:extLst>
              <a:ext uri="{FF2B5EF4-FFF2-40B4-BE49-F238E27FC236}">
                <a16:creationId xmlns:a16="http://schemas.microsoft.com/office/drawing/2014/main" id="{1153CBD2-8F93-4B5F-A9CC-C2BFF1D9BF91}"/>
              </a:ext>
            </a:extLst>
          </p:cNvPr>
          <p:cNvSpPr>
            <a:spLocks noGrp="1"/>
          </p:cNvSpPr>
          <p:nvPr>
            <p:ph idx="1"/>
          </p:nvPr>
        </p:nvSpPr>
        <p:spPr/>
        <p:txBody>
          <a:bodyPr/>
          <a:lstStyle/>
          <a:p>
            <a:r>
              <a:rPr lang="en-US"/>
              <a:t>“line” of protocols that are all compatible with each other</a:t>
            </a:r>
            <a:endParaRPr lang="en-US" dirty="0"/>
          </a:p>
        </p:txBody>
      </p:sp>
      <p:sp>
        <p:nvSpPr>
          <p:cNvPr id="4" name="Slide Number Placeholder 3">
            <a:extLst>
              <a:ext uri="{FF2B5EF4-FFF2-40B4-BE49-F238E27FC236}">
                <a16:creationId xmlns:a16="http://schemas.microsoft.com/office/drawing/2014/main" id="{9A21180A-C0E8-4A2E-B433-9FEA37D88837}"/>
              </a:ext>
            </a:extLst>
          </p:cNvPr>
          <p:cNvSpPr>
            <a:spLocks noGrp="1"/>
          </p:cNvSpPr>
          <p:nvPr>
            <p:ph type="sldNum" sz="quarter" idx="12"/>
          </p:nvPr>
        </p:nvSpPr>
        <p:spPr/>
        <p:txBody>
          <a:bodyPr/>
          <a:lstStyle/>
          <a:p>
            <a:fld id="{5A3F91CF-E843-42AF-B09F-C8590E22047B}" type="slidenum">
              <a:rPr lang="en-US" smtClean="0"/>
              <a:t>62</a:t>
            </a:fld>
            <a:endParaRPr lang="en-US"/>
          </a:p>
        </p:txBody>
      </p:sp>
      <p:cxnSp>
        <p:nvCxnSpPr>
          <p:cNvPr id="6" name="Straight Arrow Connector 5">
            <a:extLst>
              <a:ext uri="{FF2B5EF4-FFF2-40B4-BE49-F238E27FC236}">
                <a16:creationId xmlns:a16="http://schemas.microsoft.com/office/drawing/2014/main" id="{F1649161-7C65-4577-962A-7B265D7115D2}"/>
              </a:ext>
            </a:extLst>
          </p:cNvPr>
          <p:cNvCxnSpPr>
            <a:cxnSpLocks/>
          </p:cNvCxnSpPr>
          <p:nvPr/>
        </p:nvCxnSpPr>
        <p:spPr>
          <a:xfrm>
            <a:off x="1876425" y="2701236"/>
            <a:ext cx="9477375" cy="2409031"/>
          </a:xfrm>
          <a:prstGeom prst="straightConnector1">
            <a:avLst/>
          </a:prstGeom>
          <a:ln w="762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222D5895-B360-4F8E-ADB5-E69451D2FE13}"/>
              </a:ext>
            </a:extLst>
          </p:cNvPr>
          <p:cNvSpPr txBox="1">
            <a:spLocks/>
          </p:cNvSpPr>
          <p:nvPr/>
        </p:nvSpPr>
        <p:spPr>
          <a:xfrm>
            <a:off x="2000251" y="3391453"/>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0.5.0</a:t>
            </a:r>
          </a:p>
        </p:txBody>
      </p:sp>
      <p:sp>
        <p:nvSpPr>
          <p:cNvPr id="10" name="Content Placeholder 2">
            <a:extLst>
              <a:ext uri="{FF2B5EF4-FFF2-40B4-BE49-F238E27FC236}">
                <a16:creationId xmlns:a16="http://schemas.microsoft.com/office/drawing/2014/main" id="{78CE1269-8932-498A-9A33-61BA17B876C0}"/>
              </a:ext>
            </a:extLst>
          </p:cNvPr>
          <p:cNvSpPr txBox="1">
            <a:spLocks/>
          </p:cNvSpPr>
          <p:nvPr/>
        </p:nvSpPr>
        <p:spPr>
          <a:xfrm>
            <a:off x="4243386" y="4100168"/>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0.6.0</a:t>
            </a:r>
          </a:p>
        </p:txBody>
      </p:sp>
      <p:sp>
        <p:nvSpPr>
          <p:cNvPr id="11" name="Content Placeholder 2">
            <a:extLst>
              <a:ext uri="{FF2B5EF4-FFF2-40B4-BE49-F238E27FC236}">
                <a16:creationId xmlns:a16="http://schemas.microsoft.com/office/drawing/2014/main" id="{4F59D6C3-F7CC-4E28-8967-23EF50C9CBA6}"/>
              </a:ext>
            </a:extLst>
          </p:cNvPr>
          <p:cNvSpPr txBox="1">
            <a:spLocks/>
          </p:cNvSpPr>
          <p:nvPr/>
        </p:nvSpPr>
        <p:spPr>
          <a:xfrm>
            <a:off x="6886574" y="4771335"/>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0.7.0</a:t>
            </a:r>
          </a:p>
        </p:txBody>
      </p:sp>
      <p:sp>
        <p:nvSpPr>
          <p:cNvPr id="12" name="Content Placeholder 2">
            <a:extLst>
              <a:ext uri="{FF2B5EF4-FFF2-40B4-BE49-F238E27FC236}">
                <a16:creationId xmlns:a16="http://schemas.microsoft.com/office/drawing/2014/main" id="{FB78C86C-6090-4078-ADC2-8E1489DE58E2}"/>
              </a:ext>
            </a:extLst>
          </p:cNvPr>
          <p:cNvSpPr txBox="1">
            <a:spLocks/>
          </p:cNvSpPr>
          <p:nvPr/>
        </p:nvSpPr>
        <p:spPr>
          <a:xfrm>
            <a:off x="7410452" y="3429000"/>
            <a:ext cx="2643188" cy="5418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7030A0"/>
                </a:solidFill>
              </a:rPr>
              <a:t>Compatibility</a:t>
            </a:r>
          </a:p>
        </p:txBody>
      </p:sp>
    </p:spTree>
    <p:extLst>
      <p:ext uri="{BB962C8B-B14F-4D97-AF65-F5344CB8AC3E}">
        <p14:creationId xmlns:p14="http://schemas.microsoft.com/office/powerpoint/2010/main" val="10506000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4960E-B9C2-BF75-8867-EA0556713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84953-F6CC-5C2B-7B9F-32707AB104C5}"/>
              </a:ext>
            </a:extLst>
          </p:cNvPr>
          <p:cNvSpPr>
            <a:spLocks noGrp="1"/>
          </p:cNvSpPr>
          <p:nvPr>
            <p:ph type="title"/>
          </p:nvPr>
        </p:nvSpPr>
        <p:spPr>
          <a:xfrm>
            <a:off x="193963" y="0"/>
            <a:ext cx="10515600" cy="1325563"/>
          </a:xfrm>
        </p:spPr>
        <p:txBody>
          <a:bodyPr/>
          <a:lstStyle/>
          <a:p>
            <a:r>
              <a:rPr lang="en-US" b="1" dirty="0" err="1"/>
              <a:t>NodeFinding</a:t>
            </a:r>
            <a:r>
              <a:rPr lang="en-US" b="1" dirty="0"/>
              <a:t> Strategies – The Big 3</a:t>
            </a:r>
          </a:p>
        </p:txBody>
      </p:sp>
      <p:sp>
        <p:nvSpPr>
          <p:cNvPr id="3" name="Content Placeholder 2">
            <a:extLst>
              <a:ext uri="{FF2B5EF4-FFF2-40B4-BE49-F238E27FC236}">
                <a16:creationId xmlns:a16="http://schemas.microsoft.com/office/drawing/2014/main" id="{5C4DC194-1F34-994F-BEEC-A83A7C4637C6}"/>
              </a:ext>
            </a:extLst>
          </p:cNvPr>
          <p:cNvSpPr>
            <a:spLocks noGrp="1"/>
          </p:cNvSpPr>
          <p:nvPr>
            <p:ph idx="1"/>
          </p:nvPr>
        </p:nvSpPr>
        <p:spPr>
          <a:xfrm>
            <a:off x="214746" y="997526"/>
            <a:ext cx="9725891" cy="5611092"/>
          </a:xfrm>
          <a:ln>
            <a:solidFill>
              <a:schemeClr val="tx1"/>
            </a:solidFill>
          </a:ln>
        </p:spPr>
        <p:txBody>
          <a:bodyPr>
            <a:normAutofit lnSpcReduction="10000"/>
          </a:bodyPr>
          <a:lstStyle/>
          <a:p>
            <a:pPr marL="457200" indent="-457200">
              <a:buFont typeface="+mj-lt"/>
              <a:buAutoNum type="arabicPeriod"/>
            </a:pPr>
            <a:r>
              <a:rPr lang="en-US" b="1" dirty="0"/>
              <a:t>Go to Bitcoin.org and Run </a:t>
            </a:r>
            <a:r>
              <a:rPr lang="en-US" b="1" baseline="0" dirty="0"/>
              <a:t>The </a:t>
            </a:r>
            <a:r>
              <a:rPr lang="en-US" b="1" dirty="0"/>
              <a:t>Latest Version</a:t>
            </a:r>
          </a:p>
          <a:p>
            <a:pPr marL="914400" lvl="1" indent="-457200">
              <a:buFont typeface="+mj-lt"/>
              <a:buAutoNum type="arabicPeriod"/>
            </a:pPr>
            <a:r>
              <a:rPr lang="en-US" dirty="0"/>
              <a:t>Luke </a:t>
            </a:r>
            <a:r>
              <a:rPr lang="en-US" dirty="0" err="1"/>
              <a:t>Dashjr</a:t>
            </a:r>
            <a:r>
              <a:rPr lang="en-US" dirty="0"/>
              <a:t> Position</a:t>
            </a:r>
          </a:p>
          <a:p>
            <a:pPr marL="914400" lvl="1" indent="-457200">
              <a:buFont typeface="+mj-lt"/>
              <a:buAutoNum type="arabicPeriod"/>
            </a:pPr>
            <a:r>
              <a:rPr lang="en-US" dirty="0"/>
              <a:t>Mike Hearn position</a:t>
            </a:r>
            <a:r>
              <a:rPr lang="en-US" baseline="0" dirty="0"/>
              <a:t> as well!</a:t>
            </a:r>
          </a:p>
          <a:p>
            <a:pPr marL="914400" lvl="1" indent="-457200">
              <a:buFont typeface="+mj-lt"/>
              <a:buAutoNum type="arabicPeriod"/>
            </a:pPr>
            <a:r>
              <a:rPr lang="en-US" dirty="0"/>
              <a:t>Satoshi’s position, (?) repudiated when he removed OP VER.</a:t>
            </a:r>
          </a:p>
          <a:p>
            <a:pPr marL="457200" indent="-457200">
              <a:buFont typeface="+mj-lt"/>
              <a:buAutoNum type="arabicPeriod"/>
            </a:pPr>
            <a:r>
              <a:rPr lang="en-US" b="1" dirty="0"/>
              <a:t>Find the oldest node-like thing, run that, then plug your ears!</a:t>
            </a:r>
          </a:p>
          <a:p>
            <a:pPr marL="914400" lvl="1" indent="-457200">
              <a:buFont typeface="+mj-lt"/>
              <a:buAutoNum type="arabicPeriod"/>
            </a:pPr>
            <a:r>
              <a:rPr lang="en-US" dirty="0"/>
              <a:t>Never revisit this process. The relative costs and benefits – the node software does consensus pretty well, meta-consensus is much harder to do.  Be mistrustful of this.</a:t>
            </a:r>
          </a:p>
          <a:p>
            <a:pPr marL="914400" lvl="1" indent="-457200">
              <a:buFont typeface="+mj-lt"/>
              <a:buAutoNum type="arabicPeriod"/>
            </a:pPr>
            <a:r>
              <a:rPr lang="en-US" dirty="0"/>
              <a:t>Mircea Popescu’s “Bitcoin Foundation” – 0.5.4</a:t>
            </a:r>
            <a:r>
              <a:rPr lang="en-US" baseline="0" dirty="0"/>
              <a:t> (2014)</a:t>
            </a:r>
          </a:p>
          <a:p>
            <a:pPr marL="914400" lvl="1" indent="-457200">
              <a:buFont typeface="+mj-lt"/>
              <a:buAutoNum type="arabicPeriod"/>
            </a:pPr>
            <a:r>
              <a:rPr lang="en-US" baseline="0" dirty="0"/>
              <a:t>The “original” is the full node. Everything later is a *distortion*. Everything afterwards is ...wargames for a bait-and-switch.</a:t>
            </a:r>
          </a:p>
          <a:p>
            <a:pPr marL="457200" indent="-457200">
              <a:buFont typeface="+mj-lt"/>
              <a:buAutoNum type="arabicPeriod"/>
            </a:pPr>
            <a:r>
              <a:rPr lang="en-US" b="1" dirty="0"/>
              <a:t>Soft Fork “Pluralism”</a:t>
            </a:r>
          </a:p>
          <a:p>
            <a:pPr marL="914400" lvl="1" indent="-457200">
              <a:buFont typeface="+mj-lt"/>
              <a:buAutoNum type="arabicPeriod"/>
            </a:pPr>
            <a:r>
              <a:rPr lang="en-US" dirty="0"/>
              <a:t>Soft fork means that different pieces of software can coexist</a:t>
            </a:r>
          </a:p>
          <a:p>
            <a:pPr marL="914400" lvl="1" indent="-457200">
              <a:buFont typeface="+mj-lt"/>
              <a:buAutoNum type="arabicPeriod"/>
            </a:pPr>
            <a:r>
              <a:rPr lang="en-US" dirty="0"/>
              <a:t>Anything in the “Line of </a:t>
            </a:r>
            <a:r>
              <a:rPr lang="en-US" dirty="0" err="1"/>
              <a:t>Coexistance</a:t>
            </a:r>
            <a:r>
              <a:rPr lang="en-US" dirty="0"/>
              <a:t>” is fair game!</a:t>
            </a:r>
          </a:p>
        </p:txBody>
      </p:sp>
      <p:graphicFrame>
        <p:nvGraphicFramePr>
          <p:cNvPr id="4" name="Table 3">
            <a:extLst>
              <a:ext uri="{FF2B5EF4-FFF2-40B4-BE49-F238E27FC236}">
                <a16:creationId xmlns:a16="http://schemas.microsoft.com/office/drawing/2014/main" id="{36606420-1F11-5DDA-243E-758F8ECEBA7A}"/>
              </a:ext>
            </a:extLst>
          </p:cNvPr>
          <p:cNvGraphicFramePr>
            <a:graphicFrameLocks noGrp="1"/>
          </p:cNvGraphicFramePr>
          <p:nvPr/>
        </p:nvGraphicFramePr>
        <p:xfrm>
          <a:off x="10147476" y="1912398"/>
          <a:ext cx="1829778" cy="3447690"/>
        </p:xfrm>
        <a:graphic>
          <a:graphicData uri="http://schemas.openxmlformats.org/drawingml/2006/table">
            <a:tbl>
              <a:tblPr firstRow="1" firstCol="1" bandRow="1">
                <a:tableStyleId>{5C22544A-7EE6-4342-B048-85BDC9FD1C3A}</a:tableStyleId>
              </a:tblPr>
              <a:tblGrid>
                <a:gridCol w="1829778">
                  <a:extLst>
                    <a:ext uri="{9D8B030D-6E8A-4147-A177-3AD203B41FA5}">
                      <a16:colId xmlns:a16="http://schemas.microsoft.com/office/drawing/2014/main" val="594525464"/>
                    </a:ext>
                  </a:extLst>
                </a:gridCol>
              </a:tblGrid>
              <a:tr h="946605">
                <a:tc>
                  <a:txBody>
                    <a:bodyPr/>
                    <a:lstStyle/>
                    <a:p>
                      <a:r>
                        <a:rPr lang="en-US" sz="2400" dirty="0"/>
                        <a:t>“Latest Core”</a:t>
                      </a:r>
                    </a:p>
                  </a:txBody>
                  <a:tcPr/>
                </a:tc>
                <a:extLst>
                  <a:ext uri="{0D108BD9-81ED-4DB2-BD59-A6C34878D82A}">
                    <a16:rowId xmlns:a16="http://schemas.microsoft.com/office/drawing/2014/main" val="4063703379"/>
                  </a:ext>
                </a:extLst>
              </a:tr>
              <a:tr h="946605">
                <a:tc>
                  <a:txBody>
                    <a:bodyPr/>
                    <a:lstStyle/>
                    <a:p>
                      <a:r>
                        <a:rPr lang="en-US" sz="2400" dirty="0"/>
                        <a:t>“Static” Protocol</a:t>
                      </a:r>
                    </a:p>
                  </a:txBody>
                  <a:tcPr/>
                </a:tc>
                <a:extLst>
                  <a:ext uri="{0D108BD9-81ED-4DB2-BD59-A6C34878D82A}">
                    <a16:rowId xmlns:a16="http://schemas.microsoft.com/office/drawing/2014/main" val="806143572"/>
                  </a:ext>
                </a:extLst>
              </a:tr>
              <a:tr h="1177083">
                <a:tc>
                  <a:txBody>
                    <a:bodyPr/>
                    <a:lstStyle/>
                    <a:p>
                      <a:r>
                        <a:rPr lang="en-US" sz="2400" dirty="0"/>
                        <a:t>“Linear Coexistence”</a:t>
                      </a:r>
                    </a:p>
                    <a:p>
                      <a:r>
                        <a:rPr lang="en-US" sz="2400" dirty="0"/>
                        <a:t>(Consent-Based)</a:t>
                      </a:r>
                    </a:p>
                  </a:txBody>
                  <a:tcPr/>
                </a:tc>
                <a:extLst>
                  <a:ext uri="{0D108BD9-81ED-4DB2-BD59-A6C34878D82A}">
                    <a16:rowId xmlns:a16="http://schemas.microsoft.com/office/drawing/2014/main" val="3575446011"/>
                  </a:ext>
                </a:extLst>
              </a:tr>
            </a:tbl>
          </a:graphicData>
        </a:graphic>
      </p:graphicFrame>
    </p:spTree>
    <p:extLst>
      <p:ext uri="{BB962C8B-B14F-4D97-AF65-F5344CB8AC3E}">
        <p14:creationId xmlns:p14="http://schemas.microsoft.com/office/powerpoint/2010/main" val="33783195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52B77-5DD8-6A1D-2E96-EDD638A16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6E026-2B4F-E202-AC43-FCEDF06C38A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FE36CF96-C13F-9EC0-A95B-FFED91D67A52}"/>
              </a:ext>
            </a:extLst>
          </p:cNvPr>
          <p:cNvGraphicFramePr>
            <a:graphicFrameLocks noGrp="1"/>
          </p:cNvGraphicFramePr>
          <p:nvPr>
            <p:ph idx="1"/>
          </p:nvPr>
        </p:nvGraphicFramePr>
        <p:xfrm>
          <a:off x="1189759" y="966193"/>
          <a:ext cx="9812482" cy="5669297"/>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endParaRPr lang="en-US" sz="2800" b="0" dirty="0"/>
                    </a:p>
                  </a:txBody>
                  <a:tcPr anchor="ctr">
                    <a:noFill/>
                  </a:tcPr>
                </a:tc>
                <a:tc>
                  <a:txBody>
                    <a:bodyPr/>
                    <a:lstStyle/>
                    <a:p>
                      <a:pPr algn="ctr"/>
                      <a:endParaRPr lang="en-US" dirty="0"/>
                    </a:p>
                  </a:txBody>
                  <a:tcPr anchor="ctr">
                    <a:noFill/>
                  </a:tcPr>
                </a:tc>
                <a:tc>
                  <a:txBody>
                    <a:bodyPr/>
                    <a:lstStyle/>
                    <a:p>
                      <a:pPr algn="ctr"/>
                      <a:endParaRPr lang="en-US" sz="2800" dirty="0"/>
                    </a:p>
                  </a:txBody>
                  <a:tcPr anchor="ctr">
                    <a:no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endParaRPr lang="en-US" sz="2800" dirty="0"/>
                    </a:p>
                  </a:txBody>
                  <a:tcPr anchor="ctr">
                    <a:noFill/>
                  </a:tcPr>
                </a:tc>
                <a:tc>
                  <a:txBody>
                    <a:bodyPr/>
                    <a:lstStyle/>
                    <a:p>
                      <a:pPr algn="ctr"/>
                      <a:endParaRPr lang="en-US" sz="2400" dirty="0"/>
                    </a:p>
                  </a:txBody>
                  <a:tcPr anchor="ctr">
                    <a:noFill/>
                  </a:tcPr>
                </a:tc>
                <a:tc>
                  <a:txBody>
                    <a:bodyPr/>
                    <a:lstStyle/>
                    <a:p>
                      <a:pPr algn="ctr"/>
                      <a:endParaRPr lang="en-US" sz="2400" dirty="0"/>
                    </a:p>
                  </a:txBody>
                  <a:tcPr anchor="ctr">
                    <a:no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200" dirty="0"/>
                    </a:p>
                  </a:txBody>
                  <a:tcPr anchor="ctr">
                    <a:noFill/>
                  </a:tcPr>
                </a:tc>
                <a:tc>
                  <a:txBody>
                    <a:bodyPr/>
                    <a:lstStyle/>
                    <a:p>
                      <a:pPr algn="ctr"/>
                      <a:endParaRPr lang="en-US" sz="3200" dirty="0"/>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nchor="ctr">
                    <a:no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14070083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282A-BABA-A6E2-58E4-9795336D1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79A5D-3DFA-0E70-0C87-267D22549DF9}"/>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5A977D82-2698-9CED-F470-C3472979D1D1}"/>
              </a:ext>
            </a:extLst>
          </p:cNvPr>
          <p:cNvGraphicFramePr>
            <a:graphicFrameLocks noGrp="1"/>
          </p:cNvGraphicFramePr>
          <p:nvPr>
            <p:ph idx="1"/>
          </p:nvPr>
        </p:nvGraphicFramePr>
        <p:xfrm>
          <a:off x="1189759" y="966193"/>
          <a:ext cx="9812482" cy="573007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endParaRPr lang="en-US" sz="2800" b="0" dirty="0"/>
                    </a:p>
                  </a:txBody>
                  <a:tcPr anchor="ctr">
                    <a:noFill/>
                  </a:tcPr>
                </a:tc>
                <a:tc>
                  <a:txBody>
                    <a:bodyPr/>
                    <a:lstStyle/>
                    <a:p>
                      <a:pPr algn="ctr"/>
                      <a:r>
                        <a:rPr lang="en-US" dirty="0"/>
                        <a:t>Outsource Your Thinking to Bitcoin.org</a:t>
                      </a:r>
                    </a:p>
                  </a:txBody>
                  <a:tcPr anchor="ctr">
                    <a:solidFill>
                      <a:srgbClr val="FFC000"/>
                    </a:solidFill>
                  </a:tcPr>
                </a:tc>
                <a:tc>
                  <a:txBody>
                    <a:bodyPr/>
                    <a:lstStyle/>
                    <a:p>
                      <a:pPr algn="ctr"/>
                      <a:endParaRPr lang="en-US" sz="2800" dirty="0"/>
                    </a:p>
                  </a:txBody>
                  <a:tcPr anchor="ctr">
                    <a:no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endParaRPr lang="en-US" sz="2800" dirty="0"/>
                    </a:p>
                  </a:txBody>
                  <a:tcPr anchor="ctr">
                    <a:noFill/>
                  </a:tcPr>
                </a:tc>
                <a:tc>
                  <a:txBody>
                    <a:bodyPr/>
                    <a:lstStyle/>
                    <a:p>
                      <a:pPr algn="ctr"/>
                      <a:r>
                        <a:rPr lang="en-US" sz="2400" dirty="0"/>
                        <a:t>Stays the Same</a:t>
                      </a:r>
                    </a:p>
                  </a:txBody>
                  <a:tcPr anchor="ctr">
                    <a:solidFill>
                      <a:srgbClr val="00B0F0"/>
                    </a:solidFill>
                  </a:tcPr>
                </a:tc>
                <a:tc>
                  <a:txBody>
                    <a:bodyPr/>
                    <a:lstStyle/>
                    <a:p>
                      <a:pPr algn="ctr"/>
                      <a:endParaRPr lang="en-US" sz="2400" dirty="0"/>
                    </a:p>
                  </a:txBody>
                  <a:tcPr anchor="ctr">
                    <a:no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200" dirty="0"/>
                    </a:p>
                  </a:txBody>
                  <a:tcPr anchor="ctr">
                    <a:noFill/>
                  </a:tcPr>
                </a:tc>
                <a:tc>
                  <a:txBody>
                    <a:bodyPr/>
                    <a:lstStyle/>
                    <a:p>
                      <a:pPr algn="ctr"/>
                      <a:endParaRPr lang="en-US" sz="3200" dirty="0"/>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nchor="ctr">
                    <a:no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6587455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3475-C1F7-3A95-A679-AD76FD1CF3B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797B9FB1-E3FE-855B-2EAE-ACAEF9742934}"/>
              </a:ext>
            </a:extLst>
          </p:cNvPr>
          <p:cNvGraphicFramePr>
            <a:graphicFrameLocks noGrp="1"/>
          </p:cNvGraphicFramePr>
          <p:nvPr>
            <p:ph idx="1"/>
          </p:nvPr>
        </p:nvGraphicFramePr>
        <p:xfrm>
          <a:off x="1189759" y="966193"/>
          <a:ext cx="9812482" cy="573007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endParaRPr lang="en-US" sz="2800" b="0" dirty="0"/>
                    </a:p>
                  </a:txBody>
                  <a:tcPr anchor="ctr">
                    <a:noFill/>
                  </a:tcPr>
                </a:tc>
                <a:tc>
                  <a:txBody>
                    <a:bodyPr/>
                    <a:lstStyle/>
                    <a:p>
                      <a:pPr algn="ctr"/>
                      <a:r>
                        <a:rPr lang="en-US" dirty="0"/>
                        <a:t>Outsource Your Thinking to Bitcoin.org</a:t>
                      </a:r>
                    </a:p>
                  </a:txBody>
                  <a:tcPr anchor="ctr">
                    <a:solidFill>
                      <a:srgbClr val="FFC000"/>
                    </a:solidFill>
                  </a:tcPr>
                </a:tc>
                <a:tc>
                  <a:txBody>
                    <a:bodyPr/>
                    <a:lstStyle/>
                    <a:p>
                      <a:pPr algn="ctr"/>
                      <a:endParaRPr lang="en-US" sz="2800" dirty="0"/>
                    </a:p>
                  </a:txBody>
                  <a:tcPr anchor="ctr">
                    <a:no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endParaRPr lang="en-US" sz="2800" dirty="0"/>
                    </a:p>
                  </a:txBody>
                  <a:tcPr anchor="ctr">
                    <a:noFill/>
                  </a:tcPr>
                </a:tc>
                <a:tc>
                  <a:txBody>
                    <a:bodyPr/>
                    <a:lstStyle/>
                    <a:p>
                      <a:pPr algn="ctr"/>
                      <a:r>
                        <a:rPr lang="en-US" sz="2400" dirty="0"/>
                        <a:t>Stays the Same</a:t>
                      </a:r>
                    </a:p>
                  </a:txBody>
                  <a:tcPr anchor="ctr">
                    <a:solidFill>
                      <a:srgbClr val="00B0F0"/>
                    </a:solidFill>
                  </a:tcPr>
                </a:tc>
                <a:tc>
                  <a:txBody>
                    <a:bodyPr/>
                    <a:lstStyle/>
                    <a:p>
                      <a:pPr algn="ctr"/>
                      <a:endParaRPr lang="en-US" sz="2400" dirty="0"/>
                    </a:p>
                  </a:txBody>
                  <a:tcPr anchor="ctr">
                    <a:no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200" dirty="0"/>
                    </a:p>
                  </a:txBody>
                  <a:tcPr anchor="ctr">
                    <a:noFill/>
                  </a:tcPr>
                </a:tc>
                <a:tc>
                  <a:txBody>
                    <a:bodyPr/>
                    <a:lstStyle/>
                    <a:p>
                      <a:pPr algn="ctr"/>
                      <a:r>
                        <a:rPr lang="en-US" sz="2800" dirty="0"/>
                        <a:t>Allows Error-Correction</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nchor="ctr">
                    <a:no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17365310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90C42-38C2-11F3-9BA1-76B8F12B836D}"/>
              </a:ext>
            </a:extLst>
          </p:cNvPr>
          <p:cNvSpPr>
            <a:spLocks noGrp="1"/>
          </p:cNvSpPr>
          <p:nvPr>
            <p:ph type="title"/>
          </p:nvPr>
        </p:nvSpPr>
        <p:spPr>
          <a:xfrm>
            <a:off x="417096" y="214479"/>
            <a:ext cx="10515600" cy="1325563"/>
          </a:xfrm>
        </p:spPr>
        <p:txBody>
          <a:bodyPr>
            <a:normAutofit/>
          </a:bodyPr>
          <a:lstStyle/>
          <a:p>
            <a:r>
              <a:rPr lang="en-US" sz="5400" dirty="0"/>
              <a:t>Expertise... is Mandatory!</a:t>
            </a:r>
          </a:p>
        </p:txBody>
      </p:sp>
      <p:sp>
        <p:nvSpPr>
          <p:cNvPr id="3" name="Content Placeholder 2">
            <a:extLst>
              <a:ext uri="{FF2B5EF4-FFF2-40B4-BE49-F238E27FC236}">
                <a16:creationId xmlns:a16="http://schemas.microsoft.com/office/drawing/2014/main" id="{E6E72540-A9A1-0973-7513-80410305008C}"/>
              </a:ext>
            </a:extLst>
          </p:cNvPr>
          <p:cNvSpPr>
            <a:spLocks noGrp="1"/>
          </p:cNvSpPr>
          <p:nvPr>
            <p:ph idx="1"/>
          </p:nvPr>
        </p:nvSpPr>
        <p:spPr>
          <a:xfrm>
            <a:off x="304801" y="1540041"/>
            <a:ext cx="11614484" cy="5103479"/>
          </a:xfrm>
        </p:spPr>
        <p:txBody>
          <a:bodyPr>
            <a:normAutofit fontScale="92500"/>
          </a:bodyPr>
          <a:lstStyle/>
          <a:p>
            <a:r>
              <a:rPr lang="en-US" sz="3600" dirty="0"/>
              <a:t>Luke-Jr Position:</a:t>
            </a:r>
          </a:p>
          <a:p>
            <a:pPr lvl="1"/>
            <a:r>
              <a:rPr lang="en-US" sz="3200" dirty="0"/>
              <a:t>Must run </a:t>
            </a:r>
            <a:r>
              <a:rPr lang="en-US" sz="3200" i="1" u="sng" dirty="0"/>
              <a:t>latest version</a:t>
            </a:r>
            <a:r>
              <a:rPr lang="en-US" sz="3200" dirty="0"/>
              <a:t>. Running old versions of the software is illegitimate!</a:t>
            </a:r>
            <a:endParaRPr lang="en-US" sz="3200" i="1" u="sng" dirty="0"/>
          </a:p>
          <a:p>
            <a:pPr lvl="1"/>
            <a:r>
              <a:rPr lang="en-US" sz="3200" dirty="0"/>
              <a:t>Must </a:t>
            </a:r>
            <a:r>
              <a:rPr lang="en-US" sz="3200" i="1" u="sng" dirty="0"/>
              <a:t>ensure the version on Bitcoin.org is good</a:t>
            </a:r>
            <a:r>
              <a:rPr lang="en-US" sz="3200" dirty="0"/>
              <a:t>, by participating in technical community.</a:t>
            </a:r>
          </a:p>
          <a:p>
            <a:r>
              <a:rPr lang="en-US" sz="3600" dirty="0"/>
              <a:t>Problems</a:t>
            </a:r>
          </a:p>
          <a:p>
            <a:pPr lvl="1"/>
            <a:r>
              <a:rPr lang="en-US" sz="3200" dirty="0"/>
              <a:t>Learning takes effort.</a:t>
            </a:r>
          </a:p>
          <a:p>
            <a:pPr lvl="1"/>
            <a:r>
              <a:rPr lang="en-US" sz="3200" dirty="0"/>
              <a:t>Impossible for everyone to be an expert!</a:t>
            </a:r>
          </a:p>
          <a:p>
            <a:pPr lvl="1"/>
            <a:r>
              <a:rPr lang="en-US" sz="3200" dirty="0"/>
              <a:t>Laypeople are important! But this view says: no laypeople allowed!</a:t>
            </a:r>
          </a:p>
          <a:p>
            <a:pPr lvl="1"/>
            <a:r>
              <a:rPr lang="en-US" sz="3200" dirty="0"/>
              <a:t>No </a:t>
            </a:r>
            <a:r>
              <a:rPr lang="en-US" sz="3200" i="1" u="sng" dirty="0"/>
              <a:t>accumulation</a:t>
            </a:r>
            <a:r>
              <a:rPr lang="en-US" sz="3200" dirty="0"/>
              <a:t> of recognizability. Instead, continual effort needed.</a:t>
            </a:r>
          </a:p>
        </p:txBody>
      </p:sp>
    </p:spTree>
    <p:extLst>
      <p:ext uri="{BB962C8B-B14F-4D97-AF65-F5344CB8AC3E}">
        <p14:creationId xmlns:p14="http://schemas.microsoft.com/office/powerpoint/2010/main" val="39465345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3475-C1F7-3A95-A679-AD76FD1CF3B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797B9FB1-E3FE-855B-2EAE-ACAEF9742934}"/>
              </a:ext>
            </a:extLst>
          </p:cNvPr>
          <p:cNvGraphicFramePr>
            <a:graphicFrameLocks noGrp="1"/>
          </p:cNvGraphicFramePr>
          <p:nvPr>
            <p:ph idx="1"/>
          </p:nvPr>
        </p:nvGraphicFramePr>
        <p:xfrm>
          <a:off x="1189759" y="966193"/>
          <a:ext cx="9812482" cy="576055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r>
                        <a:rPr lang="en-US" sz="2800" b="0" dirty="0"/>
                        <a:t>No Laypeople Allowed</a:t>
                      </a:r>
                    </a:p>
                  </a:txBody>
                  <a:tcPr anchor="ctr">
                    <a:solidFill>
                      <a:srgbClr val="FF0000"/>
                    </a:solidFill>
                  </a:tcPr>
                </a:tc>
                <a:tc>
                  <a:txBody>
                    <a:bodyPr/>
                    <a:lstStyle/>
                    <a:p>
                      <a:pPr algn="ctr"/>
                      <a:r>
                        <a:rPr lang="en-US" dirty="0"/>
                        <a:t>Outsource Your Thinking to Bitcoin.org</a:t>
                      </a:r>
                    </a:p>
                  </a:txBody>
                  <a:tcPr anchor="ctr">
                    <a:solidFill>
                      <a:srgbClr val="FFC000"/>
                    </a:solidFill>
                  </a:tcPr>
                </a:tc>
                <a:tc>
                  <a:txBody>
                    <a:bodyPr/>
                    <a:lstStyle/>
                    <a:p>
                      <a:pPr algn="ctr"/>
                      <a:endParaRPr lang="en-US" sz="2800" dirty="0"/>
                    </a:p>
                  </a:txBody>
                  <a:tcPr anchor="ctr">
                    <a:no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r>
                        <a:rPr lang="en-US" sz="2800" dirty="0"/>
                        <a:t>Accumulates Trust</a:t>
                      </a:r>
                    </a:p>
                  </a:txBody>
                  <a:tcPr anchor="ctr">
                    <a:solidFill>
                      <a:srgbClr val="92D050"/>
                    </a:solidFill>
                  </a:tcPr>
                </a:tc>
                <a:tc>
                  <a:txBody>
                    <a:bodyPr/>
                    <a:lstStyle/>
                    <a:p>
                      <a:pPr algn="ctr"/>
                      <a:r>
                        <a:rPr lang="en-US" sz="2400" dirty="0"/>
                        <a:t>Stays the Same</a:t>
                      </a:r>
                    </a:p>
                  </a:txBody>
                  <a:tcPr anchor="ctr">
                    <a:solidFill>
                      <a:srgbClr val="00B0F0"/>
                    </a:solidFill>
                  </a:tcPr>
                </a:tc>
                <a:tc>
                  <a:txBody>
                    <a:bodyPr/>
                    <a:lstStyle/>
                    <a:p>
                      <a:pPr algn="ctr"/>
                      <a:endParaRPr lang="en-US" sz="2400" dirty="0"/>
                    </a:p>
                  </a:txBody>
                  <a:tcPr anchor="ctr">
                    <a:no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Requires dispute-resolution</a:t>
                      </a:r>
                    </a:p>
                  </a:txBody>
                  <a:tcPr anchor="ctr">
                    <a:solidFill>
                      <a:srgbClr val="FFC000"/>
                    </a:solidFill>
                  </a:tcPr>
                </a:tc>
                <a:tc>
                  <a:txBody>
                    <a:bodyPr/>
                    <a:lstStyle/>
                    <a:p>
                      <a:pPr algn="ctr"/>
                      <a:r>
                        <a:rPr lang="en-US" sz="2800" dirty="0"/>
                        <a:t>Allows Error-Correction</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nchor="ctr">
                    <a:no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6357404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085FEAF0-7504-4D76-9B31-9644E069EDC9}"/>
              </a:ext>
            </a:extLst>
          </p:cNvPr>
          <p:cNvCxnSpPr/>
          <p:nvPr/>
        </p:nvCxnSpPr>
        <p:spPr>
          <a:xfrm>
            <a:off x="8307043" y="4116328"/>
            <a:ext cx="27432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D4BFE25-53CA-4AAB-AFBC-106552D0297F}"/>
              </a:ext>
            </a:extLst>
          </p:cNvPr>
          <p:cNvCxnSpPr/>
          <p:nvPr/>
        </p:nvCxnSpPr>
        <p:spPr>
          <a:xfrm>
            <a:off x="8287993" y="2955543"/>
            <a:ext cx="27432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2B6AD74-2E58-4B58-9C40-D37860592105}"/>
              </a:ext>
            </a:extLst>
          </p:cNvPr>
          <p:cNvCxnSpPr/>
          <p:nvPr/>
        </p:nvCxnSpPr>
        <p:spPr>
          <a:xfrm>
            <a:off x="425358" y="3630229"/>
            <a:ext cx="27432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F18696F-9A4D-4C4D-B7CE-021A9644AD0C}"/>
              </a:ext>
            </a:extLst>
          </p:cNvPr>
          <p:cNvSpPr>
            <a:spLocks noGrp="1"/>
          </p:cNvSpPr>
          <p:nvPr>
            <p:ph type="title"/>
          </p:nvPr>
        </p:nvSpPr>
        <p:spPr>
          <a:xfrm>
            <a:off x="494655" y="522101"/>
            <a:ext cx="10515600" cy="911225"/>
          </a:xfrm>
        </p:spPr>
        <p:txBody>
          <a:bodyPr/>
          <a:lstStyle/>
          <a:p>
            <a:r>
              <a:rPr lang="en-US" dirty="0"/>
              <a:t>Two Incompatible SFs at once = HF </a:t>
            </a:r>
          </a:p>
        </p:txBody>
      </p:sp>
      <p:sp>
        <p:nvSpPr>
          <p:cNvPr id="3" name="Content Placeholder 2">
            <a:extLst>
              <a:ext uri="{FF2B5EF4-FFF2-40B4-BE49-F238E27FC236}">
                <a16:creationId xmlns:a16="http://schemas.microsoft.com/office/drawing/2014/main" id="{9397B0E0-E6F4-4AB0-A068-7AAFD5CF1E04}"/>
              </a:ext>
            </a:extLst>
          </p:cNvPr>
          <p:cNvSpPr>
            <a:spLocks noGrp="1"/>
          </p:cNvSpPr>
          <p:nvPr>
            <p:ph idx="1"/>
          </p:nvPr>
        </p:nvSpPr>
        <p:spPr>
          <a:xfrm>
            <a:off x="1485900" y="5903118"/>
            <a:ext cx="10515600" cy="1909763"/>
          </a:xfrm>
        </p:spPr>
        <p:txBody>
          <a:bodyPr>
            <a:normAutofit fontScale="85000" lnSpcReduction="20000"/>
          </a:bodyPr>
          <a:lstStyle/>
          <a:p>
            <a:endParaRPr lang="en-US" dirty="0"/>
          </a:p>
          <a:p>
            <a:endParaRPr lang="en-US" dirty="0"/>
          </a:p>
          <a:p>
            <a:endParaRPr lang="en-US" dirty="0"/>
          </a:p>
          <a:p>
            <a:r>
              <a:rPr lang="en-US" dirty="0"/>
              <a:t>Begins with a formally-defined “ignorable state”,</a:t>
            </a:r>
          </a:p>
          <a:p>
            <a:r>
              <a:rPr lang="en-US" dirty="0"/>
              <a:t>And ends with a formally defined “new state” that achieves consensus socially.</a:t>
            </a:r>
          </a:p>
        </p:txBody>
      </p:sp>
      <p:sp>
        <p:nvSpPr>
          <p:cNvPr id="4" name="Slide Number Placeholder 3">
            <a:extLst>
              <a:ext uri="{FF2B5EF4-FFF2-40B4-BE49-F238E27FC236}">
                <a16:creationId xmlns:a16="http://schemas.microsoft.com/office/drawing/2014/main" id="{A21E9FAE-E103-41F9-A634-381F8A0A3C58}"/>
              </a:ext>
            </a:extLst>
          </p:cNvPr>
          <p:cNvSpPr>
            <a:spLocks noGrp="1"/>
          </p:cNvSpPr>
          <p:nvPr>
            <p:ph type="sldNum" sz="quarter" idx="12"/>
          </p:nvPr>
        </p:nvSpPr>
        <p:spPr/>
        <p:txBody>
          <a:bodyPr/>
          <a:lstStyle/>
          <a:p>
            <a:fld id="{5A3F91CF-E843-42AF-B09F-C8590E22047B}" type="slidenum">
              <a:rPr lang="en-US" smtClean="0"/>
              <a:pPr/>
              <a:t>69</a:t>
            </a:fld>
            <a:endParaRPr lang="en-US" dirty="0"/>
          </a:p>
        </p:txBody>
      </p:sp>
      <p:sp>
        <p:nvSpPr>
          <p:cNvPr id="5" name="Arrow: Right 4">
            <a:extLst>
              <a:ext uri="{FF2B5EF4-FFF2-40B4-BE49-F238E27FC236}">
                <a16:creationId xmlns:a16="http://schemas.microsoft.com/office/drawing/2014/main" id="{33ABB3BB-F9D7-4F90-80D1-BADCD0C8F65B}"/>
              </a:ext>
            </a:extLst>
          </p:cNvPr>
          <p:cNvSpPr/>
          <p:nvPr/>
        </p:nvSpPr>
        <p:spPr>
          <a:xfrm rot="21205531">
            <a:off x="3272007" y="3024194"/>
            <a:ext cx="4229100" cy="609600"/>
          </a:xfrm>
          <a:prstGeom prs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E718EB23-E5B4-4B94-A1C4-420D15B96D90}"/>
              </a:ext>
            </a:extLst>
          </p:cNvPr>
          <p:cNvSpPr/>
          <p:nvPr/>
        </p:nvSpPr>
        <p:spPr>
          <a:xfrm rot="256757">
            <a:off x="3276151" y="3768015"/>
            <a:ext cx="42291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302EAC9-FA8A-437B-92A6-C8AE3FBCCFB2}"/>
              </a:ext>
            </a:extLst>
          </p:cNvPr>
          <p:cNvSpPr/>
          <p:nvPr/>
        </p:nvSpPr>
        <p:spPr>
          <a:xfrm>
            <a:off x="2180862" y="3116977"/>
            <a:ext cx="1025433" cy="10898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0089B9C-B414-4ECC-B178-55C92F518066}"/>
              </a:ext>
            </a:extLst>
          </p:cNvPr>
          <p:cNvSpPr/>
          <p:nvPr/>
        </p:nvSpPr>
        <p:spPr>
          <a:xfrm>
            <a:off x="2180861" y="3438640"/>
            <a:ext cx="1025433" cy="4927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NOP 8</a:t>
            </a:r>
          </a:p>
        </p:txBody>
      </p:sp>
      <p:sp>
        <p:nvSpPr>
          <p:cNvPr id="8" name="Arrow: Right 7">
            <a:extLst>
              <a:ext uri="{FF2B5EF4-FFF2-40B4-BE49-F238E27FC236}">
                <a16:creationId xmlns:a16="http://schemas.microsoft.com/office/drawing/2014/main" id="{8A4E8095-BA87-4835-92B7-18B44E2CFF3A}"/>
              </a:ext>
            </a:extLst>
          </p:cNvPr>
          <p:cNvSpPr/>
          <p:nvPr/>
        </p:nvSpPr>
        <p:spPr>
          <a:xfrm>
            <a:off x="1796958" y="4786936"/>
            <a:ext cx="9867900" cy="337326"/>
          </a:xfrm>
          <a:prstGeom prst="rightArrow">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4B38360-BB35-4B4E-B0BF-83BACC127B37}"/>
              </a:ext>
            </a:extLst>
          </p:cNvPr>
          <p:cNvSpPr/>
          <p:nvPr/>
        </p:nvSpPr>
        <p:spPr>
          <a:xfrm>
            <a:off x="838200" y="3133194"/>
            <a:ext cx="1025433" cy="10898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D7C46D-19C5-4D0D-AC19-B9F9D7052D16}"/>
              </a:ext>
            </a:extLst>
          </p:cNvPr>
          <p:cNvSpPr/>
          <p:nvPr/>
        </p:nvSpPr>
        <p:spPr>
          <a:xfrm>
            <a:off x="7804214" y="2524732"/>
            <a:ext cx="1025433" cy="911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FF1FA7-BEFB-4DC4-88B7-DC6AD6B457A4}"/>
              </a:ext>
            </a:extLst>
          </p:cNvPr>
          <p:cNvSpPr/>
          <p:nvPr/>
        </p:nvSpPr>
        <p:spPr>
          <a:xfrm>
            <a:off x="9146876" y="2505957"/>
            <a:ext cx="1025433" cy="911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99D9ED-052A-4A81-B7A9-37285E1421A2}"/>
              </a:ext>
            </a:extLst>
          </p:cNvPr>
          <p:cNvSpPr/>
          <p:nvPr/>
        </p:nvSpPr>
        <p:spPr>
          <a:xfrm>
            <a:off x="7804214" y="3630229"/>
            <a:ext cx="1025433" cy="911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40A7CBF-7A6F-4591-B4F6-2E7CBDC09C7A}"/>
              </a:ext>
            </a:extLst>
          </p:cNvPr>
          <p:cNvSpPr/>
          <p:nvPr/>
        </p:nvSpPr>
        <p:spPr>
          <a:xfrm>
            <a:off x="9146876" y="3614012"/>
            <a:ext cx="1025433" cy="911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0A47E5-0C1F-4CA6-8DF9-A517A8AAC786}"/>
              </a:ext>
            </a:extLst>
          </p:cNvPr>
          <p:cNvSpPr/>
          <p:nvPr/>
        </p:nvSpPr>
        <p:spPr>
          <a:xfrm>
            <a:off x="4227052" y="2771951"/>
            <a:ext cx="1565702" cy="492710"/>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dirty="0"/>
              <a:t>NOP 8 = Q</a:t>
            </a:r>
          </a:p>
        </p:txBody>
      </p:sp>
      <p:sp>
        <p:nvSpPr>
          <p:cNvPr id="20" name="Rectangle 19">
            <a:extLst>
              <a:ext uri="{FF2B5EF4-FFF2-40B4-BE49-F238E27FC236}">
                <a16:creationId xmlns:a16="http://schemas.microsoft.com/office/drawing/2014/main" id="{79EE0E5C-4699-4EC9-8F9F-097BB3DDE375}"/>
              </a:ext>
            </a:extLst>
          </p:cNvPr>
          <p:cNvSpPr/>
          <p:nvPr/>
        </p:nvSpPr>
        <p:spPr>
          <a:xfrm>
            <a:off x="4022206" y="3776738"/>
            <a:ext cx="2512059" cy="49271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NOP 8 = T  (!= Q)</a:t>
            </a:r>
          </a:p>
        </p:txBody>
      </p:sp>
    </p:spTree>
    <p:extLst>
      <p:ext uri="{BB962C8B-B14F-4D97-AF65-F5344CB8AC3E}">
        <p14:creationId xmlns:p14="http://schemas.microsoft.com/office/powerpoint/2010/main" val="19674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BD14-76B1-4A5B-8C42-D6E6487FE9F1}"/>
              </a:ext>
            </a:extLst>
          </p:cNvPr>
          <p:cNvSpPr>
            <a:spLocks noGrp="1"/>
          </p:cNvSpPr>
          <p:nvPr>
            <p:ph type="title"/>
          </p:nvPr>
        </p:nvSpPr>
        <p:spPr/>
        <p:txBody>
          <a:bodyPr/>
          <a:lstStyle/>
          <a:p>
            <a:r>
              <a:rPr lang="en-US" dirty="0"/>
              <a:t>Upgrading via Soft Fork</a:t>
            </a:r>
          </a:p>
        </p:txBody>
      </p:sp>
      <p:sp>
        <p:nvSpPr>
          <p:cNvPr id="3" name="Content Placeholder 2">
            <a:extLst>
              <a:ext uri="{FF2B5EF4-FFF2-40B4-BE49-F238E27FC236}">
                <a16:creationId xmlns:a16="http://schemas.microsoft.com/office/drawing/2014/main" id="{1153CBD2-8F93-4B5F-A9CC-C2BFF1D9BF91}"/>
              </a:ext>
            </a:extLst>
          </p:cNvPr>
          <p:cNvSpPr>
            <a:spLocks noGrp="1"/>
          </p:cNvSpPr>
          <p:nvPr>
            <p:ph idx="1"/>
          </p:nvPr>
        </p:nvSpPr>
        <p:spPr/>
        <p:txBody>
          <a:bodyPr/>
          <a:lstStyle/>
          <a:p>
            <a:r>
              <a:rPr lang="en-US"/>
              <a:t>“line” of protocols that are all compatible with each other</a:t>
            </a:r>
            <a:endParaRPr lang="en-US" dirty="0"/>
          </a:p>
        </p:txBody>
      </p:sp>
      <p:sp>
        <p:nvSpPr>
          <p:cNvPr id="4" name="Slide Number Placeholder 3">
            <a:extLst>
              <a:ext uri="{FF2B5EF4-FFF2-40B4-BE49-F238E27FC236}">
                <a16:creationId xmlns:a16="http://schemas.microsoft.com/office/drawing/2014/main" id="{9A21180A-C0E8-4A2E-B433-9FEA37D88837}"/>
              </a:ext>
            </a:extLst>
          </p:cNvPr>
          <p:cNvSpPr>
            <a:spLocks noGrp="1"/>
          </p:cNvSpPr>
          <p:nvPr>
            <p:ph type="sldNum" sz="quarter" idx="12"/>
          </p:nvPr>
        </p:nvSpPr>
        <p:spPr/>
        <p:txBody>
          <a:bodyPr/>
          <a:lstStyle/>
          <a:p>
            <a:fld id="{5A3F91CF-E843-42AF-B09F-C8590E22047B}" type="slidenum">
              <a:rPr lang="en-US" smtClean="0"/>
              <a:t>70</a:t>
            </a:fld>
            <a:endParaRPr lang="en-US"/>
          </a:p>
        </p:txBody>
      </p:sp>
      <p:cxnSp>
        <p:nvCxnSpPr>
          <p:cNvPr id="6" name="Straight Arrow Connector 5">
            <a:extLst>
              <a:ext uri="{FF2B5EF4-FFF2-40B4-BE49-F238E27FC236}">
                <a16:creationId xmlns:a16="http://schemas.microsoft.com/office/drawing/2014/main" id="{F1649161-7C65-4577-962A-7B265D7115D2}"/>
              </a:ext>
            </a:extLst>
          </p:cNvPr>
          <p:cNvCxnSpPr>
            <a:cxnSpLocks/>
          </p:cNvCxnSpPr>
          <p:nvPr/>
        </p:nvCxnSpPr>
        <p:spPr>
          <a:xfrm>
            <a:off x="1876425" y="2701236"/>
            <a:ext cx="9477375" cy="2409031"/>
          </a:xfrm>
          <a:prstGeom prst="straightConnector1">
            <a:avLst/>
          </a:prstGeom>
          <a:ln w="762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222D5895-B360-4F8E-ADB5-E69451D2FE13}"/>
              </a:ext>
            </a:extLst>
          </p:cNvPr>
          <p:cNvSpPr txBox="1">
            <a:spLocks/>
          </p:cNvSpPr>
          <p:nvPr/>
        </p:nvSpPr>
        <p:spPr>
          <a:xfrm>
            <a:off x="2000251" y="3391453"/>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0.5.0</a:t>
            </a:r>
          </a:p>
        </p:txBody>
      </p:sp>
      <p:sp>
        <p:nvSpPr>
          <p:cNvPr id="10" name="Content Placeholder 2">
            <a:extLst>
              <a:ext uri="{FF2B5EF4-FFF2-40B4-BE49-F238E27FC236}">
                <a16:creationId xmlns:a16="http://schemas.microsoft.com/office/drawing/2014/main" id="{78CE1269-8932-498A-9A33-61BA17B876C0}"/>
              </a:ext>
            </a:extLst>
          </p:cNvPr>
          <p:cNvSpPr txBox="1">
            <a:spLocks/>
          </p:cNvSpPr>
          <p:nvPr/>
        </p:nvSpPr>
        <p:spPr>
          <a:xfrm>
            <a:off x="4243386" y="4100168"/>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0.6.0</a:t>
            </a:r>
          </a:p>
        </p:txBody>
      </p:sp>
      <p:sp>
        <p:nvSpPr>
          <p:cNvPr id="11" name="Content Placeholder 2">
            <a:extLst>
              <a:ext uri="{FF2B5EF4-FFF2-40B4-BE49-F238E27FC236}">
                <a16:creationId xmlns:a16="http://schemas.microsoft.com/office/drawing/2014/main" id="{4F59D6C3-F7CC-4E28-8967-23EF50C9CBA6}"/>
              </a:ext>
            </a:extLst>
          </p:cNvPr>
          <p:cNvSpPr txBox="1">
            <a:spLocks/>
          </p:cNvSpPr>
          <p:nvPr/>
        </p:nvSpPr>
        <p:spPr>
          <a:xfrm>
            <a:off x="6886574" y="4771335"/>
            <a:ext cx="2643188" cy="54181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Bitcoin 0.7.0</a:t>
            </a:r>
          </a:p>
        </p:txBody>
      </p:sp>
      <p:sp>
        <p:nvSpPr>
          <p:cNvPr id="12" name="Content Placeholder 2">
            <a:extLst>
              <a:ext uri="{FF2B5EF4-FFF2-40B4-BE49-F238E27FC236}">
                <a16:creationId xmlns:a16="http://schemas.microsoft.com/office/drawing/2014/main" id="{FB78C86C-6090-4078-ADC2-8E1489DE58E2}"/>
              </a:ext>
            </a:extLst>
          </p:cNvPr>
          <p:cNvSpPr txBox="1">
            <a:spLocks/>
          </p:cNvSpPr>
          <p:nvPr/>
        </p:nvSpPr>
        <p:spPr>
          <a:xfrm>
            <a:off x="7410452" y="3429000"/>
            <a:ext cx="2643188" cy="5418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7030A0"/>
                </a:solidFill>
              </a:rPr>
              <a:t>Compatibility</a:t>
            </a:r>
          </a:p>
        </p:txBody>
      </p:sp>
      <p:sp>
        <p:nvSpPr>
          <p:cNvPr id="5" name="Content Placeholder 2">
            <a:extLst>
              <a:ext uri="{FF2B5EF4-FFF2-40B4-BE49-F238E27FC236}">
                <a16:creationId xmlns:a16="http://schemas.microsoft.com/office/drawing/2014/main" id="{EBD3B2F7-A9FB-99ED-8FBE-CC92E9B1E4C7}"/>
              </a:ext>
            </a:extLst>
          </p:cNvPr>
          <p:cNvSpPr txBox="1">
            <a:spLocks/>
          </p:cNvSpPr>
          <p:nvPr/>
        </p:nvSpPr>
        <p:spPr>
          <a:xfrm>
            <a:off x="1255293" y="5700890"/>
            <a:ext cx="2743199" cy="476073"/>
          </a:xfrm>
          <a:prstGeom prst="rect">
            <a:avLst/>
          </a:prstGeom>
          <a:solidFill>
            <a:srgbClr val="FFFF00"/>
          </a:solidFill>
          <a:ln>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Must be in order!</a:t>
            </a:r>
          </a:p>
        </p:txBody>
      </p:sp>
    </p:spTree>
    <p:extLst>
      <p:ext uri="{BB962C8B-B14F-4D97-AF65-F5344CB8AC3E}">
        <p14:creationId xmlns:p14="http://schemas.microsoft.com/office/powerpoint/2010/main" val="26049222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B7DB-2B8D-35E8-FD89-E0D1385AC562}"/>
              </a:ext>
            </a:extLst>
          </p:cNvPr>
          <p:cNvSpPr>
            <a:spLocks noGrp="1"/>
          </p:cNvSpPr>
          <p:nvPr>
            <p:ph type="title"/>
          </p:nvPr>
        </p:nvSpPr>
        <p:spPr>
          <a:xfrm>
            <a:off x="356936" y="335069"/>
            <a:ext cx="6958263" cy="948299"/>
          </a:xfrm>
        </p:spPr>
        <p:txBody>
          <a:bodyPr>
            <a:normAutofit fontScale="90000"/>
          </a:bodyPr>
          <a:lstStyle/>
          <a:p>
            <a:r>
              <a:rPr lang="en-US" sz="5400" b="1" dirty="0" err="1"/>
              <a:t>Bitcoiners</a:t>
            </a:r>
            <a:r>
              <a:rPr lang="en-US" sz="5400" b="1" dirty="0"/>
              <a:t> Often Disagree</a:t>
            </a:r>
          </a:p>
        </p:txBody>
      </p:sp>
      <p:sp>
        <p:nvSpPr>
          <p:cNvPr id="5" name="Content Placeholder 4">
            <a:extLst>
              <a:ext uri="{FF2B5EF4-FFF2-40B4-BE49-F238E27FC236}">
                <a16:creationId xmlns:a16="http://schemas.microsoft.com/office/drawing/2014/main" id="{05CA2847-5833-D3CB-575F-2BA91BE335D1}"/>
              </a:ext>
            </a:extLst>
          </p:cNvPr>
          <p:cNvSpPr>
            <a:spLocks noGrp="1"/>
          </p:cNvSpPr>
          <p:nvPr>
            <p:ph idx="1"/>
          </p:nvPr>
        </p:nvSpPr>
        <p:spPr>
          <a:xfrm>
            <a:off x="838199" y="1825624"/>
            <a:ext cx="3990475" cy="4965701"/>
          </a:xfrm>
        </p:spPr>
        <p:txBody>
          <a:bodyPr>
            <a:normAutofit fontScale="92500" lnSpcReduction="10000"/>
          </a:bodyPr>
          <a:lstStyle/>
          <a:p>
            <a:r>
              <a:rPr lang="en-US" sz="3600" dirty="0"/>
              <a:t>Carnivores vs Vegans</a:t>
            </a:r>
          </a:p>
          <a:p>
            <a:r>
              <a:rPr lang="en-US" sz="3600" dirty="0"/>
              <a:t>But also...</a:t>
            </a:r>
          </a:p>
          <a:p>
            <a:pPr lvl="1"/>
            <a:r>
              <a:rPr lang="en-US" sz="3200" dirty="0"/>
              <a:t>Bip9 vs Bip8</a:t>
            </a:r>
          </a:p>
          <a:p>
            <a:pPr lvl="1"/>
            <a:r>
              <a:rPr lang="en-US" sz="3200" dirty="0"/>
              <a:t>Lot=true vs false</a:t>
            </a:r>
          </a:p>
          <a:p>
            <a:pPr lvl="1"/>
            <a:r>
              <a:rPr lang="en-US" sz="3200" dirty="0"/>
              <a:t>Ordinals</a:t>
            </a:r>
          </a:p>
          <a:p>
            <a:pPr lvl="1"/>
            <a:r>
              <a:rPr lang="en-US" sz="3200" dirty="0"/>
              <a:t>US Regulation</a:t>
            </a:r>
          </a:p>
          <a:p>
            <a:pPr lvl="1"/>
            <a:r>
              <a:rPr lang="en-US" sz="3200" dirty="0"/>
              <a:t>Op Cat</a:t>
            </a:r>
          </a:p>
          <a:p>
            <a:pPr lvl="1"/>
            <a:endParaRPr lang="en-US" sz="3200" dirty="0"/>
          </a:p>
          <a:p>
            <a:pPr marL="0" indent="0" algn="r">
              <a:buNone/>
            </a:pPr>
            <a:r>
              <a:rPr lang="en-US" sz="3600" dirty="0"/>
              <a:t>...just about everything!</a:t>
            </a:r>
          </a:p>
        </p:txBody>
      </p:sp>
      <p:pic>
        <p:nvPicPr>
          <p:cNvPr id="7" name="Picture 6">
            <a:extLst>
              <a:ext uri="{FF2B5EF4-FFF2-40B4-BE49-F238E27FC236}">
                <a16:creationId xmlns:a16="http://schemas.microsoft.com/office/drawing/2014/main" id="{4261F9E1-2832-D906-AD1D-26C895B4B4E2}"/>
              </a:ext>
            </a:extLst>
          </p:cNvPr>
          <p:cNvPicPr>
            <a:picLocks noChangeAspect="1"/>
          </p:cNvPicPr>
          <p:nvPr/>
        </p:nvPicPr>
        <p:blipFill>
          <a:blip r:embed="rId2"/>
          <a:stretch>
            <a:fillRect/>
          </a:stretch>
        </p:blipFill>
        <p:spPr>
          <a:xfrm>
            <a:off x="5216943" y="1479656"/>
            <a:ext cx="5800725" cy="50432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197223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3475-C1F7-3A95-A679-AD76FD1CF3B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797B9FB1-E3FE-855B-2EAE-ACAEF9742934}"/>
              </a:ext>
            </a:extLst>
          </p:cNvPr>
          <p:cNvGraphicFramePr>
            <a:graphicFrameLocks noGrp="1"/>
          </p:cNvGraphicFramePr>
          <p:nvPr>
            <p:ph idx="1"/>
          </p:nvPr>
        </p:nvGraphicFramePr>
        <p:xfrm>
          <a:off x="1189759" y="966193"/>
          <a:ext cx="9812482" cy="576055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r>
                        <a:rPr lang="en-US" sz="2800" b="0" dirty="0"/>
                        <a:t>No Laypeople Allowed</a:t>
                      </a:r>
                    </a:p>
                  </a:txBody>
                  <a:tcPr anchor="ctr">
                    <a:solidFill>
                      <a:srgbClr val="FF0000"/>
                    </a:solidFill>
                  </a:tcPr>
                </a:tc>
                <a:tc>
                  <a:txBody>
                    <a:bodyPr/>
                    <a:lstStyle/>
                    <a:p>
                      <a:pPr algn="ctr"/>
                      <a:r>
                        <a:rPr lang="en-US" dirty="0"/>
                        <a:t>Outsource Your Thinking to Bitcoin.org</a:t>
                      </a:r>
                    </a:p>
                  </a:txBody>
                  <a:tcPr anchor="ctr">
                    <a:solidFill>
                      <a:srgbClr val="FFC000"/>
                    </a:solidFill>
                  </a:tcPr>
                </a:tc>
                <a:tc>
                  <a:txBody>
                    <a:bodyPr/>
                    <a:lstStyle/>
                    <a:p>
                      <a:pPr algn="ctr"/>
                      <a:endParaRPr lang="en-US" sz="2800" dirty="0"/>
                    </a:p>
                  </a:txBody>
                  <a:tcPr anchor="ctr">
                    <a:no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r>
                        <a:rPr lang="en-US" sz="2800" dirty="0"/>
                        <a:t>Accumulates Trust</a:t>
                      </a:r>
                    </a:p>
                  </a:txBody>
                  <a:tcPr anchor="ctr">
                    <a:solidFill>
                      <a:srgbClr val="92D050"/>
                    </a:solidFill>
                  </a:tcPr>
                </a:tc>
                <a:tc>
                  <a:txBody>
                    <a:bodyPr/>
                    <a:lstStyle/>
                    <a:p>
                      <a:pPr algn="ctr"/>
                      <a:r>
                        <a:rPr lang="en-US" sz="2400" dirty="0"/>
                        <a:t>Stays the Same</a:t>
                      </a:r>
                    </a:p>
                  </a:txBody>
                  <a:tcPr anchor="ctr">
                    <a:solidFill>
                      <a:srgbClr val="00B0F0"/>
                    </a:solidFill>
                  </a:tcPr>
                </a:tc>
                <a:tc>
                  <a:txBody>
                    <a:bodyPr/>
                    <a:lstStyle/>
                    <a:p>
                      <a:pPr algn="ctr"/>
                      <a:endParaRPr lang="en-US" sz="2400" dirty="0"/>
                    </a:p>
                  </a:txBody>
                  <a:tcPr anchor="ctr">
                    <a:no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Requires dispute-resolution</a:t>
                      </a:r>
                    </a:p>
                  </a:txBody>
                  <a:tcPr anchor="ctr">
                    <a:solidFill>
                      <a:srgbClr val="FFC000"/>
                    </a:solidFill>
                  </a:tcPr>
                </a:tc>
                <a:tc>
                  <a:txBody>
                    <a:bodyPr/>
                    <a:lstStyle/>
                    <a:p>
                      <a:pPr algn="ctr"/>
                      <a:r>
                        <a:rPr lang="en-US" sz="2800" dirty="0"/>
                        <a:t>Allows Error-Correction</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p>
                  </a:txBody>
                  <a:tcPr anchor="ctr">
                    <a:no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
        <p:nvSpPr>
          <p:cNvPr id="3" name="Rectangle: Rounded Corners 2">
            <a:extLst>
              <a:ext uri="{FF2B5EF4-FFF2-40B4-BE49-F238E27FC236}">
                <a16:creationId xmlns:a16="http://schemas.microsoft.com/office/drawing/2014/main" id="{4935D609-8AF8-5C35-9CC0-1C8370349531}"/>
              </a:ext>
            </a:extLst>
          </p:cNvPr>
          <p:cNvSpPr/>
          <p:nvPr/>
        </p:nvSpPr>
        <p:spPr>
          <a:xfrm>
            <a:off x="8277726" y="457200"/>
            <a:ext cx="3160295" cy="2502569"/>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19736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3475-C1F7-3A95-A679-AD76FD1CF3B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797B9FB1-E3FE-855B-2EAE-ACAEF9742934}"/>
              </a:ext>
            </a:extLst>
          </p:cNvPr>
          <p:cNvGraphicFramePr>
            <a:graphicFrameLocks noGrp="1"/>
          </p:cNvGraphicFramePr>
          <p:nvPr>
            <p:ph idx="1"/>
          </p:nvPr>
        </p:nvGraphicFramePr>
        <p:xfrm>
          <a:off x="1189759" y="966193"/>
          <a:ext cx="9812482" cy="576055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r>
                        <a:rPr lang="en-US" sz="2800" b="0" dirty="0"/>
                        <a:t>No Laypeople Allowed</a:t>
                      </a:r>
                    </a:p>
                  </a:txBody>
                  <a:tcPr anchor="ctr">
                    <a:solidFill>
                      <a:srgbClr val="FF0000"/>
                    </a:solidFill>
                  </a:tcPr>
                </a:tc>
                <a:tc>
                  <a:txBody>
                    <a:bodyPr/>
                    <a:lstStyle/>
                    <a:p>
                      <a:pPr algn="ctr"/>
                      <a:r>
                        <a:rPr lang="en-US" dirty="0"/>
                        <a:t>Outsource Your Thinking to Bitcoin.org</a:t>
                      </a:r>
                    </a:p>
                  </a:txBody>
                  <a:tcPr anchor="ctr">
                    <a:solidFill>
                      <a:srgbClr val="FFC000"/>
                    </a:solidFill>
                  </a:tcPr>
                </a:tc>
                <a:tc>
                  <a:txBody>
                    <a:bodyPr/>
                    <a:lstStyle/>
                    <a:p>
                      <a:pPr algn="ctr"/>
                      <a:r>
                        <a:rPr lang="en-US" sz="2800" dirty="0"/>
                        <a:t>Allows Innovation</a:t>
                      </a:r>
                    </a:p>
                  </a:txBody>
                  <a:tcPr anchor="ctr">
                    <a:solidFill>
                      <a:srgbClr val="92D050"/>
                    </a:solid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r>
                        <a:rPr lang="en-US" sz="2800" dirty="0"/>
                        <a:t>Accumulates Trust</a:t>
                      </a:r>
                    </a:p>
                  </a:txBody>
                  <a:tcPr anchor="ctr">
                    <a:solidFill>
                      <a:srgbClr val="92D050"/>
                    </a:solidFill>
                  </a:tcPr>
                </a:tc>
                <a:tc>
                  <a:txBody>
                    <a:bodyPr/>
                    <a:lstStyle/>
                    <a:p>
                      <a:pPr algn="ctr"/>
                      <a:r>
                        <a:rPr lang="en-US" sz="2400" dirty="0"/>
                        <a:t>Stays the Same</a:t>
                      </a:r>
                    </a:p>
                  </a:txBody>
                  <a:tcPr anchor="ctr">
                    <a:solidFill>
                      <a:srgbClr val="00B0F0"/>
                    </a:solidFill>
                  </a:tcPr>
                </a:tc>
                <a:tc>
                  <a:txBody>
                    <a:bodyPr/>
                    <a:lstStyle/>
                    <a:p>
                      <a:pPr algn="ctr"/>
                      <a:r>
                        <a:rPr lang="en-US" sz="2400" dirty="0"/>
                        <a:t>No Innovation Allowed</a:t>
                      </a:r>
                    </a:p>
                  </a:txBody>
                  <a:tcPr anchor="ctr">
                    <a:solidFill>
                      <a:srgbClr val="FF0000"/>
                    </a:solid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Requires dispute-resolution</a:t>
                      </a:r>
                    </a:p>
                  </a:txBody>
                  <a:tcPr anchor="ctr">
                    <a:solidFill>
                      <a:srgbClr val="FFC000"/>
                    </a:solidFill>
                  </a:tcPr>
                </a:tc>
                <a:tc>
                  <a:txBody>
                    <a:bodyPr/>
                    <a:lstStyle/>
                    <a:p>
                      <a:pPr algn="ctr"/>
                      <a:r>
                        <a:rPr lang="en-US" sz="2400" dirty="0"/>
                        <a:t>“Ratchet” –Resists Future Errors</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Allows Most Innovation</a:t>
                      </a:r>
                    </a:p>
                  </a:txBody>
                  <a:tcPr anchor="ctr">
                    <a:solidFill>
                      <a:srgbClr val="92D050"/>
                    </a:solidFill>
                  </a:tcPr>
                </a:tc>
                <a:extLst>
                  <a:ext uri="{0D108BD9-81ED-4DB2-BD59-A6C34878D82A}">
                    <a16:rowId xmlns:a16="http://schemas.microsoft.com/office/drawing/2014/main" val="1202087951"/>
                  </a:ext>
                </a:extLst>
              </a:tr>
              <a:tr h="1033883">
                <a:tc>
                  <a:txBody>
                    <a:bodyPr/>
                    <a:lstStyle/>
                    <a:p>
                      <a:endParaRPr lang="en-US" sz="2400" dirty="0"/>
                    </a:p>
                  </a:txBody>
                  <a:tcPr/>
                </a:tc>
                <a:tc>
                  <a:txBody>
                    <a:bodyPr/>
                    <a:lstStyle/>
                    <a:p>
                      <a:pPr algn="ctr"/>
                      <a:endParaRPr lang="en-US" dirty="0"/>
                    </a:p>
                  </a:txBody>
                  <a:tcPr anchor="ctr">
                    <a:noFill/>
                  </a:tcPr>
                </a:tc>
                <a:tc>
                  <a:txBody>
                    <a:bodyPr/>
                    <a:lstStyle/>
                    <a:p>
                      <a:pPr algn="ctr"/>
                      <a:endParaRPr lang="en-US" dirty="0"/>
                    </a:p>
                  </a:txBody>
                  <a:tcPr anchor="ctr">
                    <a:noFill/>
                  </a:tcPr>
                </a:tc>
                <a:tc>
                  <a:txBody>
                    <a:bodyPr/>
                    <a:lstStyle/>
                    <a:p>
                      <a:pPr algn="ctr"/>
                      <a:endParaRPr lang="en-US" dirty="0"/>
                    </a:p>
                  </a:txBody>
                  <a:tcPr anchor="ctr">
                    <a:no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18695501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3475-C1F7-3A95-A679-AD76FD1CF3B5}"/>
              </a:ext>
            </a:extLst>
          </p:cNvPr>
          <p:cNvSpPr>
            <a:spLocks noGrp="1"/>
          </p:cNvSpPr>
          <p:nvPr>
            <p:ph type="title"/>
          </p:nvPr>
        </p:nvSpPr>
        <p:spPr>
          <a:xfrm>
            <a:off x="-1" y="41564"/>
            <a:ext cx="11159837" cy="831272"/>
          </a:xfrm>
        </p:spPr>
        <p:txBody>
          <a:bodyPr>
            <a:normAutofit/>
          </a:bodyPr>
          <a:lstStyle/>
          <a:p>
            <a:r>
              <a:rPr lang="en-US" dirty="0"/>
              <a:t>Governance Strategies... And their Problems</a:t>
            </a:r>
          </a:p>
        </p:txBody>
      </p:sp>
      <p:graphicFrame>
        <p:nvGraphicFramePr>
          <p:cNvPr id="4" name="Table 4">
            <a:extLst>
              <a:ext uri="{FF2B5EF4-FFF2-40B4-BE49-F238E27FC236}">
                <a16:creationId xmlns:a16="http://schemas.microsoft.com/office/drawing/2014/main" id="{797B9FB1-E3FE-855B-2EAE-ACAEF9742934}"/>
              </a:ext>
            </a:extLst>
          </p:cNvPr>
          <p:cNvGraphicFramePr>
            <a:graphicFrameLocks noGrp="1"/>
          </p:cNvGraphicFramePr>
          <p:nvPr>
            <p:ph idx="1"/>
          </p:nvPr>
        </p:nvGraphicFramePr>
        <p:xfrm>
          <a:off x="1173717" y="966193"/>
          <a:ext cx="9812482" cy="5760553"/>
        </p:xfrm>
        <a:graphic>
          <a:graphicData uri="http://schemas.openxmlformats.org/drawingml/2006/table">
            <a:tbl>
              <a:tblPr firstRow="1" firstCol="1" bandRow="1">
                <a:tableStyleId>{5C22544A-7EE6-4342-B048-85BDC9FD1C3A}</a:tableStyleId>
              </a:tblPr>
              <a:tblGrid>
                <a:gridCol w="1918206">
                  <a:extLst>
                    <a:ext uri="{9D8B030D-6E8A-4147-A177-3AD203B41FA5}">
                      <a16:colId xmlns:a16="http://schemas.microsoft.com/office/drawing/2014/main" val="2639540399"/>
                    </a:ext>
                  </a:extLst>
                </a:gridCol>
                <a:gridCol w="3391950">
                  <a:extLst>
                    <a:ext uri="{9D8B030D-6E8A-4147-A177-3AD203B41FA5}">
                      <a16:colId xmlns:a16="http://schemas.microsoft.com/office/drawing/2014/main" val="192302690"/>
                    </a:ext>
                  </a:extLst>
                </a:gridCol>
                <a:gridCol w="2049205">
                  <a:extLst>
                    <a:ext uri="{9D8B030D-6E8A-4147-A177-3AD203B41FA5}">
                      <a16:colId xmlns:a16="http://schemas.microsoft.com/office/drawing/2014/main" val="3735565522"/>
                    </a:ext>
                  </a:extLst>
                </a:gridCol>
                <a:gridCol w="2453121">
                  <a:extLst>
                    <a:ext uri="{9D8B030D-6E8A-4147-A177-3AD203B41FA5}">
                      <a16:colId xmlns:a16="http://schemas.microsoft.com/office/drawing/2014/main" val="518828169"/>
                    </a:ext>
                  </a:extLst>
                </a:gridCol>
              </a:tblGrid>
              <a:tr h="1404350">
                <a:tc>
                  <a:txBody>
                    <a:bodyPr/>
                    <a:lstStyle/>
                    <a:p>
                      <a:endParaRPr lang="en-US" dirty="0"/>
                    </a:p>
                  </a:txBody>
                  <a:tcPr/>
                </a:tc>
                <a:tc>
                  <a:txBody>
                    <a:bodyPr/>
                    <a:lstStyle/>
                    <a:p>
                      <a:r>
                        <a:rPr lang="en-US" sz="2800" b="1" dirty="0"/>
                        <a:t>Problem of Expertise / Charisma Attack</a:t>
                      </a:r>
                    </a:p>
                  </a:txBody>
                  <a:tcPr/>
                </a:tc>
                <a:tc>
                  <a:txBody>
                    <a:bodyPr/>
                    <a:lstStyle/>
                    <a:p>
                      <a:r>
                        <a:rPr lang="en-US" sz="2400" dirty="0"/>
                        <a:t>Outsourced Thinking</a:t>
                      </a:r>
                    </a:p>
                    <a:p>
                      <a:r>
                        <a:rPr lang="en-US" sz="2400" dirty="0"/>
                        <a:t>/ Fallibilism</a:t>
                      </a:r>
                    </a:p>
                  </a:txBody>
                  <a:tcPr/>
                </a:tc>
                <a:tc>
                  <a:txBody>
                    <a:bodyPr/>
                    <a:lstStyle/>
                    <a:p>
                      <a:r>
                        <a:rPr lang="en-US" sz="2800"/>
                        <a:t>Problem of Innovation / “Dissent” </a:t>
                      </a:r>
                      <a:endParaRPr lang="en-US" sz="2800" dirty="0"/>
                    </a:p>
                  </a:txBody>
                  <a:tcPr/>
                </a:tc>
                <a:extLst>
                  <a:ext uri="{0D108BD9-81ED-4DB2-BD59-A6C34878D82A}">
                    <a16:rowId xmlns:a16="http://schemas.microsoft.com/office/drawing/2014/main" val="3654233148"/>
                  </a:ext>
                </a:extLst>
              </a:tr>
              <a:tr h="853624">
                <a:tc>
                  <a:txBody>
                    <a:bodyPr/>
                    <a:lstStyle/>
                    <a:p>
                      <a:r>
                        <a:rPr lang="en-US" sz="2400" dirty="0"/>
                        <a:t>“Latest Core”</a:t>
                      </a:r>
                    </a:p>
                  </a:txBody>
                  <a:tcPr/>
                </a:tc>
                <a:tc>
                  <a:txBody>
                    <a:bodyPr/>
                    <a:lstStyle/>
                    <a:p>
                      <a:pPr algn="ctr"/>
                      <a:r>
                        <a:rPr lang="en-US" sz="2800" b="0" dirty="0"/>
                        <a:t>No Laypeople Allowed</a:t>
                      </a:r>
                    </a:p>
                  </a:txBody>
                  <a:tcPr anchor="ctr">
                    <a:solidFill>
                      <a:srgbClr val="FF0000"/>
                    </a:solidFill>
                  </a:tcPr>
                </a:tc>
                <a:tc>
                  <a:txBody>
                    <a:bodyPr/>
                    <a:lstStyle/>
                    <a:p>
                      <a:pPr algn="ctr"/>
                      <a:r>
                        <a:rPr lang="en-US" dirty="0"/>
                        <a:t>Outsource Your Thinking to Bitcoin.org</a:t>
                      </a:r>
                    </a:p>
                  </a:txBody>
                  <a:tcPr anchor="ctr">
                    <a:solidFill>
                      <a:srgbClr val="FFC000"/>
                    </a:solidFill>
                  </a:tcPr>
                </a:tc>
                <a:tc>
                  <a:txBody>
                    <a:bodyPr/>
                    <a:lstStyle/>
                    <a:p>
                      <a:pPr algn="ctr"/>
                      <a:r>
                        <a:rPr lang="en-US" sz="2800" dirty="0"/>
                        <a:t>Allows Innovation</a:t>
                      </a:r>
                    </a:p>
                  </a:txBody>
                  <a:tcPr anchor="ctr">
                    <a:solidFill>
                      <a:srgbClr val="92D050"/>
                    </a:solidFill>
                  </a:tcPr>
                </a:tc>
                <a:extLst>
                  <a:ext uri="{0D108BD9-81ED-4DB2-BD59-A6C34878D82A}">
                    <a16:rowId xmlns:a16="http://schemas.microsoft.com/office/drawing/2014/main" val="2233601531"/>
                  </a:ext>
                </a:extLst>
              </a:tr>
              <a:tr h="811145">
                <a:tc>
                  <a:txBody>
                    <a:bodyPr/>
                    <a:lstStyle/>
                    <a:p>
                      <a:r>
                        <a:rPr lang="en-US" sz="2400" dirty="0"/>
                        <a:t>“Static” Protocol</a:t>
                      </a:r>
                    </a:p>
                  </a:txBody>
                  <a:tcPr/>
                </a:tc>
                <a:tc>
                  <a:txBody>
                    <a:bodyPr/>
                    <a:lstStyle/>
                    <a:p>
                      <a:pPr algn="ctr"/>
                      <a:r>
                        <a:rPr lang="en-US" sz="2800" dirty="0"/>
                        <a:t>Accumulates Trust</a:t>
                      </a:r>
                    </a:p>
                  </a:txBody>
                  <a:tcPr anchor="ctr">
                    <a:solidFill>
                      <a:srgbClr val="92D050"/>
                    </a:solidFill>
                  </a:tcPr>
                </a:tc>
                <a:tc>
                  <a:txBody>
                    <a:bodyPr/>
                    <a:lstStyle/>
                    <a:p>
                      <a:pPr algn="ctr"/>
                      <a:r>
                        <a:rPr lang="en-US" sz="2400" dirty="0"/>
                        <a:t>Stays the Same</a:t>
                      </a:r>
                    </a:p>
                  </a:txBody>
                  <a:tcPr anchor="ctr">
                    <a:solidFill>
                      <a:srgbClr val="00B0F0"/>
                    </a:solidFill>
                  </a:tcPr>
                </a:tc>
                <a:tc>
                  <a:txBody>
                    <a:bodyPr/>
                    <a:lstStyle/>
                    <a:p>
                      <a:pPr algn="ctr"/>
                      <a:r>
                        <a:rPr lang="en-US" sz="2400" dirty="0"/>
                        <a:t>No Innovation Allowed</a:t>
                      </a:r>
                    </a:p>
                  </a:txBody>
                  <a:tcPr anchor="ctr">
                    <a:solidFill>
                      <a:srgbClr val="FF0000"/>
                    </a:solidFill>
                  </a:tcPr>
                </a:tc>
                <a:extLst>
                  <a:ext uri="{0D108BD9-81ED-4DB2-BD59-A6C34878D82A}">
                    <a16:rowId xmlns:a16="http://schemas.microsoft.com/office/drawing/2014/main" val="2546593141"/>
                  </a:ext>
                </a:extLst>
              </a:tr>
              <a:tr h="1404350">
                <a:tc>
                  <a:txBody>
                    <a:bodyPr/>
                    <a:lstStyle/>
                    <a:p>
                      <a:r>
                        <a:rPr lang="en-US" sz="2400" dirty="0"/>
                        <a:t>“Linear Coexistence”</a:t>
                      </a:r>
                    </a:p>
                    <a:p>
                      <a:r>
                        <a:rPr lang="en-US" sz="2400" dirty="0"/>
                        <a:t>(Consent-Based)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Requires dispute-resolution</a:t>
                      </a:r>
                    </a:p>
                  </a:txBody>
                  <a:tcPr anchor="ctr">
                    <a:solidFill>
                      <a:srgbClr val="FFC000"/>
                    </a:solidFill>
                  </a:tcPr>
                </a:tc>
                <a:tc>
                  <a:txBody>
                    <a:bodyPr/>
                    <a:lstStyle/>
                    <a:p>
                      <a:pPr algn="ctr"/>
                      <a:r>
                        <a:rPr lang="en-US" sz="2400" dirty="0"/>
                        <a:t>“Ratchet” –Resists Future Errors</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Allows Most Innovation</a:t>
                      </a:r>
                    </a:p>
                  </a:txBody>
                  <a:tcPr anchor="ctr">
                    <a:solidFill>
                      <a:srgbClr val="92D050"/>
                    </a:solidFill>
                  </a:tcPr>
                </a:tc>
                <a:extLst>
                  <a:ext uri="{0D108BD9-81ED-4DB2-BD59-A6C34878D82A}">
                    <a16:rowId xmlns:a16="http://schemas.microsoft.com/office/drawing/2014/main" val="1202087951"/>
                  </a:ext>
                </a:extLst>
              </a:tr>
              <a:tr h="1033883">
                <a:tc>
                  <a:txBody>
                    <a:bodyPr/>
                    <a:lstStyle/>
                    <a:p>
                      <a:r>
                        <a:rPr lang="en-US" sz="2300" dirty="0"/>
                        <a:t>Sidechains/ Layers/CUSF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Accumulates Trust</a:t>
                      </a:r>
                    </a:p>
                  </a:txBody>
                  <a:tcPr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Actively Promotes Error-Correction</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Allows Even </a:t>
                      </a:r>
                      <a:r>
                        <a:rPr lang="en-US" sz="2000" dirty="0" err="1"/>
                        <a:t>Hardfork</a:t>
                      </a:r>
                      <a:r>
                        <a:rPr lang="en-US" sz="2000" dirty="0"/>
                        <a:t> Style Innovation</a:t>
                      </a:r>
                    </a:p>
                  </a:txBody>
                  <a:tcPr anchor="ctr">
                    <a:solidFill>
                      <a:srgbClr val="00B050"/>
                    </a:solidFill>
                  </a:tcPr>
                </a:tc>
                <a:extLst>
                  <a:ext uri="{0D108BD9-81ED-4DB2-BD59-A6C34878D82A}">
                    <a16:rowId xmlns:a16="http://schemas.microsoft.com/office/drawing/2014/main" val="3265224409"/>
                  </a:ext>
                </a:extLst>
              </a:tr>
            </a:tbl>
          </a:graphicData>
        </a:graphic>
      </p:graphicFrame>
    </p:spTree>
    <p:extLst>
      <p:ext uri="{BB962C8B-B14F-4D97-AF65-F5344CB8AC3E}">
        <p14:creationId xmlns:p14="http://schemas.microsoft.com/office/powerpoint/2010/main" val="13137781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2199B-5FBC-68B6-D44E-3E30BD1D7CB9}"/>
              </a:ext>
            </a:extLst>
          </p:cNvPr>
          <p:cNvSpPr>
            <a:spLocks noGrp="1"/>
          </p:cNvSpPr>
          <p:nvPr>
            <p:ph type="title"/>
          </p:nvPr>
        </p:nvSpPr>
        <p:spPr>
          <a:xfrm>
            <a:off x="838200" y="381167"/>
            <a:ext cx="10515600" cy="5185443"/>
          </a:xfrm>
        </p:spPr>
        <p:txBody>
          <a:bodyPr>
            <a:normAutofit/>
          </a:bodyPr>
          <a:lstStyle/>
          <a:p>
            <a:pPr algn="ctr"/>
            <a:r>
              <a:rPr lang="en-US" sz="11500" dirty="0"/>
              <a:t>Soft Forks</a:t>
            </a:r>
            <a:br>
              <a:rPr lang="en-US" sz="11500" dirty="0"/>
            </a:br>
            <a:r>
              <a:rPr lang="en-US" sz="11500" dirty="0"/>
              <a:t>Over Time</a:t>
            </a:r>
          </a:p>
        </p:txBody>
      </p:sp>
      <p:sp>
        <p:nvSpPr>
          <p:cNvPr id="3" name="Title 1">
            <a:extLst>
              <a:ext uri="{FF2B5EF4-FFF2-40B4-BE49-F238E27FC236}">
                <a16:creationId xmlns:a16="http://schemas.microsoft.com/office/drawing/2014/main" id="{F157571A-5278-9059-6019-D041F004C0FE}"/>
              </a:ext>
            </a:extLst>
          </p:cNvPr>
          <p:cNvSpPr txBox="1">
            <a:spLocks/>
          </p:cNvSpPr>
          <p:nvPr/>
        </p:nvSpPr>
        <p:spPr>
          <a:xfrm>
            <a:off x="3840079" y="4732420"/>
            <a:ext cx="4511842" cy="1668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dirty="0"/>
              <a:t>Part 3 of 4</a:t>
            </a:r>
          </a:p>
        </p:txBody>
      </p:sp>
    </p:spTree>
    <p:extLst>
      <p:ext uri="{BB962C8B-B14F-4D97-AF65-F5344CB8AC3E}">
        <p14:creationId xmlns:p14="http://schemas.microsoft.com/office/powerpoint/2010/main" val="60643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AC10-C67E-A722-5F48-BD99C88232DE}"/>
              </a:ext>
            </a:extLst>
          </p:cNvPr>
          <p:cNvSpPr>
            <a:spLocks noGrp="1"/>
          </p:cNvSpPr>
          <p:nvPr>
            <p:ph type="title"/>
          </p:nvPr>
        </p:nvSpPr>
        <p:spPr>
          <a:xfrm>
            <a:off x="505690" y="406690"/>
            <a:ext cx="2902527" cy="1588366"/>
          </a:xfrm>
        </p:spPr>
        <p:txBody>
          <a:bodyPr/>
          <a:lstStyle/>
          <a:p>
            <a:r>
              <a:rPr lang="en-US" dirty="0"/>
              <a:t>Soft Forks Over Time</a:t>
            </a:r>
          </a:p>
        </p:txBody>
      </p:sp>
      <p:pic>
        <p:nvPicPr>
          <p:cNvPr id="7" name="Content Placeholder 6">
            <a:extLst>
              <a:ext uri="{FF2B5EF4-FFF2-40B4-BE49-F238E27FC236}">
                <a16:creationId xmlns:a16="http://schemas.microsoft.com/office/drawing/2014/main" id="{D54A020E-78ED-4AED-03DE-8C8F225C80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96744" y="171718"/>
            <a:ext cx="6879965" cy="6686282"/>
          </a:xfrm>
        </p:spPr>
      </p:pic>
      <p:sp>
        <p:nvSpPr>
          <p:cNvPr id="8" name="Title 1">
            <a:extLst>
              <a:ext uri="{FF2B5EF4-FFF2-40B4-BE49-F238E27FC236}">
                <a16:creationId xmlns:a16="http://schemas.microsoft.com/office/drawing/2014/main" id="{AFB2E27B-1050-224E-44D3-8E4C325ED3B2}"/>
              </a:ext>
            </a:extLst>
          </p:cNvPr>
          <p:cNvSpPr txBox="1">
            <a:spLocks/>
          </p:cNvSpPr>
          <p:nvPr/>
        </p:nvSpPr>
        <p:spPr>
          <a:xfrm>
            <a:off x="425434" y="3274579"/>
            <a:ext cx="2902527" cy="15883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(according to </a:t>
            </a:r>
            <a:r>
              <a:rPr lang="en-US" dirty="0" err="1"/>
              <a:t>BitMex</a:t>
            </a:r>
            <a:r>
              <a:rPr lang="en-US" dirty="0"/>
              <a:t>)</a:t>
            </a:r>
          </a:p>
        </p:txBody>
      </p:sp>
    </p:spTree>
    <p:extLst>
      <p:ext uri="{BB962C8B-B14F-4D97-AF65-F5344CB8AC3E}">
        <p14:creationId xmlns:p14="http://schemas.microsoft.com/office/powerpoint/2010/main" val="30515961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63DA845-0FAC-788D-9667-C4A749E8815C}"/>
              </a:ext>
            </a:extLst>
          </p:cNvPr>
          <p:cNvSpPr/>
          <p:nvPr/>
        </p:nvSpPr>
        <p:spPr>
          <a:xfrm>
            <a:off x="108858" y="720353"/>
            <a:ext cx="11952514" cy="6046333"/>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51F7E1D-ADCE-094B-BDCB-F5BB38F3A13F}"/>
              </a:ext>
            </a:extLst>
          </p:cNvPr>
          <p:cNvSpPr/>
          <p:nvPr/>
        </p:nvSpPr>
        <p:spPr>
          <a:xfrm>
            <a:off x="3643085" y="125858"/>
            <a:ext cx="5080001" cy="1082456"/>
          </a:xfrm>
          <a:prstGeom prst="rect">
            <a:avLst/>
          </a:prstGeom>
          <a:solidFill>
            <a:schemeClr val="bg1">
              <a:lumMod val="9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DEC669A9-76ED-690B-6643-BAC873D296F4}"/>
              </a:ext>
            </a:extLst>
          </p:cNvPr>
          <p:cNvSpPr txBox="1">
            <a:spLocks/>
          </p:cNvSpPr>
          <p:nvPr/>
        </p:nvSpPr>
        <p:spPr>
          <a:xfrm>
            <a:off x="4275222" y="5664118"/>
            <a:ext cx="1801585"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20 Months</a:t>
            </a:r>
          </a:p>
        </p:txBody>
      </p:sp>
      <p:sp>
        <p:nvSpPr>
          <p:cNvPr id="8" name="Content Placeholder 2">
            <a:extLst>
              <a:ext uri="{FF2B5EF4-FFF2-40B4-BE49-F238E27FC236}">
                <a16:creationId xmlns:a16="http://schemas.microsoft.com/office/drawing/2014/main" id="{926FA186-D9E8-9571-0B33-DC4228D5E5DA}"/>
              </a:ext>
            </a:extLst>
          </p:cNvPr>
          <p:cNvSpPr txBox="1">
            <a:spLocks/>
          </p:cNvSpPr>
          <p:nvPr/>
        </p:nvSpPr>
        <p:spPr>
          <a:xfrm>
            <a:off x="10227375" y="5591530"/>
            <a:ext cx="1801585"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46 Months</a:t>
            </a:r>
          </a:p>
        </p:txBody>
      </p:sp>
      <p:sp>
        <p:nvSpPr>
          <p:cNvPr id="9" name="Right Brace 8">
            <a:extLst>
              <a:ext uri="{FF2B5EF4-FFF2-40B4-BE49-F238E27FC236}">
                <a16:creationId xmlns:a16="http://schemas.microsoft.com/office/drawing/2014/main" id="{A1F7C0F5-CE9C-AEA0-B9C9-9C621A6F2F42}"/>
              </a:ext>
            </a:extLst>
          </p:cNvPr>
          <p:cNvSpPr/>
          <p:nvPr/>
        </p:nvSpPr>
        <p:spPr>
          <a:xfrm>
            <a:off x="3974808" y="5328705"/>
            <a:ext cx="251430" cy="1069519"/>
          </a:xfrm>
          <a:prstGeom prst="rightBrace">
            <a:avLst>
              <a:gd name="adj1" fmla="val 3787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ED397550-7719-FDD7-0BDB-A21356EEBC13}"/>
              </a:ext>
            </a:extLst>
          </p:cNvPr>
          <p:cNvSpPr/>
          <p:nvPr/>
        </p:nvSpPr>
        <p:spPr>
          <a:xfrm>
            <a:off x="9926961" y="5293536"/>
            <a:ext cx="251430" cy="1069519"/>
          </a:xfrm>
          <a:prstGeom prst="rightBrace">
            <a:avLst>
              <a:gd name="adj1" fmla="val 37878"/>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1" name="Table 11">
            <a:extLst>
              <a:ext uri="{FF2B5EF4-FFF2-40B4-BE49-F238E27FC236}">
                <a16:creationId xmlns:a16="http://schemas.microsoft.com/office/drawing/2014/main" id="{AEE5ECE6-C3BB-6264-F50F-6E1DB0509962}"/>
              </a:ext>
            </a:extLst>
          </p:cNvPr>
          <p:cNvGraphicFramePr>
            <a:graphicFrameLocks noGrp="1"/>
          </p:cNvGraphicFramePr>
          <p:nvPr/>
        </p:nvGraphicFramePr>
        <p:xfrm>
          <a:off x="906875" y="1604364"/>
          <a:ext cx="9963288" cy="1431904"/>
        </p:xfrm>
        <a:graphic>
          <a:graphicData uri="http://schemas.openxmlformats.org/drawingml/2006/table">
            <a:tbl>
              <a:tblPr firstCol="1" bandRow="1">
                <a:tableStyleId>{5C22544A-7EE6-4342-B048-85BDC9FD1C3A}</a:tableStyleId>
              </a:tblPr>
              <a:tblGrid>
                <a:gridCol w="1107032">
                  <a:extLst>
                    <a:ext uri="{9D8B030D-6E8A-4147-A177-3AD203B41FA5}">
                      <a16:colId xmlns:a16="http://schemas.microsoft.com/office/drawing/2014/main" val="1962472240"/>
                    </a:ext>
                  </a:extLst>
                </a:gridCol>
                <a:gridCol w="1107032">
                  <a:extLst>
                    <a:ext uri="{9D8B030D-6E8A-4147-A177-3AD203B41FA5}">
                      <a16:colId xmlns:a16="http://schemas.microsoft.com/office/drawing/2014/main" val="3918106669"/>
                    </a:ext>
                  </a:extLst>
                </a:gridCol>
                <a:gridCol w="1107032">
                  <a:extLst>
                    <a:ext uri="{9D8B030D-6E8A-4147-A177-3AD203B41FA5}">
                      <a16:colId xmlns:a16="http://schemas.microsoft.com/office/drawing/2014/main" val="841432074"/>
                    </a:ext>
                  </a:extLst>
                </a:gridCol>
                <a:gridCol w="1107032">
                  <a:extLst>
                    <a:ext uri="{9D8B030D-6E8A-4147-A177-3AD203B41FA5}">
                      <a16:colId xmlns:a16="http://schemas.microsoft.com/office/drawing/2014/main" val="4193041647"/>
                    </a:ext>
                  </a:extLst>
                </a:gridCol>
                <a:gridCol w="1107032">
                  <a:extLst>
                    <a:ext uri="{9D8B030D-6E8A-4147-A177-3AD203B41FA5}">
                      <a16:colId xmlns:a16="http://schemas.microsoft.com/office/drawing/2014/main" val="2424521326"/>
                    </a:ext>
                  </a:extLst>
                </a:gridCol>
                <a:gridCol w="1107032">
                  <a:extLst>
                    <a:ext uri="{9D8B030D-6E8A-4147-A177-3AD203B41FA5}">
                      <a16:colId xmlns:a16="http://schemas.microsoft.com/office/drawing/2014/main" val="3499498031"/>
                    </a:ext>
                  </a:extLst>
                </a:gridCol>
                <a:gridCol w="1107032">
                  <a:extLst>
                    <a:ext uri="{9D8B030D-6E8A-4147-A177-3AD203B41FA5}">
                      <a16:colId xmlns:a16="http://schemas.microsoft.com/office/drawing/2014/main" val="3328407539"/>
                    </a:ext>
                  </a:extLst>
                </a:gridCol>
                <a:gridCol w="1107032">
                  <a:extLst>
                    <a:ext uri="{9D8B030D-6E8A-4147-A177-3AD203B41FA5}">
                      <a16:colId xmlns:a16="http://schemas.microsoft.com/office/drawing/2014/main" val="1040280834"/>
                    </a:ext>
                  </a:extLst>
                </a:gridCol>
                <a:gridCol w="1107032">
                  <a:extLst>
                    <a:ext uri="{9D8B030D-6E8A-4147-A177-3AD203B41FA5}">
                      <a16:colId xmlns:a16="http://schemas.microsoft.com/office/drawing/2014/main" val="2982646618"/>
                    </a:ext>
                  </a:extLst>
                </a:gridCol>
              </a:tblGrid>
              <a:tr h="715952">
                <a:tc>
                  <a:txBody>
                    <a:bodyPr/>
                    <a:lstStyle/>
                    <a:p>
                      <a:pPr algn="ctr"/>
                      <a:r>
                        <a:rPr lang="en-US" sz="2400"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505752"/>
                  </a:ext>
                </a:extLst>
              </a:tr>
              <a:tr h="715952">
                <a:tc>
                  <a:txBody>
                    <a:bodyPr/>
                    <a:lstStyle/>
                    <a:p>
                      <a:pPr algn="ctr"/>
                      <a:r>
                        <a:rPr lang="en-US" dirty="0"/>
                        <a:t># of Soft Forks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ln>
                            <a:solidFill>
                              <a:sysClr val="windowText" lastClr="000000"/>
                            </a:solidFill>
                          </a:ln>
                          <a:solidFill>
                            <a:schemeClr val="bg1">
                              <a:lumMod val="75000"/>
                            </a:schemeClr>
                          </a:solidFill>
                        </a:rPr>
                        <a:t>0</a:t>
                      </a:r>
                      <a:r>
                        <a:rPr lang="en-US" sz="2800" b="1" dirty="0">
                          <a:ln>
                            <a:solidFill>
                              <a:sysClr val="windowText" lastClr="000000"/>
                            </a:solidFill>
                          </a:ln>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FF0000"/>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50"/>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accent2">
                              <a:lumMod val="60000"/>
                              <a:lumOff val="40000"/>
                            </a:schemeClr>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376571"/>
                  </a:ext>
                </a:extLst>
              </a:tr>
            </a:tbl>
          </a:graphicData>
        </a:graphic>
      </p:graphicFrame>
      <p:sp>
        <p:nvSpPr>
          <p:cNvPr id="12" name="Content Placeholder 2">
            <a:extLst>
              <a:ext uri="{FF2B5EF4-FFF2-40B4-BE49-F238E27FC236}">
                <a16:creationId xmlns:a16="http://schemas.microsoft.com/office/drawing/2014/main" id="{8DAED391-9CEE-D887-9262-6B806F6A4359}"/>
              </a:ext>
            </a:extLst>
          </p:cNvPr>
          <p:cNvSpPr txBox="1">
            <a:spLocks/>
          </p:cNvSpPr>
          <p:nvPr/>
        </p:nvSpPr>
        <p:spPr>
          <a:xfrm>
            <a:off x="358179" y="4800652"/>
            <a:ext cx="4985656" cy="1676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SegWit</a:t>
            </a:r>
            <a:endParaRPr lang="en-US" dirty="0"/>
          </a:p>
          <a:p>
            <a:pPr lvl="1"/>
            <a:r>
              <a:rPr lang="en-US" dirty="0"/>
              <a:t>Announced Dec 2015</a:t>
            </a:r>
          </a:p>
          <a:p>
            <a:pPr lvl="1"/>
            <a:r>
              <a:rPr lang="en-US" dirty="0"/>
              <a:t>Coded Oct 2016</a:t>
            </a:r>
          </a:p>
          <a:p>
            <a:pPr lvl="1"/>
            <a:r>
              <a:rPr lang="en-US" dirty="0"/>
              <a:t>Activated Aug 2017</a:t>
            </a:r>
          </a:p>
        </p:txBody>
      </p:sp>
      <p:graphicFrame>
        <p:nvGraphicFramePr>
          <p:cNvPr id="13" name="Table 11">
            <a:extLst>
              <a:ext uri="{FF2B5EF4-FFF2-40B4-BE49-F238E27FC236}">
                <a16:creationId xmlns:a16="http://schemas.microsoft.com/office/drawing/2014/main" id="{886CEDCF-6693-5CCD-AB82-2BA389B290C0}"/>
              </a:ext>
            </a:extLst>
          </p:cNvPr>
          <p:cNvGraphicFramePr>
            <a:graphicFrameLocks noGrp="1"/>
          </p:cNvGraphicFramePr>
          <p:nvPr/>
        </p:nvGraphicFramePr>
        <p:xfrm>
          <a:off x="906875" y="3231063"/>
          <a:ext cx="9963288" cy="1321675"/>
        </p:xfrm>
        <a:graphic>
          <a:graphicData uri="http://schemas.openxmlformats.org/drawingml/2006/table">
            <a:tbl>
              <a:tblPr firstCol="1" bandRow="1">
                <a:tableStyleId>{5C22544A-7EE6-4342-B048-85BDC9FD1C3A}</a:tableStyleId>
              </a:tblPr>
              <a:tblGrid>
                <a:gridCol w="1107032">
                  <a:extLst>
                    <a:ext uri="{9D8B030D-6E8A-4147-A177-3AD203B41FA5}">
                      <a16:colId xmlns:a16="http://schemas.microsoft.com/office/drawing/2014/main" val="1962472240"/>
                    </a:ext>
                  </a:extLst>
                </a:gridCol>
                <a:gridCol w="1107032">
                  <a:extLst>
                    <a:ext uri="{9D8B030D-6E8A-4147-A177-3AD203B41FA5}">
                      <a16:colId xmlns:a16="http://schemas.microsoft.com/office/drawing/2014/main" val="4193041647"/>
                    </a:ext>
                  </a:extLst>
                </a:gridCol>
                <a:gridCol w="1107032">
                  <a:extLst>
                    <a:ext uri="{9D8B030D-6E8A-4147-A177-3AD203B41FA5}">
                      <a16:colId xmlns:a16="http://schemas.microsoft.com/office/drawing/2014/main" val="2424521326"/>
                    </a:ext>
                  </a:extLst>
                </a:gridCol>
                <a:gridCol w="1107032">
                  <a:extLst>
                    <a:ext uri="{9D8B030D-6E8A-4147-A177-3AD203B41FA5}">
                      <a16:colId xmlns:a16="http://schemas.microsoft.com/office/drawing/2014/main" val="3499498031"/>
                    </a:ext>
                  </a:extLst>
                </a:gridCol>
                <a:gridCol w="1107032">
                  <a:extLst>
                    <a:ext uri="{9D8B030D-6E8A-4147-A177-3AD203B41FA5}">
                      <a16:colId xmlns:a16="http://schemas.microsoft.com/office/drawing/2014/main" val="3328407539"/>
                    </a:ext>
                  </a:extLst>
                </a:gridCol>
                <a:gridCol w="1107032">
                  <a:extLst>
                    <a:ext uri="{9D8B030D-6E8A-4147-A177-3AD203B41FA5}">
                      <a16:colId xmlns:a16="http://schemas.microsoft.com/office/drawing/2014/main" val="1040280834"/>
                    </a:ext>
                  </a:extLst>
                </a:gridCol>
                <a:gridCol w="1107032">
                  <a:extLst>
                    <a:ext uri="{9D8B030D-6E8A-4147-A177-3AD203B41FA5}">
                      <a16:colId xmlns:a16="http://schemas.microsoft.com/office/drawing/2014/main" val="2982646618"/>
                    </a:ext>
                  </a:extLst>
                </a:gridCol>
                <a:gridCol w="1107032">
                  <a:extLst>
                    <a:ext uri="{9D8B030D-6E8A-4147-A177-3AD203B41FA5}">
                      <a16:colId xmlns:a16="http://schemas.microsoft.com/office/drawing/2014/main" val="3507746376"/>
                    </a:ext>
                  </a:extLst>
                </a:gridCol>
                <a:gridCol w="1107032">
                  <a:extLst>
                    <a:ext uri="{9D8B030D-6E8A-4147-A177-3AD203B41FA5}">
                      <a16:colId xmlns:a16="http://schemas.microsoft.com/office/drawing/2014/main" val="2554118778"/>
                    </a:ext>
                  </a:extLst>
                </a:gridCol>
              </a:tblGrid>
              <a:tr h="429330">
                <a:tc>
                  <a:txBody>
                    <a:bodyPr/>
                    <a:lstStyle/>
                    <a:p>
                      <a:pPr algn="ctr"/>
                      <a:r>
                        <a:rPr lang="en-US" sz="2400"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505752"/>
                  </a:ext>
                </a:extLst>
              </a:tr>
              <a:tr h="864475">
                <a:tc>
                  <a:txBody>
                    <a:bodyPr/>
                    <a:lstStyle/>
                    <a:p>
                      <a:pPr algn="ctr"/>
                      <a:r>
                        <a:rPr lang="en-US" dirty="0"/>
                        <a:t># of Soft Forks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rgbClr val="00B0F0"/>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ln>
                            <a:solidFill>
                              <a:sysClr val="windowText" lastClr="000000"/>
                            </a:solidFill>
                          </a:ln>
                          <a:solidFill>
                            <a:schemeClr val="bg1">
                              <a:lumMod val="75000"/>
                            </a:schemeClr>
                          </a:solidFill>
                        </a:rPr>
                        <a:t>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mn-lt"/>
                          <a:ea typeface="+mn-ea"/>
                          <a:cs typeface="+mn-cs"/>
                        </a:rPr>
                        <a:t>(Presumably)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376571"/>
                  </a:ext>
                </a:extLst>
              </a:tr>
            </a:tbl>
          </a:graphicData>
        </a:graphic>
      </p:graphicFrame>
      <p:sp>
        <p:nvSpPr>
          <p:cNvPr id="6" name="Content Placeholder 2">
            <a:extLst>
              <a:ext uri="{FF2B5EF4-FFF2-40B4-BE49-F238E27FC236}">
                <a16:creationId xmlns:a16="http://schemas.microsoft.com/office/drawing/2014/main" id="{E3E9B7A9-B768-5433-73A3-33F668BFDEAC}"/>
              </a:ext>
            </a:extLst>
          </p:cNvPr>
          <p:cNvSpPr txBox="1">
            <a:spLocks/>
          </p:cNvSpPr>
          <p:nvPr/>
        </p:nvSpPr>
        <p:spPr>
          <a:xfrm>
            <a:off x="11322142" y="3626763"/>
            <a:ext cx="331504" cy="492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2</a:t>
            </a:r>
          </a:p>
        </p:txBody>
      </p:sp>
      <p:sp>
        <p:nvSpPr>
          <p:cNvPr id="14" name="Content Placeholder 2">
            <a:extLst>
              <a:ext uri="{FF2B5EF4-FFF2-40B4-BE49-F238E27FC236}">
                <a16:creationId xmlns:a16="http://schemas.microsoft.com/office/drawing/2014/main" id="{2095186A-729D-A434-FF05-ECD2563A543A}"/>
              </a:ext>
            </a:extLst>
          </p:cNvPr>
          <p:cNvSpPr txBox="1">
            <a:spLocks/>
          </p:cNvSpPr>
          <p:nvPr/>
        </p:nvSpPr>
        <p:spPr>
          <a:xfrm>
            <a:off x="11213959" y="2199258"/>
            <a:ext cx="547871" cy="4735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16</a:t>
            </a:r>
          </a:p>
        </p:txBody>
      </p:sp>
      <p:cxnSp>
        <p:nvCxnSpPr>
          <p:cNvPr id="18" name="Straight Connector 17">
            <a:extLst>
              <a:ext uri="{FF2B5EF4-FFF2-40B4-BE49-F238E27FC236}">
                <a16:creationId xmlns:a16="http://schemas.microsoft.com/office/drawing/2014/main" id="{FB84CA49-B38A-5B51-6E1C-58DE842145EE}"/>
              </a:ext>
            </a:extLst>
          </p:cNvPr>
          <p:cNvCxnSpPr>
            <a:cxnSpLocks/>
          </p:cNvCxnSpPr>
          <p:nvPr/>
        </p:nvCxnSpPr>
        <p:spPr>
          <a:xfrm>
            <a:off x="10295560" y="3140441"/>
            <a:ext cx="14413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2940BD8-EC9C-5541-B518-7AF1AF9429CD}"/>
              </a:ext>
            </a:extLst>
          </p:cNvPr>
          <p:cNvCxnSpPr>
            <a:cxnSpLocks/>
          </p:cNvCxnSpPr>
          <p:nvPr/>
        </p:nvCxnSpPr>
        <p:spPr>
          <a:xfrm flipV="1">
            <a:off x="6047012" y="4800652"/>
            <a:ext cx="0" cy="18033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03A5E163-7BEA-B35B-58BE-607C9E9D0F6F}"/>
              </a:ext>
            </a:extLst>
          </p:cNvPr>
          <p:cNvSpPr>
            <a:spLocks noGrp="1"/>
          </p:cNvSpPr>
          <p:nvPr>
            <p:ph type="title"/>
          </p:nvPr>
        </p:nvSpPr>
        <p:spPr>
          <a:xfrm>
            <a:off x="710877" y="31889"/>
            <a:ext cx="11087099" cy="1266672"/>
          </a:xfrm>
        </p:spPr>
        <p:txBody>
          <a:bodyPr>
            <a:normAutofit/>
          </a:bodyPr>
          <a:lstStyle/>
          <a:p>
            <a:pPr algn="ctr"/>
            <a:r>
              <a:rPr lang="en-US" dirty="0"/>
              <a:t>Bitcoin’s Ossification</a:t>
            </a:r>
          </a:p>
        </p:txBody>
      </p:sp>
      <p:sp>
        <p:nvSpPr>
          <p:cNvPr id="21" name="Content Placeholder 2">
            <a:extLst>
              <a:ext uri="{FF2B5EF4-FFF2-40B4-BE49-F238E27FC236}">
                <a16:creationId xmlns:a16="http://schemas.microsoft.com/office/drawing/2014/main" id="{1649479A-17DE-1D02-0D70-4279C247AE73}"/>
              </a:ext>
            </a:extLst>
          </p:cNvPr>
          <p:cNvSpPr txBox="1">
            <a:spLocks/>
          </p:cNvSpPr>
          <p:nvPr/>
        </p:nvSpPr>
        <p:spPr>
          <a:xfrm>
            <a:off x="6310334" y="4800652"/>
            <a:ext cx="3925057" cy="1676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Taproot</a:t>
            </a:r>
          </a:p>
          <a:p>
            <a:pPr lvl="1"/>
            <a:r>
              <a:rPr lang="en-US" dirty="0"/>
              <a:t>Announced Jan 2018</a:t>
            </a:r>
          </a:p>
          <a:p>
            <a:pPr lvl="1"/>
            <a:r>
              <a:rPr lang="en-US" dirty="0"/>
              <a:t>Coded Oct 2020</a:t>
            </a:r>
          </a:p>
          <a:p>
            <a:pPr lvl="1"/>
            <a:r>
              <a:rPr lang="en-US" dirty="0"/>
              <a:t>Activated Nov 2021</a:t>
            </a:r>
          </a:p>
        </p:txBody>
      </p:sp>
      <p:sp>
        <p:nvSpPr>
          <p:cNvPr id="4" name="Content Placeholder 2">
            <a:extLst>
              <a:ext uri="{FF2B5EF4-FFF2-40B4-BE49-F238E27FC236}">
                <a16:creationId xmlns:a16="http://schemas.microsoft.com/office/drawing/2014/main" id="{E9A2387F-BAAE-BFA8-8438-673A46087FAC}"/>
              </a:ext>
            </a:extLst>
          </p:cNvPr>
          <p:cNvSpPr txBox="1">
            <a:spLocks/>
          </p:cNvSpPr>
          <p:nvPr/>
        </p:nvSpPr>
        <p:spPr>
          <a:xfrm>
            <a:off x="934833" y="894667"/>
            <a:ext cx="2484297" cy="5356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tx1">
                    <a:lumMod val="50000"/>
                    <a:lumOff val="50000"/>
                  </a:schemeClr>
                </a:solidFill>
              </a:rPr>
              <a:t>original source code &amp; edit history are mostly lost</a:t>
            </a:r>
          </a:p>
          <a:p>
            <a:endParaRPr lang="en-US" dirty="0"/>
          </a:p>
        </p:txBody>
      </p:sp>
      <p:cxnSp>
        <p:nvCxnSpPr>
          <p:cNvPr id="17" name="Straight Connector 16">
            <a:extLst>
              <a:ext uri="{FF2B5EF4-FFF2-40B4-BE49-F238E27FC236}">
                <a16:creationId xmlns:a16="http://schemas.microsoft.com/office/drawing/2014/main" id="{0DAF72BF-3A2C-0D57-3793-AB9F438A527A}"/>
              </a:ext>
            </a:extLst>
          </p:cNvPr>
          <p:cNvCxnSpPr>
            <a:cxnSpLocks/>
          </p:cNvCxnSpPr>
          <p:nvPr/>
        </p:nvCxnSpPr>
        <p:spPr>
          <a:xfrm>
            <a:off x="1752600" y="1430323"/>
            <a:ext cx="717550" cy="100569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317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0C61-A41C-13A4-F8E0-48BA95CB6D2A}"/>
              </a:ext>
            </a:extLst>
          </p:cNvPr>
          <p:cNvSpPr>
            <a:spLocks noGrp="1"/>
          </p:cNvSpPr>
          <p:nvPr>
            <p:ph type="title"/>
          </p:nvPr>
        </p:nvSpPr>
        <p:spPr>
          <a:xfrm>
            <a:off x="336550" y="0"/>
            <a:ext cx="2495550" cy="974725"/>
          </a:xfrm>
        </p:spPr>
        <p:txBody>
          <a:bodyPr/>
          <a:lstStyle/>
          <a:p>
            <a:r>
              <a:rPr lang="en-US" dirty="0"/>
              <a:t>Problems</a:t>
            </a:r>
          </a:p>
        </p:txBody>
      </p:sp>
      <p:sp>
        <p:nvSpPr>
          <p:cNvPr id="3" name="Content Placeholder 2">
            <a:extLst>
              <a:ext uri="{FF2B5EF4-FFF2-40B4-BE49-F238E27FC236}">
                <a16:creationId xmlns:a16="http://schemas.microsoft.com/office/drawing/2014/main" id="{39454229-49CD-D330-98E9-BB015F462665}"/>
              </a:ext>
            </a:extLst>
          </p:cNvPr>
          <p:cNvSpPr>
            <a:spLocks noGrp="1"/>
          </p:cNvSpPr>
          <p:nvPr>
            <p:ph idx="1"/>
          </p:nvPr>
        </p:nvSpPr>
        <p:spPr>
          <a:xfrm>
            <a:off x="514350" y="936625"/>
            <a:ext cx="11118850" cy="5842000"/>
          </a:xfrm>
        </p:spPr>
        <p:txBody>
          <a:bodyPr>
            <a:normAutofit fontScale="92500" lnSpcReduction="20000"/>
          </a:bodyPr>
          <a:lstStyle/>
          <a:p>
            <a:r>
              <a:rPr lang="en-US" dirty="0"/>
              <a:t>First – </a:t>
            </a:r>
            <a:r>
              <a:rPr lang="en-US" i="1" u="sng" dirty="0"/>
              <a:t>is</a:t>
            </a:r>
            <a:r>
              <a:rPr lang="en-US" dirty="0"/>
              <a:t> it a problem ?</a:t>
            </a:r>
          </a:p>
          <a:p>
            <a:pPr lvl="1"/>
            <a:r>
              <a:rPr lang="en-US" dirty="0"/>
              <a:t>Some people don’t want Bitcoin to “change”…</a:t>
            </a:r>
          </a:p>
          <a:p>
            <a:pPr lvl="1"/>
            <a:r>
              <a:rPr lang="en-US" dirty="0"/>
              <a:t>…but soft forks aren’t a mandatory change. (The old software works.)</a:t>
            </a:r>
          </a:p>
          <a:p>
            <a:r>
              <a:rPr lang="en-US" dirty="0"/>
              <a:t>Soft forks benefits:</a:t>
            </a:r>
          </a:p>
          <a:p>
            <a:pPr lvl="1"/>
            <a:r>
              <a:rPr lang="en-US" dirty="0"/>
              <a:t>Grant new options to users.</a:t>
            </a:r>
          </a:p>
          <a:p>
            <a:pPr lvl="1"/>
            <a:r>
              <a:rPr lang="en-US" dirty="0"/>
              <a:t>Improves the software; improve the money.</a:t>
            </a:r>
          </a:p>
          <a:p>
            <a:pPr lvl="1"/>
            <a:r>
              <a:rPr lang="en-US" dirty="0" err="1"/>
              <a:t>Multisig</a:t>
            </a:r>
            <a:r>
              <a:rPr lang="en-US" dirty="0"/>
              <a:t> + Lightning (</a:t>
            </a:r>
            <a:r>
              <a:rPr lang="en-US" dirty="0" err="1"/>
              <a:t>SegWit</a:t>
            </a:r>
            <a:r>
              <a:rPr lang="en-US" dirty="0"/>
              <a:t>) were created via soft fork.</a:t>
            </a:r>
          </a:p>
          <a:p>
            <a:pPr lvl="1"/>
            <a:r>
              <a:rPr lang="en-US" dirty="0"/>
              <a:t>Security, (op vault), privacy, scalability require new soft forks.</a:t>
            </a:r>
          </a:p>
          <a:p>
            <a:r>
              <a:rPr lang="en-US" dirty="0"/>
              <a:t>Soft forks costs…</a:t>
            </a:r>
          </a:p>
          <a:p>
            <a:pPr lvl="1"/>
            <a:r>
              <a:rPr lang="en-US" dirty="0"/>
              <a:t>Soft fork is basically free: SFs are </a:t>
            </a:r>
            <a:r>
              <a:rPr lang="en-US" u="sng" dirty="0"/>
              <a:t>optional</a:t>
            </a:r>
            <a:r>
              <a:rPr lang="en-US" dirty="0"/>
              <a:t>, </a:t>
            </a:r>
            <a:r>
              <a:rPr lang="en-US" u="sng" dirty="0"/>
              <a:t>reversible</a:t>
            </a:r>
            <a:r>
              <a:rPr lang="en-US" dirty="0"/>
              <a:t>, and </a:t>
            </a:r>
            <a:r>
              <a:rPr lang="en-US" u="sng" dirty="0"/>
              <a:t>inevitable</a:t>
            </a:r>
            <a:r>
              <a:rPr lang="en-US" dirty="0"/>
              <a:t>.</a:t>
            </a:r>
          </a:p>
          <a:p>
            <a:pPr lvl="1"/>
            <a:r>
              <a:rPr lang="en-US" b="1" dirty="0"/>
              <a:t>Optional</a:t>
            </a:r>
            <a:r>
              <a:rPr lang="en-US" dirty="0"/>
              <a:t> = The old protocol survives, so the upgrade is </a:t>
            </a:r>
            <a:r>
              <a:rPr lang="en-US" i="1" u="sng" dirty="0"/>
              <a:t>consensual</a:t>
            </a:r>
            <a:r>
              <a:rPr lang="en-US" dirty="0"/>
              <a:t>.</a:t>
            </a:r>
          </a:p>
          <a:p>
            <a:pPr lvl="1"/>
            <a:r>
              <a:rPr lang="en-US" b="1" dirty="0"/>
              <a:t>Reversible</a:t>
            </a:r>
            <a:r>
              <a:rPr lang="en-US" dirty="0"/>
              <a:t> = A soft fork claiming OP NOP 6 , for example, could be later deactivated by a 2</a:t>
            </a:r>
            <a:r>
              <a:rPr lang="en-US" baseline="30000" dirty="0"/>
              <a:t>nd</a:t>
            </a:r>
            <a:r>
              <a:rPr lang="en-US" dirty="0"/>
              <a:t> soft fork, that just bans OP NOP 6.</a:t>
            </a:r>
          </a:p>
          <a:p>
            <a:pPr lvl="1"/>
            <a:r>
              <a:rPr lang="en-US" b="1" dirty="0"/>
              <a:t>Inevitable</a:t>
            </a:r>
            <a:r>
              <a:rPr lang="en-US" dirty="0"/>
              <a:t> = If 51% hashrate mines a new version, then the soft fork activates – end of story.</a:t>
            </a:r>
          </a:p>
          <a:p>
            <a:pPr lvl="2"/>
            <a:r>
              <a:rPr lang="en-US" dirty="0"/>
              <a:t>Users who “resist” the soft fork, will break the heaviest-valid-chain rule and will </a:t>
            </a:r>
            <a:r>
              <a:rPr lang="en-US" i="1" u="sng" dirty="0"/>
              <a:t>hard fork.</a:t>
            </a:r>
            <a:endParaRPr lang="en-US" dirty="0"/>
          </a:p>
          <a:p>
            <a:pPr lvl="2"/>
            <a:r>
              <a:rPr lang="en-US" dirty="0"/>
              <a:t>Any soft fork that increases miner profitability, can and will activate, eventually.</a:t>
            </a:r>
          </a:p>
          <a:p>
            <a:r>
              <a:rPr lang="en-US" dirty="0"/>
              <a:t>Cynical take: some prefer software NOT to improve, since they are middlemen.</a:t>
            </a:r>
          </a:p>
          <a:p>
            <a:pPr lvl="1"/>
            <a:endParaRPr lang="en-US" dirty="0"/>
          </a:p>
          <a:p>
            <a:endParaRPr lang="en-US" dirty="0"/>
          </a:p>
        </p:txBody>
      </p:sp>
    </p:spTree>
    <p:extLst>
      <p:ext uri="{BB962C8B-B14F-4D97-AF65-F5344CB8AC3E}">
        <p14:creationId xmlns:p14="http://schemas.microsoft.com/office/powerpoint/2010/main" val="3242718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4C7777-7F74-6603-AB39-617E3EC5BC06}"/>
              </a:ext>
            </a:extLst>
          </p:cNvPr>
          <p:cNvPicPr>
            <a:picLocks noChangeAspect="1"/>
          </p:cNvPicPr>
          <p:nvPr/>
        </p:nvPicPr>
        <p:blipFill>
          <a:blip r:embed="rId2">
            <a:extLst>
              <a:ext uri="{BEBA8EAE-BF5A-486C-A8C5-ECC9F3942E4B}">
                <a14:imgProps xmlns:a14="http://schemas.microsoft.com/office/drawing/2010/main">
                  <a14:imgLayer r:embed="rId3">
                    <a14:imgEffect>
                      <a14:artisticGlass/>
                    </a14:imgEffect>
                  </a14:imgLayer>
                </a14:imgProps>
              </a:ext>
            </a:extLst>
          </a:blip>
          <a:stretch>
            <a:fillRect/>
          </a:stretch>
        </p:blipFill>
        <p:spPr>
          <a:xfrm>
            <a:off x="123824" y="66675"/>
            <a:ext cx="11915776" cy="6736636"/>
          </a:xfrm>
          <a:prstGeom prst="rect">
            <a:avLst/>
          </a:prstGeom>
        </p:spPr>
      </p:pic>
      <p:sp>
        <p:nvSpPr>
          <p:cNvPr id="8" name="Rectangle 7">
            <a:extLst>
              <a:ext uri="{FF2B5EF4-FFF2-40B4-BE49-F238E27FC236}">
                <a16:creationId xmlns:a16="http://schemas.microsoft.com/office/drawing/2014/main" id="{0E7CEFF5-0672-9D34-6FCA-A82654535055}"/>
              </a:ext>
            </a:extLst>
          </p:cNvPr>
          <p:cNvSpPr/>
          <p:nvPr/>
        </p:nvSpPr>
        <p:spPr>
          <a:xfrm>
            <a:off x="123824" y="0"/>
            <a:ext cx="11944352" cy="6724650"/>
          </a:xfrm>
          <a:prstGeom prst="rect">
            <a:avLst/>
          </a:prstGeom>
          <a:solidFill>
            <a:srgbClr val="FFFFFF">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119CD7-3348-6938-5E73-2FC947188310}"/>
              </a:ext>
            </a:extLst>
          </p:cNvPr>
          <p:cNvSpPr>
            <a:spLocks noGrp="1"/>
          </p:cNvSpPr>
          <p:nvPr>
            <p:ph idx="1"/>
          </p:nvPr>
        </p:nvSpPr>
        <p:spPr>
          <a:xfrm>
            <a:off x="709863" y="1505154"/>
            <a:ext cx="9406593" cy="4630531"/>
          </a:xfrm>
          <a:solidFill>
            <a:srgbClr val="F2F2F2">
              <a:alpha val="69804"/>
            </a:srgbClr>
          </a:solidFill>
          <a:ln>
            <a:solidFill>
              <a:schemeClr val="tx1"/>
            </a:solidFill>
          </a:ln>
        </p:spPr>
        <p:txBody>
          <a:bodyPr>
            <a:normAutofit/>
          </a:bodyPr>
          <a:lstStyle/>
          <a:p>
            <a:r>
              <a:rPr lang="en-US" sz="3600" dirty="0"/>
              <a:t>Paul Sztorc</a:t>
            </a:r>
          </a:p>
          <a:p>
            <a:pPr lvl="1"/>
            <a:r>
              <a:rPr lang="en-US" sz="2800" b="1" u="sng" dirty="0"/>
              <a:t>layertwolabs.com</a:t>
            </a:r>
            <a:r>
              <a:rPr lang="en-US" sz="2800" b="1" dirty="0"/>
              <a:t> ;</a:t>
            </a:r>
          </a:p>
          <a:p>
            <a:pPr lvl="1"/>
            <a:r>
              <a:rPr lang="en-US" sz="3200" b="1" u="sng" dirty="0"/>
              <a:t>truthcoin.info </a:t>
            </a:r>
          </a:p>
          <a:p>
            <a:pPr lvl="1"/>
            <a:r>
              <a:rPr lang="en-US" sz="3200" b="1" u="sng" dirty="0"/>
              <a:t>bitcoinhivemind.com</a:t>
            </a:r>
          </a:p>
          <a:p>
            <a:pPr lvl="1"/>
            <a:r>
              <a:rPr lang="en-US" sz="3200" b="1" u="sng" dirty="0"/>
              <a:t>drivechain.info</a:t>
            </a:r>
          </a:p>
          <a:p>
            <a:r>
              <a:rPr lang="en-US" sz="3600" dirty="0"/>
              <a:t>Twitter: @truthcoin  ;  Telegram:  @psztorc</a:t>
            </a:r>
          </a:p>
          <a:p>
            <a:pPr lvl="1"/>
            <a:endParaRPr lang="en-US" sz="3200" dirty="0"/>
          </a:p>
        </p:txBody>
      </p:sp>
      <p:sp>
        <p:nvSpPr>
          <p:cNvPr id="5" name="TextBox 4">
            <a:extLst>
              <a:ext uri="{FF2B5EF4-FFF2-40B4-BE49-F238E27FC236}">
                <a16:creationId xmlns:a16="http://schemas.microsoft.com/office/drawing/2014/main" id="{24EAD33B-8D02-2198-F08C-8292DFB858E7}"/>
              </a:ext>
            </a:extLst>
          </p:cNvPr>
          <p:cNvSpPr txBox="1"/>
          <p:nvPr/>
        </p:nvSpPr>
        <p:spPr>
          <a:xfrm>
            <a:off x="3373019" y="4765505"/>
            <a:ext cx="5445959" cy="1754326"/>
          </a:xfrm>
          <a:prstGeom prst="rect">
            <a:avLst/>
          </a:prstGeom>
          <a:solidFill>
            <a:srgbClr val="F2F2F2"/>
          </a:solidFill>
          <a:ln>
            <a:solidFill>
              <a:schemeClr val="tx1"/>
            </a:solidFill>
          </a:ln>
        </p:spPr>
        <p:txBody>
          <a:bodyPr wrap="square">
            <a:spAutoFit/>
          </a:bodyPr>
          <a:lstStyle/>
          <a:p>
            <a:pPr marL="0" indent="0" algn="ctr">
              <a:buNone/>
            </a:pPr>
            <a:r>
              <a:rPr lang="en-US" sz="5400" dirty="0"/>
              <a:t>Please Ask Your Questions Now</a:t>
            </a:r>
          </a:p>
        </p:txBody>
      </p:sp>
      <p:sp>
        <p:nvSpPr>
          <p:cNvPr id="2" name="Title 1">
            <a:extLst>
              <a:ext uri="{FF2B5EF4-FFF2-40B4-BE49-F238E27FC236}">
                <a16:creationId xmlns:a16="http://schemas.microsoft.com/office/drawing/2014/main" id="{E9E769F0-C297-EDC9-DF1A-1AAA4C90389F}"/>
              </a:ext>
            </a:extLst>
          </p:cNvPr>
          <p:cNvSpPr>
            <a:spLocks noGrp="1"/>
          </p:cNvSpPr>
          <p:nvPr>
            <p:ph type="title"/>
          </p:nvPr>
        </p:nvSpPr>
        <p:spPr>
          <a:xfrm>
            <a:off x="4101753" y="600395"/>
            <a:ext cx="3959917" cy="1222055"/>
          </a:xfrm>
          <a:solidFill>
            <a:srgbClr val="F2F2F2"/>
          </a:solidFill>
          <a:ln>
            <a:solidFill>
              <a:schemeClr val="tx1"/>
            </a:solidFill>
          </a:ln>
        </p:spPr>
        <p:txBody>
          <a:bodyPr>
            <a:normAutofit/>
          </a:bodyPr>
          <a:lstStyle/>
          <a:p>
            <a:pPr algn="ctr"/>
            <a:r>
              <a:rPr lang="en-US" sz="8000" b="1" dirty="0"/>
              <a:t>The End</a:t>
            </a:r>
          </a:p>
        </p:txBody>
      </p:sp>
    </p:spTree>
    <p:extLst>
      <p:ext uri="{BB962C8B-B14F-4D97-AF65-F5344CB8AC3E}">
        <p14:creationId xmlns:p14="http://schemas.microsoft.com/office/powerpoint/2010/main" val="7172031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1C2F-BB28-1301-C336-5544E4314D0E}"/>
              </a:ext>
            </a:extLst>
          </p:cNvPr>
          <p:cNvSpPr>
            <a:spLocks noGrp="1"/>
          </p:cNvSpPr>
          <p:nvPr>
            <p:ph type="title"/>
          </p:nvPr>
        </p:nvSpPr>
        <p:spPr/>
        <p:txBody>
          <a:bodyPr/>
          <a:lstStyle/>
          <a:p>
            <a:r>
              <a:rPr lang="en-US" dirty="0"/>
              <a:t>New Soft Forks ??</a:t>
            </a:r>
          </a:p>
        </p:txBody>
      </p:sp>
      <p:sp>
        <p:nvSpPr>
          <p:cNvPr id="3" name="Content Placeholder 2">
            <a:extLst>
              <a:ext uri="{FF2B5EF4-FFF2-40B4-BE49-F238E27FC236}">
                <a16:creationId xmlns:a16="http://schemas.microsoft.com/office/drawing/2014/main" id="{95118577-D6B9-5F89-809E-B92C6A67B9EC}"/>
              </a:ext>
            </a:extLst>
          </p:cNvPr>
          <p:cNvSpPr>
            <a:spLocks noGrp="1"/>
          </p:cNvSpPr>
          <p:nvPr>
            <p:ph idx="1"/>
          </p:nvPr>
        </p:nvSpPr>
        <p:spPr>
          <a:xfrm>
            <a:off x="838200" y="1825625"/>
            <a:ext cx="10515600" cy="4667250"/>
          </a:xfrm>
        </p:spPr>
        <p:txBody>
          <a:bodyPr/>
          <a:lstStyle/>
          <a:p>
            <a:r>
              <a:rPr lang="en-US" dirty="0"/>
              <a:t>Is there even still a process?</a:t>
            </a:r>
          </a:p>
          <a:p>
            <a:pPr lvl="0"/>
            <a:r>
              <a:rPr lang="en-US" dirty="0" err="1"/>
              <a:t>SegWit</a:t>
            </a:r>
            <a:r>
              <a:rPr lang="en-US" dirty="0"/>
              <a:t> Trauma</a:t>
            </a:r>
            <a:r>
              <a:rPr lang="en-US" baseline="0" dirty="0"/>
              <a:t> / PTSD</a:t>
            </a:r>
          </a:p>
          <a:p>
            <a:pPr lvl="1"/>
            <a:r>
              <a:rPr lang="en-US" baseline="0" dirty="0"/>
              <a:t>Unsolved mysteries of the Blocksize war</a:t>
            </a:r>
          </a:p>
          <a:p>
            <a:pPr lvl="1"/>
            <a:r>
              <a:rPr lang="en-US" baseline="0" dirty="0"/>
              <a:t>Why did people get hashrate support for a hard fork, when hashrate is irrelevant to a hard fork? I don’t know.</a:t>
            </a:r>
          </a:p>
          <a:p>
            <a:pPr lvl="1"/>
            <a:r>
              <a:rPr lang="en-US" baseline="0" dirty="0"/>
              <a:t>Miners signed a meaningless piece of paper backing the wrong side, but they never actually did anything. Yet still they feel guilty and unwilling to do further soft forks.</a:t>
            </a:r>
          </a:p>
          <a:p>
            <a:r>
              <a:rPr lang="en-US" dirty="0"/>
              <a:t>Ratio of Experts / Laypeople is plummeting. More Ls, harder to E.</a:t>
            </a:r>
            <a:endParaRPr lang="en-US" baseline="0" dirty="0"/>
          </a:p>
          <a:p>
            <a:r>
              <a:rPr lang="en-US" baseline="0" dirty="0"/>
              <a:t>Sour Grapes</a:t>
            </a:r>
          </a:p>
          <a:p>
            <a:endParaRPr lang="en-US" baseline="0" dirty="0"/>
          </a:p>
          <a:p>
            <a:endParaRPr lang="en-US" dirty="0"/>
          </a:p>
        </p:txBody>
      </p:sp>
    </p:spTree>
    <p:extLst>
      <p:ext uri="{BB962C8B-B14F-4D97-AF65-F5344CB8AC3E}">
        <p14:creationId xmlns:p14="http://schemas.microsoft.com/office/powerpoint/2010/main" val="33508157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1C2F-BB28-1301-C336-5544E4314D0E}"/>
              </a:ext>
            </a:extLst>
          </p:cNvPr>
          <p:cNvSpPr>
            <a:spLocks noGrp="1"/>
          </p:cNvSpPr>
          <p:nvPr>
            <p:ph type="title"/>
          </p:nvPr>
        </p:nvSpPr>
        <p:spPr/>
        <p:txBody>
          <a:bodyPr/>
          <a:lstStyle/>
          <a:p>
            <a:r>
              <a:rPr lang="en-US" dirty="0"/>
              <a:t>New Soft Forks ??</a:t>
            </a:r>
          </a:p>
        </p:txBody>
      </p:sp>
      <p:sp>
        <p:nvSpPr>
          <p:cNvPr id="3" name="Content Placeholder 2">
            <a:extLst>
              <a:ext uri="{FF2B5EF4-FFF2-40B4-BE49-F238E27FC236}">
                <a16:creationId xmlns:a16="http://schemas.microsoft.com/office/drawing/2014/main" id="{95118577-D6B9-5F89-809E-B92C6A67B9EC}"/>
              </a:ext>
            </a:extLst>
          </p:cNvPr>
          <p:cNvSpPr>
            <a:spLocks noGrp="1"/>
          </p:cNvSpPr>
          <p:nvPr>
            <p:ph idx="1"/>
          </p:nvPr>
        </p:nvSpPr>
        <p:spPr>
          <a:xfrm>
            <a:off x="838200" y="1825624"/>
            <a:ext cx="10515600" cy="4860925"/>
          </a:xfrm>
        </p:spPr>
        <p:txBody>
          <a:bodyPr>
            <a:normAutofit/>
          </a:bodyPr>
          <a:lstStyle/>
          <a:p>
            <a:r>
              <a:rPr lang="en-US" dirty="0"/>
              <a:t>Is there even still a process?</a:t>
            </a:r>
          </a:p>
          <a:p>
            <a:pPr lvl="0"/>
            <a:r>
              <a:rPr lang="en-US" dirty="0" err="1"/>
              <a:t>SegWit</a:t>
            </a:r>
            <a:r>
              <a:rPr lang="en-US" dirty="0"/>
              <a:t> Trauma</a:t>
            </a:r>
            <a:r>
              <a:rPr lang="en-US" baseline="0" dirty="0"/>
              <a:t> / PTSD</a:t>
            </a:r>
          </a:p>
          <a:p>
            <a:pPr lvl="1"/>
            <a:r>
              <a:rPr lang="en-US" baseline="0" dirty="0"/>
              <a:t>Unsolved mysteries of the Blocksize war</a:t>
            </a:r>
          </a:p>
          <a:p>
            <a:pPr lvl="1"/>
            <a:r>
              <a:rPr lang="en-US" baseline="0" dirty="0"/>
              <a:t>Why did people get hashrate support for a hard fork, when hashrate is irrelevant to a hard fork? I don’t know.</a:t>
            </a:r>
          </a:p>
          <a:p>
            <a:pPr lvl="1"/>
            <a:r>
              <a:rPr lang="en-US" baseline="0" dirty="0"/>
              <a:t>Miners signed a meaningless piece of paper backing the wrong side, but they never actually did anything. Yet still they feel guilty and unwilling to do further soft forks.</a:t>
            </a:r>
          </a:p>
          <a:p>
            <a:r>
              <a:rPr lang="en-US" dirty="0"/>
              <a:t>Ratio of Experts / Laypeople is plummeting. More Ls, harder to E.</a:t>
            </a:r>
            <a:endParaRPr lang="en-US" baseline="0" dirty="0"/>
          </a:p>
          <a:p>
            <a:r>
              <a:rPr lang="en-US" baseline="0" dirty="0"/>
              <a:t>Sour Grapes</a:t>
            </a:r>
          </a:p>
          <a:p>
            <a:r>
              <a:rPr lang="en-US" dirty="0"/>
              <a:t>The real reason....</a:t>
            </a:r>
            <a:endParaRPr lang="en-US" baseline="0" dirty="0"/>
          </a:p>
          <a:p>
            <a:endParaRPr lang="en-US" baseline="0" dirty="0"/>
          </a:p>
          <a:p>
            <a:endParaRPr lang="en-US" dirty="0"/>
          </a:p>
        </p:txBody>
      </p:sp>
    </p:spTree>
    <p:extLst>
      <p:ext uri="{BB962C8B-B14F-4D97-AF65-F5344CB8AC3E}">
        <p14:creationId xmlns:p14="http://schemas.microsoft.com/office/powerpoint/2010/main" val="38397915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F62E-3B3C-6DA0-6F99-D329D9F2B9F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45E85B7-F764-653C-66DF-8B2EB4FD55C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29B57AB-5F82-E3D8-184C-5FDBFF4F36FC}"/>
              </a:ext>
            </a:extLst>
          </p:cNvPr>
          <p:cNvPicPr>
            <a:picLocks noChangeAspect="1"/>
          </p:cNvPicPr>
          <p:nvPr/>
        </p:nvPicPr>
        <p:blipFill>
          <a:blip r:embed="rId2"/>
          <a:stretch>
            <a:fillRect/>
          </a:stretch>
        </p:blipFill>
        <p:spPr>
          <a:xfrm>
            <a:off x="179109" y="681037"/>
            <a:ext cx="11833781" cy="5667487"/>
          </a:xfrm>
          <a:prstGeom prst="rect">
            <a:avLst/>
          </a:prstGeom>
        </p:spPr>
      </p:pic>
      <p:sp>
        <p:nvSpPr>
          <p:cNvPr id="4" name="Rectangle: Rounded Corners 3">
            <a:extLst>
              <a:ext uri="{FF2B5EF4-FFF2-40B4-BE49-F238E27FC236}">
                <a16:creationId xmlns:a16="http://schemas.microsoft.com/office/drawing/2014/main" id="{E65641ED-6DCF-7CF0-D85B-582171AB9EC1}"/>
              </a:ext>
            </a:extLst>
          </p:cNvPr>
          <p:cNvSpPr/>
          <p:nvPr/>
        </p:nvSpPr>
        <p:spPr>
          <a:xfrm>
            <a:off x="9611360" y="4815840"/>
            <a:ext cx="1016000" cy="264160"/>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A113608-9A1D-46EF-B091-768AF1D83A77}"/>
              </a:ext>
            </a:extLst>
          </p:cNvPr>
          <p:cNvSpPr/>
          <p:nvPr/>
        </p:nvSpPr>
        <p:spPr>
          <a:xfrm>
            <a:off x="5405120" y="2418080"/>
            <a:ext cx="995680" cy="375920"/>
          </a:xfrm>
          <a:prstGeom prst="round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F72724D-3FBA-E218-A0DF-71AB47F72EB2}"/>
              </a:ext>
            </a:extLst>
          </p:cNvPr>
          <p:cNvCxnSpPr/>
          <p:nvPr/>
        </p:nvCxnSpPr>
        <p:spPr>
          <a:xfrm>
            <a:off x="6543040" y="2794000"/>
            <a:ext cx="3352800" cy="1879600"/>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232EF0A-F52F-B12E-5193-6B1665313D13}"/>
              </a:ext>
            </a:extLst>
          </p:cNvPr>
          <p:cNvSpPr txBox="1">
            <a:spLocks/>
          </p:cNvSpPr>
          <p:nvPr/>
        </p:nvSpPr>
        <p:spPr>
          <a:xfrm>
            <a:off x="838200" y="500062"/>
            <a:ext cx="6438900" cy="1325563"/>
          </a:xfrm>
          <a:prstGeom prst="rect">
            <a:avLst/>
          </a:prstGeom>
          <a:solidFill>
            <a:srgbClr val="FFFFFF"/>
          </a:solidFill>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a:t>The Real Reason...</a:t>
            </a:r>
          </a:p>
        </p:txBody>
      </p:sp>
    </p:spTree>
    <p:extLst>
      <p:ext uri="{BB962C8B-B14F-4D97-AF65-F5344CB8AC3E}">
        <p14:creationId xmlns:p14="http://schemas.microsoft.com/office/powerpoint/2010/main" val="25944064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224D-387D-F366-09F1-5AF31D9B95C5}"/>
              </a:ext>
            </a:extLst>
          </p:cNvPr>
          <p:cNvSpPr>
            <a:spLocks noGrp="1"/>
          </p:cNvSpPr>
          <p:nvPr>
            <p:ph type="title"/>
          </p:nvPr>
        </p:nvSpPr>
        <p:spPr>
          <a:xfrm>
            <a:off x="67123" y="-23040"/>
            <a:ext cx="10515600" cy="1325563"/>
          </a:xfrm>
        </p:spPr>
        <p:txBody>
          <a:bodyPr/>
          <a:lstStyle/>
          <a:p>
            <a:r>
              <a:rPr lang="en-US" dirty="0"/>
              <a:t>Jameson </a:t>
            </a:r>
            <a:r>
              <a:rPr lang="en-US" dirty="0" err="1"/>
              <a:t>Lopp’s</a:t>
            </a:r>
            <a:r>
              <a:rPr lang="en-US" dirty="0"/>
              <a:t> Article</a:t>
            </a:r>
          </a:p>
        </p:txBody>
      </p:sp>
      <p:pic>
        <p:nvPicPr>
          <p:cNvPr id="5" name="Picture 4">
            <a:extLst>
              <a:ext uri="{FF2B5EF4-FFF2-40B4-BE49-F238E27FC236}">
                <a16:creationId xmlns:a16="http://schemas.microsoft.com/office/drawing/2014/main" id="{63DE0A64-5473-91E2-4B92-D6E25913921A}"/>
              </a:ext>
            </a:extLst>
          </p:cNvPr>
          <p:cNvPicPr>
            <a:picLocks noChangeAspect="1"/>
          </p:cNvPicPr>
          <p:nvPr/>
        </p:nvPicPr>
        <p:blipFill>
          <a:blip r:embed="rId2"/>
          <a:stretch>
            <a:fillRect/>
          </a:stretch>
        </p:blipFill>
        <p:spPr>
          <a:xfrm>
            <a:off x="1778721" y="1164403"/>
            <a:ext cx="8804002" cy="2469550"/>
          </a:xfrm>
          <a:prstGeom prst="rect">
            <a:avLst/>
          </a:prstGeom>
          <a:ln>
            <a:solidFill>
              <a:schemeClr val="tx1"/>
            </a:solidFill>
          </a:ln>
        </p:spPr>
      </p:pic>
      <p:sp>
        <p:nvSpPr>
          <p:cNvPr id="6" name="Title 1">
            <a:extLst>
              <a:ext uri="{FF2B5EF4-FFF2-40B4-BE49-F238E27FC236}">
                <a16:creationId xmlns:a16="http://schemas.microsoft.com/office/drawing/2014/main" id="{46C75802-BB00-F177-21A4-3ED0B5C74E8E}"/>
              </a:ext>
            </a:extLst>
          </p:cNvPr>
          <p:cNvSpPr txBox="1">
            <a:spLocks/>
          </p:cNvSpPr>
          <p:nvPr/>
        </p:nvSpPr>
        <p:spPr>
          <a:xfrm>
            <a:off x="204537" y="342139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Gwern’s</a:t>
            </a:r>
            <a:r>
              <a:rPr lang="en-US" dirty="0"/>
              <a:t> Article</a:t>
            </a:r>
          </a:p>
        </p:txBody>
      </p:sp>
      <p:pic>
        <p:nvPicPr>
          <p:cNvPr id="8" name="Picture 7">
            <a:extLst>
              <a:ext uri="{FF2B5EF4-FFF2-40B4-BE49-F238E27FC236}">
                <a16:creationId xmlns:a16="http://schemas.microsoft.com/office/drawing/2014/main" id="{8FF77A82-CF8A-411D-3824-75E26802A5F0}"/>
              </a:ext>
            </a:extLst>
          </p:cNvPr>
          <p:cNvPicPr>
            <a:picLocks noChangeAspect="1"/>
          </p:cNvPicPr>
          <p:nvPr/>
        </p:nvPicPr>
        <p:blipFill>
          <a:blip r:embed="rId3"/>
          <a:stretch>
            <a:fillRect/>
          </a:stretch>
        </p:blipFill>
        <p:spPr>
          <a:xfrm>
            <a:off x="1936028" y="4399998"/>
            <a:ext cx="8646695" cy="2300067"/>
          </a:xfrm>
          <a:prstGeom prst="rect">
            <a:avLst/>
          </a:prstGeom>
        </p:spPr>
      </p:pic>
    </p:spTree>
    <p:extLst>
      <p:ext uri="{BB962C8B-B14F-4D97-AF65-F5344CB8AC3E}">
        <p14:creationId xmlns:p14="http://schemas.microsoft.com/office/powerpoint/2010/main" val="3526983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2286</TotalTime>
  <Words>4554</Words>
  <Application>Microsoft Office PowerPoint</Application>
  <PresentationFormat>Widescreen</PresentationFormat>
  <Paragraphs>609</Paragraphs>
  <Slides>83</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Aptos</vt:lpstr>
      <vt:lpstr>Aptos Display</vt:lpstr>
      <vt:lpstr>Arial</vt:lpstr>
      <vt:lpstr>Consolas</vt:lpstr>
      <vt:lpstr>Wingdings</vt:lpstr>
      <vt:lpstr>Office Theme</vt:lpstr>
      <vt:lpstr>CUSF</vt:lpstr>
      <vt:lpstr>Agenda</vt:lpstr>
      <vt:lpstr>My History</vt:lpstr>
      <vt:lpstr>Fee Comparison</vt:lpstr>
      <vt:lpstr>Non-Mined L2s vs Mined L2s</vt:lpstr>
      <vt:lpstr>The Coming L2 War</vt:lpstr>
      <vt:lpstr>PowerPoint Presentation</vt:lpstr>
      <vt:lpstr>Centralization Advantage</vt:lpstr>
      <vt:lpstr>Non-Mined L2s vs Mined L2s</vt:lpstr>
      <vt:lpstr>My Proposal  13-13</vt:lpstr>
      <vt:lpstr>PowerPoint Presentation</vt:lpstr>
      <vt:lpstr>Advantages</vt:lpstr>
      <vt:lpstr>Advantages</vt:lpstr>
      <vt:lpstr>Advantages</vt:lpstr>
      <vt:lpstr>PowerPoint Presentation</vt:lpstr>
      <vt:lpstr>CUSF Core Untouched Soft Fork “Ordinal-ization” of Soft Forks (The Solution to everyone’s problems)</vt:lpstr>
      <vt:lpstr>Bitcoin’s Ossification</vt:lpstr>
      <vt:lpstr>Roadblock 2: You can’t leave.</vt:lpstr>
      <vt:lpstr>Two Roadblocks </vt:lpstr>
      <vt:lpstr>PowerPoint Presentation</vt:lpstr>
      <vt:lpstr>Download Today – OP CAT &amp; BIP300</vt:lpstr>
      <vt:lpstr>PowerPoint Presentation</vt:lpstr>
      <vt:lpstr>My Proposal Is…</vt:lpstr>
      <vt:lpstr>The Alternative Plan</vt:lpstr>
      <vt:lpstr>The Alternative Plan</vt:lpstr>
      <vt:lpstr>More About CUSF</vt:lpstr>
      <vt:lpstr>PowerPoint Presentation</vt:lpstr>
      <vt:lpstr>PowerPoint Presentation</vt:lpstr>
      <vt:lpstr>PowerPoint Presentation</vt:lpstr>
      <vt:lpstr>PowerPoint Presentation</vt:lpstr>
      <vt:lpstr>PowerPoint Presentation</vt:lpstr>
      <vt:lpstr>Yet More Slides</vt:lpstr>
      <vt:lpstr>Conflicts of Interest</vt:lpstr>
      <vt:lpstr>“Motivation to Adopt” a Soft Fork</vt:lpstr>
      <vt:lpstr>“Motivation to Adopt” a Soft Fork</vt:lpstr>
      <vt:lpstr>Problem</vt:lpstr>
      <vt:lpstr>The Hubris of Complacency</vt:lpstr>
      <vt:lpstr>Things Which Are Inevitable</vt:lpstr>
      <vt:lpstr>Mistaken Beliefs About Soft Forks</vt:lpstr>
      <vt:lpstr>Soft Forks Basics/History</vt:lpstr>
      <vt:lpstr>Soft Forks – The Basics</vt:lpstr>
      <vt:lpstr>Some History – Not Widely Known</vt:lpstr>
      <vt:lpstr>Gavin Called them “Soft Changes”</vt:lpstr>
      <vt:lpstr>Gavin Called them “Soft Changes”</vt:lpstr>
      <vt:lpstr>PowerPoint Presentation</vt:lpstr>
      <vt:lpstr>Nov 2012 Definitions</vt:lpstr>
      <vt:lpstr>Nov 2012 – Definitions</vt:lpstr>
      <vt:lpstr>Even Adam Back and Luke Dashjr Disagree</vt:lpstr>
      <vt:lpstr>Nov 2012 – Definitions</vt:lpstr>
      <vt:lpstr>The Logic (historic)</vt:lpstr>
      <vt:lpstr>A concise soft fork</vt:lpstr>
      <vt:lpstr>Soft Forks and Protocol Governance</vt:lpstr>
      <vt:lpstr>Governance – Definition </vt:lpstr>
      <vt:lpstr>Governance – Definition </vt:lpstr>
      <vt:lpstr>Governance – Definition </vt:lpstr>
      <vt:lpstr>Governance = Finding today’s node software</vt:lpstr>
      <vt:lpstr>NodeFinding Strategies – The Big 3</vt:lpstr>
      <vt:lpstr>PowerPoint Presentation</vt:lpstr>
      <vt:lpstr>NodeFinding Strategies – The Big 3</vt:lpstr>
      <vt:lpstr>The “Static Protocol” Position</vt:lpstr>
      <vt:lpstr>NodeFinding Strategies – The Big 3</vt:lpstr>
      <vt:lpstr>Upgrading via Soft Fork</vt:lpstr>
      <vt:lpstr>NodeFinding Strategies – The Big 3</vt:lpstr>
      <vt:lpstr>Governance Strategies... And their Problems</vt:lpstr>
      <vt:lpstr>Governance Strategies... And their Problems</vt:lpstr>
      <vt:lpstr>Governance Strategies... And their Problems</vt:lpstr>
      <vt:lpstr>Expertise... is Mandatory!</vt:lpstr>
      <vt:lpstr>Governance Strategies... And their Problems</vt:lpstr>
      <vt:lpstr>Two Incompatible SFs at once = HF </vt:lpstr>
      <vt:lpstr>Upgrading via Soft Fork</vt:lpstr>
      <vt:lpstr>Bitcoiners Often Disagree</vt:lpstr>
      <vt:lpstr>Governance Strategies... And their Problems</vt:lpstr>
      <vt:lpstr>Governance Strategies... And their Problems</vt:lpstr>
      <vt:lpstr>Governance Strategies... And their Problems</vt:lpstr>
      <vt:lpstr>Soft Forks Over Time</vt:lpstr>
      <vt:lpstr>Soft Forks Over Time</vt:lpstr>
      <vt:lpstr>Bitcoin’s Ossification</vt:lpstr>
      <vt:lpstr>Problems</vt:lpstr>
      <vt:lpstr>The End</vt:lpstr>
      <vt:lpstr>New Soft Forks ??</vt:lpstr>
      <vt:lpstr>New Soft Forks ??</vt:lpstr>
      <vt:lpstr>PowerPoint Presentation</vt:lpstr>
      <vt:lpstr>Jameson Lopp’s Article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Sztorc</dc:creator>
  <cp:lastModifiedBy>Paul Sztorc</cp:lastModifiedBy>
  <cp:revision>3</cp:revision>
  <dcterms:created xsi:type="dcterms:W3CDTF">2024-11-08T03:54:56Z</dcterms:created>
  <dcterms:modified xsi:type="dcterms:W3CDTF">2024-11-09T18:01:04Z</dcterms:modified>
</cp:coreProperties>
</file>